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c:ser>
          <c:idx val="0"/>
          <c:order val="0"/>
          <c:tx>
            <c:strRef>
              <c:f>Sheet1!$B$1</c:f>
              <c:strCache>
                <c:ptCount val="1"/>
                <c:pt idx="0">
                  <c:v>Extra profit (₹)</c:v>
                </c:pt>
              </c:strCache>
            </c:strRef>
          </c:tx>
          <c:dPt>
            <c:idx val="0"/>
            <c:spPr>
              <a:solidFill>
                <a:srgbClr val="138808"/>
              </a:solidFill>
            </c:spPr>
          </c:dPt>
          <c:dPt>
            <c:idx val="1"/>
            <c:spPr>
              <a:solidFill>
                <a:srgbClr val="F28A1A"/>
              </a:solidFill>
            </c:spPr>
          </c:dPt>
          <c:dPt>
            <c:idx val="2"/>
            <c:spPr>
              <a:solidFill>
                <a:srgbClr val="C7CCD6"/>
              </a:solidFill>
            </c:spPr>
          </c:dPt>
          <c:cat>
            <c:strRef>
              <c:f>Sheet1!$A$2:$A$4</c:f>
              <c:strCache>
                <c:ptCount val="3"/>
                <c:pt idx="0">
                  <c:v>ShubhLabh plan</c:v>
                </c:pt>
                <c:pt idx="1">
                  <c:v>Flat 10% off</c:v>
                </c:pt>
                <c:pt idx="2">
                  <c:v>No promotion</c:v>
                </c:pt>
              </c:strCache>
            </c:strRef>
          </c:cat>
          <c:val>
            <c:numRef>
              <c:f>Sheet1!$B$2:$B$4</c:f>
              <c:numCache>
                <c:formatCode>General</c:formatCode>
                <c:ptCount val="3"/>
                <c:pt idx="0">
                  <c:v>12820</c:v>
                </c:pt>
                <c:pt idx="1">
                  <c:v>6345</c:v>
                </c:pt>
                <c:pt idx="2">
                  <c:v>0</c:v>
                </c:pt>
              </c:numCache>
            </c:numRef>
          </c:val>
        </c:ser>
        <c:dLbls>
          <c:numFmt formatCode="₹#,##0" sourceLinked="0"/>
          <c:txPr>
            <a:bodyPr/>
            <a:lstStyle/>
            <a:p>
              <a:pPr>
                <a:defRPr sz="1400" b="1">
                  <a:solidFill>
                    <a:srgbClr val="0B1A5C"/>
                  </a:solidFill>
                  <a:latin typeface="Segoe UI Semibold"/>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5E7EB"/>
            </a:solidFill>
          </a:ln>
        </c:spPr>
        <c:txPr>
          <a:bodyPr/>
          <a:lstStyle/>
          <a:p>
            <a:pPr>
              <a:defRPr sz="1250">
                <a:solidFill>
                  <a:srgbClr val="111827"/>
                </a:solidFill>
                <a:latin typeface="Segoe UI Semibold"/>
              </a:defRPr>
            </a:pPr>
          </a:p>
        </c:txPr>
        <c:crossAx val="-2113994440"/>
        <c:crosses val="autoZero"/>
        <c:auto val="1"/>
        <c:lblAlgn val="ctr"/>
        <c:lblOffset val="100"/>
        <c:noMultiLvlLbl val="0"/>
      </c:catAx>
      <c:valAx>
        <c:axId val="-2113994440"/>
        <c:scaling>
          <c:max val="1600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ShubhLabh AI is India's smartest one-click AI promo planner, built for ET AI Hackathon Problem 3. The claim up front: F3 plus D3 — all nine required features work end to end in the live product, and it reads real, messy Indian retail evidence: shelf tags, flyers, app screenshots, WhatsApp images and PDFs. A category manager picks a festival, drops in whatever evidence she has, and gets a campaign for every city, verified by ShubhLabh's Intelli AI, in under 2 minutes. A kirana owner just messages our WhatsApp number — he does not need the website. Ab sirf laabh hi laabh. The app is already live at shubhlabh-ai.replit.app, no installation needed; the first run may take 4 to 5 minutes for the One-Click Designer and Promo Studio, and WhatsApp replies instantly: message +1 415 523 8886 with 'join bright-blanket'.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of one. I am Anurag Manik, AI Solution Architect at HP; I built the backend, the agent and solver, the React UI, the evidence pipeline and the WhatsApp channel, and I wrote the 784 tests. Before I show the product, the proof that it works on real data: 19 photos and 2 videos shot in real Indian stores and sent over WhatsApp, read by the same pipeline as the product. Of the auto-accepted fields that were legible, 20 of 22 were right — 91 per cent — and every offer price, 14 of 14. A 'minimum 33% off' sign misread as ₹333 went to a person, not into a plan. On our labelled set of 61 files, a live re-run put 100 per cent of auto-accepted fields right on all six input types. A field check, not a benchmark — and it is real.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Festivals are when Indian retail makes its money: Diwali alone was six lakh crore rupees of trade last year, 85% of it through traditional retail, and nine-tenths of grocery still moves through kiranas. Yet McKinsey, citing Nielsen, finds 59% of trade promotions lose money, and only one in five companies can even measure spend per event. Five reasons: evidence is scattered across WhatsApp forwards, photos and PDFs; planning is slow and unproven; quick commerce resets prices every day; compliance risk is now real, with dark-pattern fines and the 30-day-low rule from January 2027; and the kirana has no planner at all. For a five-hundred-crore consumer brand that is a hundred crore a year decided on gut feel.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five pain points, in order, and one engine with three ways in: the One-Click Designer for speed, built for chains; Promo Studio for full control, built for category and promo managers who want to customise everything; and WhatsApp for kiranas. Messy evidence — we read it, twice, and quarantine anything that looks like an instruction. Slow planning — one click, under 2 minutes, from festival template to a finished kit; or, for detailed promo planning, Promo Studio, where the manager writes her own brief, opens every offer's checks, signs off by tier and asks what-ifs. Daily price resets — we forecast demand per product and city, and we replan live when a competitor cuts, stock drops or HQ cuts the budget. Compliance — ShubhLabh's Intelli AI verifies every rupee before anyone sees it. And the kirana gets the same engine on WhatsApp, live today, with nothing to install. The whole thing is powered by agentic AI, and a person approves every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layers, top to bottom. Evidence comes in as whatever the team has — a brief in Hinglish, shelf photos, flyers, policy PDFs, CSVs, WhatsApp messages. Layer two reads it twice: a vision read by gpt-4.1-mini in strict JSON with no tools, and a local OCR read; the two must agree and locate the value, or the field goes to a person. Hidden instructions are quarantined before any model sees them. Layer three is deterministic code: Chronos-2 forecasts demand, a price-response model calibrated on 4.85 million real records prices the candidates, OR-Tools CP-SAT picks the portfolio and a Monte Carlo check stress-tests it on 200 scenarios. Layer four is ShubhLabh's Intelli AI, the guard pack that verifies every rupee. Layer five is a person — approval tiers, ask-human, live triage. Layer six is the three ways in: the One-Click kit, Promo Studio and the WhatsApp replies. The agent orchestrates layers two to five, recovers from failures, and can never approve its own plan.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model has one job, and each is measured at it. gpt-4.1-mini reads evidence in strict JSON with no tools, compiles briefs into constraints, chooses the agent's tools, triages live events and writes copy — about one cent of model cost per plan, under a hard daily cap. Chronos-2, a time-series foundation model running on a CPU, forecasts demand zero-shot and beats the seasonal baseline on 600 real series. RapidOCR is the independent second read. OR-Tools CP-SAT chooses the offers; a Monte Carlo check stress-tests them on 200 scenarios; the price-response model is calibrated on 4.85 million real records. ShubhLabh's Intelli AI verifies every rupee — 190 of 190 red-team cases caught. And the agent orchestrates it all, falling back to a rules-only policy when there is no key. FastAPI, PostgreSQL, React and n8n underneath.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in, one engine. The One-Click Designer is for speed, for chains. Pick Dhanteras &amp; Diwali — dates, cities and lifts pre-fill from twelve templates — drop in whatever the team has, press Design. In under 2 minutes it reads the documents, forecasts with Chronos-2, lets the agent design offers, has ShubhLabh's Intelli AI verify each one, and writes the kit: ₹12,820 of extra profit, 2.0 times a flat ten-percent discount, 40 offers, 300 of 300 checks passed, estimated on ShubhLabh's reference store data. A booby-trapped competitor PDF in that run had its hidden instruction quarantined before any model read it. For detailed promo planning, category and promo managers use Promo Studio, where they customise everything — the next slide: write the brief in your own words; it is compiled into exact constraints and read back to you; review the evidence; watch the agent work, step by step; open every offer's checks, each verified by ShubhLabh's Intelli AI; approve with sign-off tiers, so a big-liability plan needs senior sign-off; then replan live and ask what-ifs. And for kiranas, ShubhLabh is live on WhatsApp: message the number — the button or the QR types 'join bright-blanket' for him — and send an offer like 'Atta 5kg MRP 280 sell 250 cost 230'. He gets the MRP rule, the honest percentage off against his 30-day low, the margin, and how many more packs he must sell to break even. English or Hinglish, nothing to install, and he never needs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 Studio is the key for detailed promo planning: the category or promo manager customises everything, and every step is verified. One, the brief: write it in plain English or Hinglish; it is compiled into exact constraints — budget, discount cap, margin floor, cities, categories, mechanisms, days — and read back before anything runs. Two, evidence: shelf photos, flyers, app screenshots, PDFs and CSVs; two reads must agree, every value read gets a box on the image, doubtful fields go to a person and hidden instructions are quarantined. Three, the agent run: watch the agent work step by step, with every tool call, decision and recovery logged. Four, plan and approve: offers by city and segment; open each offer's checks, verified by ShubhLabh's Intelli AI; a big-liability plan needs senior sign-off, and nothing goes live without approval. Five, live ops: a competitor undercut, a stock drop or an HQ budget cut triggers a replan with a diff, which you approve. Six, ask: what-ifs in plain words — cut the budget, cap the discount, drop a category, skip a city — with before and after.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do differently. Enterprise suites are built for global retailers and cost crores; Excel is today's default; marketplace tools lock you to one platform; chatbots give answers nobody can verify. ShubhLabh is built for Indian retail: festival templates, WhatsApp and shelf photos as inputs, Hindi and Hinglish, one click, and a door for the kirana. Three things are hard to copy: two reads must agree before a price is used; ShubhLabh's Intelli AI verifies every offer; and the price response is calibrated on 4.85 million real records.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plus D3, proved. All nine required features run end to end in the live product: product selection screens 120 SKUs to the best 20 with reasons; markdown, coupon or bundle per product and city; depth, timing and audience verified; cannibalisation charged to every offer; relationships suggested by AI and confirmed by data; stock, batches and expiry respected; a different plan per city; competitor prices read from photos; and every plan tested against a flat 10% and no promotion on 200 scenarios. D3: on a live re-run of our 61-file labelled set, every auto-accepted critical field was correct on all six input types with full coverage — price-list reads are scored against the row they name, adopted with the live run; first-row scoring would give 82% text-PDF and 83% scanned-PDF precision. With no model key the pipeline still reads at 85%-plus raw accuracy and sends every field to a person. And on real store photos, 20 of 22 hand-checkable fields were right.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in rupees, minutes and risk. On the same 200 forecast scenarios the Diwali plan earns ₹12,820 of extra profit against ₹6,345 for a flat 10% discount — two times — at least ₹10,201 nine times in ten, with 1,410 near-expiry units cleared and a worst case of ₹23,734 on a ₹1,50,000 budget. All of it estimated on ShubhLabh's reference store data, with price response calibrated on 4.85 million real retail records. Typically under 2 minutes from one click to a verified campaign, and zero offers above MRP or with a fake percentage off, because ShubhLabh's Intelli AI verifies every one. The business: chains start with a shadow pilot where nothing goes live, then one festival, then always-on, paid per store plus campaign credits; kiranas get it free on WhatsApp, sponsored by the brands and distributors who already run schemes to them — at about one cent of AI cost per plan.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Scalability first, with numbers from the deploy audit. Every chain or shop lives in its own workspace on PostgreSQL, and the full test suite passes on PostgreSQL 17. The engine needs about a gigabyte of RAM with Chronos-2 on a CPU and no GPU. The solver handles 120 SKUs across three cities and 848 candidates in under a second and a half at the 95th percentile. AI costs about one cent per plan under hard caps. Rate limits are set for a crowd, and the One-Click kit is ready in about 40 seconds, with 784 automated tests behind it. Growth is data, not code: new festivals, cities and SKU lists are templates and CSVs. Then the roadmap. What is live today is in the first column, so nothing here is dressed up as future: the One-Click Designer, Promo Studio for full control from brief to sign-off, ShubhLabh on WhatsApp, English and Hindi copy, live replanning, and approval tiers with a full audit trail. Next three months: shadow pilots with two or three grocery chains where nothing goes live, pilots with the FMCG brands and distributors who would sponsor kirana plans, a chain's or store's own WhatsApp Business number, and recalibrating the price response on Indian pilot outcomes. Three to six months: POS, billing and ERP connectors; more Indian languages; regional festivals and more cities. Six to twelve months: always-on weekly plans, an outcome loop from redemptions, a job queue across several servers, and voice notes on WhatsApp. Ab sirf laabh hi laabh — thank you. Scan the code and try it on WhatsApp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shubhlabh-ai.replit.app" TargetMode="External"/><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image" Target="../media/image11.jpg"/><Relationship Id="rId8" Type="http://schemas.openxmlformats.org/officeDocument/2006/relationships/image" Target="../media/image12.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hyperlink" Target="https://shubhlabh-ai.replit.app" TargetMode="External"/><Relationship Id="rId6" Type="http://schemas.openxmlformats.org/officeDocument/2006/relationships/image" Target="../media/image31.png"/><Relationship Id="rId7" Type="http://schemas.openxmlformats.org/officeDocument/2006/relationships/image" Target="../media/image16.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17.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12.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24.png"/><Relationship Id="rId13" Type="http://schemas.openxmlformats.org/officeDocument/2006/relationships/image" Target="../media/image53.png"/><Relationship Id="rId14" Type="http://schemas.openxmlformats.org/officeDocument/2006/relationships/image" Target="../media/image12.png"/><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chart" Target="../charts/chart1.xml"/><Relationship Id="rId4" Type="http://schemas.openxmlformats.org/officeDocument/2006/relationships/image" Target="../media/image12.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png"/><Relationship Id="rId4" Type="http://schemas.openxmlformats.org/officeDocument/2006/relationships/image" Target="../media/image57.png"/><Relationship Id="rId5" Type="http://schemas.openxmlformats.org/officeDocument/2006/relationships/image" Target="../media/image23.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8.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hyperlink" Target="https://shubhlabh-ai.replit.app" TargetMode="External"/><Relationship Id="rId13" Type="http://schemas.openxmlformats.org/officeDocument/2006/relationships/image" Target="../media/image36.png"/><Relationship Id="rId1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38" name="hero"/>
          <p:cNvGrpSpPr/>
          <p:nvPr/>
        </p:nvGrpSpPr>
        <p:grpSpPr>
          <a:xfrm>
            <a:off x="6446520" y="502920"/>
            <a:ext cx="5212080" cy="4206240"/>
            <a:chOff x="6446520" y="502920"/>
            <a:chExt cx="5212080" cy="4206240"/>
          </a:xfrm>
        </p:grpSpPr>
        <p:sp>
          <p:nvSpPr>
            <p:cNvPr id="6" name="Oval 5"/>
            <p:cNvSpPr/>
            <p:nvPr/>
          </p:nvSpPr>
          <p:spPr>
            <a:xfrm>
              <a:off x="7452360" y="502920"/>
              <a:ext cx="4206240" cy="4206240"/>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_launch.png"/>
            <p:cNvPicPr>
              <a:picLocks noChangeAspect="1"/>
            </p:cNvPicPr>
            <p:nvPr/>
          </p:nvPicPr>
          <p:blipFill>
            <a:blip r:embed="rId2"/>
            <a:srcRect l="14062" r="13438" b="32000"/>
            <a:stretch>
              <a:fillRect/>
            </a:stretch>
          </p:blipFill>
          <p:spPr>
            <a:xfrm>
              <a:off x="6446520" y="1143000"/>
              <a:ext cx="5212080" cy="3055357"/>
            </a:xfrm>
            <a:prstGeom prst="rect">
              <a:avLst/>
            </a:prstGeom>
            <a:ln w="9525">
              <a:solidFill>
                <a:srgbClr val="E5E7EB"/>
              </a:solidFill>
            </a:ln>
            <a:effectLst>
              <a:outerShdw blurRad="355600" dist="101600" dir="5400000" algn="t" rotWithShape="0">
                <a:srgbClr val="0B1A5C">
                  <a:alpha val="18000"/>
                </a:srgbClr>
              </a:outerShdw>
            </a:effectLst>
          </p:spPr>
        </p:pic>
      </p:grpSp>
      <p:pic>
        <p:nvPicPr>
          <p:cNvPr id="8" name="Picture 7" descr="16_whatsapp.png"/>
          <p:cNvPicPr>
            <a:picLocks noChangeAspect="1"/>
          </p:cNvPicPr>
          <p:nvPr/>
        </p:nvPicPr>
        <p:blipFill>
          <a:blip r:embed="rId3"/>
          <a:stretch>
            <a:fillRect/>
          </a:stretch>
        </p:blipFill>
        <p:spPr>
          <a:xfrm>
            <a:off x="10012680" y="3547872"/>
            <a:ext cx="1645920" cy="2241743"/>
          </a:xfrm>
          <a:prstGeom prst="rect">
            <a:avLst/>
          </a:prstGeom>
          <a:ln w="9525">
            <a:solidFill>
              <a:srgbClr val="E5E7EB"/>
            </a:solidFill>
          </a:ln>
          <a:effectLst>
            <a:outerShdw blurRad="355600" dist="101600" dir="5400000" algn="t" rotWithShape="0">
              <a:srgbClr val="0B1A5C">
                <a:alpha val="24000"/>
              </a:srgbClr>
            </a:outerShdw>
          </a:effectLst>
        </p:spPr>
      </p:pic>
      <p:sp>
        <p:nvSpPr>
          <p:cNvPr id="9" name="Oval 8"/>
          <p:cNvSpPr/>
          <p:nvPr/>
        </p:nvSpPr>
        <p:spPr>
          <a:xfrm>
            <a:off x="548640" y="502920"/>
            <a:ext cx="457200" cy="457200"/>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hoppingCart_saffron.png"/>
          <p:cNvPicPr>
            <a:picLocks noChangeAspect="1"/>
          </p:cNvPicPr>
          <p:nvPr/>
        </p:nvPicPr>
        <p:blipFill>
          <a:blip r:embed="rId4"/>
          <a:stretch>
            <a:fillRect/>
          </a:stretch>
        </p:blipFill>
        <p:spPr>
          <a:xfrm>
            <a:off x="649224" y="603504"/>
            <a:ext cx="256032" cy="256032"/>
          </a:xfrm>
          <a:prstGeom prst="rect">
            <a:avLst/>
          </a:prstGeom>
        </p:spPr>
      </p:pic>
      <p:sp>
        <p:nvSpPr>
          <p:cNvPr id="11" name="TextBox 10"/>
          <p:cNvSpPr txBox="1"/>
          <p:nvPr/>
        </p:nvSpPr>
        <p:spPr>
          <a:xfrm>
            <a:off x="1115568" y="502920"/>
            <a:ext cx="6035040" cy="457200"/>
          </a:xfrm>
          <a:prstGeom prst="rect">
            <a:avLst/>
          </a:prstGeom>
          <a:noFill/>
        </p:spPr>
        <p:txBody>
          <a:bodyPr wrap="square" lIns="0" rIns="0" tIns="0" bIns="0" anchor="ctr">
            <a:spAutoFit/>
          </a:bodyPr>
          <a:lstStyle/>
          <a:p>
            <a:pPr algn="l"/>
            <a:r>
              <a:rPr sz="1200" b="0" i="0">
                <a:solidFill>
                  <a:srgbClr val="F28A1A"/>
                </a:solidFill>
                <a:latin typeface="Segoe UI Semibold"/>
              </a:rPr>
              <a:t>ET AI Hackathon 2026 · Problem 3 · AI Promotion Planner for Indian Retail</a:t>
            </a:r>
          </a:p>
        </p:txBody>
      </p:sp>
      <p:sp>
        <p:nvSpPr>
          <p:cNvPr id="12" name="TextBox 11"/>
          <p:cNvSpPr txBox="1"/>
          <p:nvPr/>
        </p:nvSpPr>
        <p:spPr>
          <a:xfrm>
            <a:off x="8229600" y="384048"/>
            <a:ext cx="3429000" cy="274320"/>
          </a:xfrm>
          <a:prstGeom prst="rect">
            <a:avLst/>
          </a:prstGeom>
          <a:noFill/>
        </p:spPr>
        <p:txBody>
          <a:bodyPr wrap="square" lIns="0" rIns="0" tIns="0" bIns="0" anchor="t">
            <a:spAutoFit/>
          </a:bodyPr>
          <a:lstStyle/>
          <a:p>
            <a:pPr algn="r"/>
            <a:r>
              <a:rPr sz="1100" b="0" i="0">
                <a:solidFill>
                  <a:srgbClr val="6B7280"/>
                </a:solidFill>
                <a:latin typeface="Segoe UI Semibold"/>
              </a:rPr>
              <a:t>Pitch Deck · October 2026</a:t>
            </a:r>
          </a:p>
        </p:txBody>
      </p:sp>
      <p:grpSp>
        <p:nvGrpSpPr>
          <p:cNvPr id="39" name="claim"/>
          <p:cNvGrpSpPr/>
          <p:nvPr/>
        </p:nvGrpSpPr>
        <p:grpSpPr>
          <a:xfrm>
            <a:off x="7506214" y="685800"/>
            <a:ext cx="4152385" cy="365760"/>
            <a:chOff x="7506214" y="685800"/>
            <a:chExt cx="4152385" cy="365760"/>
          </a:xfrm>
        </p:grpSpPr>
        <p:sp>
          <p:nvSpPr>
            <p:cNvPr id="13" name="Rounded Rectangle 12"/>
            <p:cNvSpPr/>
            <p:nvPr/>
          </p:nvSpPr>
          <p:spPr>
            <a:xfrm>
              <a:off x="7506214" y="685800"/>
              <a:ext cx="4152385" cy="365760"/>
            </a:xfrm>
            <a:prstGeom prst="roundRect">
              <a:avLst>
                <a:gd name="adj" fmla="val 50000"/>
              </a:avLst>
            </a:prstGeom>
            <a:solidFill>
              <a:srgbClr val="0B1A5C"/>
            </a:solidFill>
            <a:ln>
              <a:noFill/>
            </a:ln>
            <a:effectLst>
              <a:outerShdw blurRad="279400" dist="50800" dir="5400000" algn="t" rotWithShape="0">
                <a:srgbClr val="0B1A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07382" y="685800"/>
              <a:ext cx="693902" cy="365760"/>
            </a:xfrm>
            <a:prstGeom prst="rect">
              <a:avLst/>
            </a:prstGeom>
            <a:noFill/>
          </p:spPr>
          <p:txBody>
            <a:bodyPr wrap="none" lIns="0" rIns="0" tIns="0" bIns="0" anchor="ctr">
              <a:spAutoFit/>
            </a:bodyPr>
            <a:lstStyle/>
            <a:p>
              <a:pPr algn="l"/>
              <a:r>
                <a:rPr sz="1300" b="0" i="0">
                  <a:solidFill>
                    <a:srgbClr val="FFFFFF"/>
                  </a:solidFill>
                  <a:latin typeface="Segoe UI Black"/>
                </a:rPr>
                <a:t>F3</a:t>
              </a:r>
              <a:r>
                <a:rPr sz="1300" b="0" i="0">
                  <a:solidFill>
                    <a:srgbClr val="F28A1A"/>
                  </a:solidFill>
                  <a:latin typeface="Segoe UI Black"/>
                </a:rPr>
                <a:t> + </a:t>
              </a:r>
              <a:r>
                <a:rPr sz="1300" b="0" i="0">
                  <a:solidFill>
                    <a:srgbClr val="FFFFFF"/>
                  </a:solidFill>
                  <a:latin typeface="Segoe UI Black"/>
                </a:rPr>
                <a:t>D3</a:t>
              </a:r>
            </a:p>
          </p:txBody>
        </p:sp>
        <p:sp>
          <p:nvSpPr>
            <p:cNvPr id="15" name="Rectangle 14"/>
            <p:cNvSpPr/>
            <p:nvPr/>
          </p:nvSpPr>
          <p:spPr>
            <a:xfrm>
              <a:off x="8492724" y="768096"/>
              <a:ext cx="10972" cy="201168"/>
            </a:xfrm>
            <a:prstGeom prst="rect">
              <a:avLst/>
            </a:prstGeom>
            <a:solidFill>
              <a:srgbClr val="3A4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40857" y="685800"/>
              <a:ext cx="2862294" cy="365760"/>
            </a:xfrm>
            <a:prstGeom prst="rect">
              <a:avLst/>
            </a:prstGeom>
            <a:noFill/>
          </p:spPr>
          <p:txBody>
            <a:bodyPr wrap="none" lIns="0" rIns="0" tIns="0" bIns="0" anchor="ctr">
              <a:spAutoFit/>
            </a:bodyPr>
            <a:lstStyle/>
            <a:p>
              <a:pPr algn="l"/>
              <a:r>
                <a:rPr sz="1050" b="0" i="0">
                  <a:solidFill>
                    <a:srgbClr val="C7CCE8"/>
                  </a:solidFill>
                  <a:latin typeface="Segoe UI"/>
                </a:rPr>
                <a:t>all 9 required features + D3 multimodal depth</a:t>
              </a:r>
            </a:p>
          </p:txBody>
        </p:sp>
      </p:grpSp>
      <p:sp>
        <p:nvSpPr>
          <p:cNvPr id="17" name="TextBox 16"/>
          <p:cNvSpPr txBox="1"/>
          <p:nvPr/>
        </p:nvSpPr>
        <p:spPr>
          <a:xfrm>
            <a:off x="548640" y="1143000"/>
            <a:ext cx="6400800" cy="1188720"/>
          </a:xfrm>
          <a:prstGeom prst="rect">
            <a:avLst/>
          </a:prstGeom>
          <a:noFill/>
        </p:spPr>
        <p:txBody>
          <a:bodyPr wrap="square" lIns="0" rIns="0" tIns="0" bIns="0" anchor="t">
            <a:spAutoFit/>
          </a:bodyPr>
          <a:lstStyle/>
          <a:p>
            <a:pPr algn="l"/>
            <a:r>
              <a:rPr sz="6600" b="0" i="0">
                <a:solidFill>
                  <a:srgbClr val="0B1A5C"/>
                </a:solidFill>
                <a:latin typeface="Segoe UI Black"/>
              </a:rPr>
              <a:t>ShubhLabh</a:t>
            </a:r>
            <a:r>
              <a:rPr sz="6600" b="0" i="0">
                <a:solidFill>
                  <a:srgbClr val="F28A1A"/>
                </a:solidFill>
                <a:latin typeface="Segoe UI Black"/>
              </a:rPr>
              <a:t> AI</a:t>
            </a:r>
          </a:p>
        </p:txBody>
      </p:sp>
      <p:sp>
        <p:nvSpPr>
          <p:cNvPr id="18" name="Rectangle 17"/>
          <p:cNvSpPr/>
          <p:nvPr/>
        </p:nvSpPr>
        <p:spPr>
          <a:xfrm>
            <a:off x="566928" y="2395728"/>
            <a:ext cx="54864" cy="43891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2377440"/>
            <a:ext cx="5852160" cy="502920"/>
          </a:xfrm>
          <a:prstGeom prst="rect">
            <a:avLst/>
          </a:prstGeom>
          <a:noFill/>
        </p:spPr>
        <p:txBody>
          <a:bodyPr wrap="square" lIns="0" rIns="0" tIns="0" bIns="0" anchor="ctr">
            <a:spAutoFit/>
          </a:bodyPr>
          <a:lstStyle/>
          <a:p>
            <a:pPr algn="l"/>
            <a:r>
              <a:rPr sz="2200" b="0" i="0">
                <a:solidFill>
                  <a:srgbClr val="4B5563"/>
                </a:solidFill>
                <a:latin typeface="Segoe UI"/>
              </a:rPr>
              <a:t>India's smartest one-click AI promo planner</a:t>
            </a:r>
          </a:p>
        </p:txBody>
      </p:sp>
      <p:sp>
        <p:nvSpPr>
          <p:cNvPr id="20" name="TextBox 19"/>
          <p:cNvSpPr txBox="1"/>
          <p:nvPr/>
        </p:nvSpPr>
        <p:spPr>
          <a:xfrm>
            <a:off x="548640" y="3017520"/>
            <a:ext cx="5852160" cy="457200"/>
          </a:xfrm>
          <a:prstGeom prst="rect">
            <a:avLst/>
          </a:prstGeom>
          <a:noFill/>
        </p:spPr>
        <p:txBody>
          <a:bodyPr wrap="square" lIns="0" rIns="0" tIns="0" bIns="0" anchor="t">
            <a:spAutoFit/>
          </a:bodyPr>
          <a:lstStyle/>
          <a:p>
            <a:pPr algn="l"/>
            <a:r>
              <a:rPr sz="1900" b="0" i="1">
                <a:solidFill>
                  <a:srgbClr val="138808"/>
                </a:solidFill>
                <a:latin typeface="Segoe UI Semibold"/>
              </a:rPr>
              <a:t>Ab sirf laabh hi laabh</a:t>
            </a:r>
            <a:r>
              <a:rPr sz="1900" b="0" i="0">
                <a:solidFill>
                  <a:srgbClr val="138808"/>
                </a:solidFill>
                <a:latin typeface="Segoe UI"/>
              </a:rPr>
              <a:t>   ·   </a:t>
            </a:r>
            <a:r>
              <a:rPr sz="1900" b="0" i="0">
                <a:solidFill>
                  <a:srgbClr val="138808"/>
                </a:solidFill>
                <a:latin typeface="Nirmala UI"/>
                <a:cs typeface="Nirmala UI"/>
              </a:rPr>
              <a:t>अब सिर्फ़ लाभ ही लाभ</a:t>
            </a:r>
          </a:p>
        </p:txBody>
      </p:sp>
      <p:sp>
        <p:nvSpPr>
          <p:cNvPr id="21" name="TextBox 20"/>
          <p:cNvSpPr txBox="1"/>
          <p:nvPr/>
        </p:nvSpPr>
        <p:spPr>
          <a:xfrm>
            <a:off x="548640" y="3703320"/>
            <a:ext cx="5623560" cy="1097280"/>
          </a:xfrm>
          <a:prstGeom prst="rect">
            <a:avLst/>
          </a:prstGeom>
          <a:noFill/>
        </p:spPr>
        <p:txBody>
          <a:bodyPr wrap="square" lIns="0" rIns="0" tIns="0" bIns="0" anchor="t">
            <a:spAutoFit/>
          </a:bodyPr>
          <a:lstStyle/>
          <a:p>
            <a:pPr algn="l">
              <a:lnSpc>
                <a:spcPct val="110000"/>
              </a:lnSpc>
            </a:pPr>
            <a:r>
              <a:rPr sz="1500" b="0" i="0">
                <a:solidFill>
                  <a:srgbClr val="4B5563"/>
                </a:solidFill>
                <a:latin typeface="Segoe UI"/>
              </a:rPr>
              <a:t>One AI promotion engine, three ways in: a </a:t>
            </a:r>
            <a:r>
              <a:rPr sz="1500" b="1" i="0">
                <a:solidFill>
                  <a:srgbClr val="0B1A5C"/>
                </a:solidFill>
                <a:latin typeface="Segoe UI"/>
              </a:rPr>
              <a:t>One-Click Campaign Designer</a:t>
            </a:r>
            <a:r>
              <a:rPr sz="1500" b="0" i="0">
                <a:solidFill>
                  <a:srgbClr val="4B5563"/>
                </a:solidFill>
                <a:latin typeface="Segoe UI"/>
              </a:rPr>
              <a:t> for grocery chains, </a:t>
            </a:r>
            <a:r>
              <a:rPr sz="1500" b="1" i="0">
                <a:solidFill>
                  <a:srgbClr val="0B1A5C"/>
                </a:solidFill>
                <a:latin typeface="Segoe UI"/>
              </a:rPr>
              <a:t>Promo Studio</a:t>
            </a:r>
            <a:r>
              <a:rPr sz="1500" b="0" i="0">
                <a:solidFill>
                  <a:srgbClr val="4B5563"/>
                </a:solidFill>
                <a:latin typeface="Segoe UI"/>
              </a:rPr>
              <a:t> for full control, and </a:t>
            </a:r>
            <a:r>
              <a:rPr sz="1500" b="1" i="0">
                <a:solidFill>
                  <a:srgbClr val="0B1A5C"/>
                </a:solidFill>
                <a:latin typeface="Segoe UI"/>
              </a:rPr>
              <a:t>ShubhLabh on WhatsApp</a:t>
            </a:r>
            <a:r>
              <a:rPr sz="1500" b="0" i="0">
                <a:solidFill>
                  <a:srgbClr val="4B5563"/>
                </a:solidFill>
                <a:latin typeface="Segoe UI"/>
              </a:rPr>
              <a:t> for India's kirana owners.</a:t>
            </a:r>
          </a:p>
        </p:txBody>
      </p:sp>
      <p:sp>
        <p:nvSpPr>
          <p:cNvPr id="22" name="Rectangle 21"/>
          <p:cNvSpPr/>
          <p:nvPr/>
        </p:nvSpPr>
        <p:spPr>
          <a:xfrm>
            <a:off x="548640" y="5074920"/>
            <a:ext cx="5760720"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Rocket_saffron.png"/>
          <p:cNvPicPr>
            <a:picLocks noChangeAspect="1"/>
          </p:cNvPicPr>
          <p:nvPr/>
        </p:nvPicPr>
        <p:blipFill>
          <a:blip r:embed="rId5"/>
          <a:stretch>
            <a:fillRect/>
          </a:stretch>
        </p:blipFill>
        <p:spPr>
          <a:xfrm>
            <a:off x="548640" y="5321808"/>
            <a:ext cx="237744" cy="237744"/>
          </a:xfrm>
          <a:prstGeom prst="rect">
            <a:avLst/>
          </a:prstGeom>
        </p:spPr>
      </p:pic>
      <p:sp>
        <p:nvSpPr>
          <p:cNvPr id="24" name="TextBox 23"/>
          <p:cNvSpPr txBox="1"/>
          <p:nvPr/>
        </p:nvSpPr>
        <p:spPr>
          <a:xfrm>
            <a:off x="868680" y="5303520"/>
            <a:ext cx="2743200" cy="274320"/>
          </a:xfrm>
          <a:prstGeom prst="rect">
            <a:avLst/>
          </a:prstGeom>
          <a:noFill/>
        </p:spPr>
        <p:txBody>
          <a:bodyPr wrap="square" lIns="0" rIns="0" tIns="0" bIns="0" anchor="t">
            <a:spAutoFit/>
          </a:bodyPr>
          <a:lstStyle/>
          <a:p>
            <a:pPr algn="l"/>
            <a:r>
              <a:rPr sz="1000" b="0" i="0">
                <a:solidFill>
                  <a:srgbClr val="6B7280"/>
                </a:solidFill>
                <a:latin typeface="Segoe UI Semibold"/>
              </a:rPr>
              <a:t>Status</a:t>
            </a:r>
          </a:p>
        </p:txBody>
      </p:sp>
      <p:sp>
        <p:nvSpPr>
          <p:cNvPr id="25" name="TextBox 24"/>
          <p:cNvSpPr txBox="1"/>
          <p:nvPr/>
        </p:nvSpPr>
        <p:spPr>
          <a:xfrm>
            <a:off x="548640" y="5596128"/>
            <a:ext cx="2834640" cy="365760"/>
          </a:xfrm>
          <a:prstGeom prst="rect">
            <a:avLst/>
          </a:prstGeom>
          <a:noFill/>
        </p:spPr>
        <p:txBody>
          <a:bodyPr wrap="square" lIns="0" rIns="0" tIns="0" bIns="0" anchor="t">
            <a:spAutoFit/>
          </a:bodyPr>
          <a:lstStyle/>
          <a:p>
            <a:pPr algn="l"/>
            <a:r>
              <a:rPr sz="1500" b="0" i="0">
                <a:solidFill>
                  <a:srgbClr val="111827"/>
                </a:solidFill>
                <a:latin typeface="Segoe UI Semibold"/>
              </a:rPr>
              <a:t>Live, working product</a:t>
            </a:r>
          </a:p>
        </p:txBody>
      </p:sp>
      <p:sp>
        <p:nvSpPr>
          <p:cNvPr id="26" name="TextBox 25"/>
          <p:cNvSpPr txBox="1"/>
          <p:nvPr/>
        </p:nvSpPr>
        <p:spPr>
          <a:xfrm>
            <a:off x="548640" y="5925312"/>
            <a:ext cx="2834640" cy="274320"/>
          </a:xfrm>
          <a:prstGeom prst="rect">
            <a:avLst/>
          </a:prstGeom>
          <a:noFill/>
        </p:spPr>
        <p:txBody>
          <a:bodyPr wrap="square" lIns="0" rIns="0" tIns="0" bIns="0" anchor="t">
            <a:spAutoFit/>
          </a:bodyPr>
          <a:lstStyle/>
          <a:p>
            <a:pPr algn="l"/>
            <a:r>
              <a:rPr sz="1000" b="0" i="0">
                <a:solidFill>
                  <a:srgbClr val="6B7280"/>
                </a:solidFill>
                <a:latin typeface="Segoe UI"/>
              </a:rPr>
              <a:t>F3 + D3 · all 9 features · live on WhatsApp</a:t>
            </a:r>
          </a:p>
        </p:txBody>
      </p:sp>
      <p:sp>
        <p:nvSpPr>
          <p:cNvPr id="27" name="Rounded Rectangle 26"/>
          <p:cNvSpPr/>
          <p:nvPr/>
        </p:nvSpPr>
        <p:spPr>
          <a:xfrm>
            <a:off x="6446520" y="4389120"/>
            <a:ext cx="3401568" cy="2029968"/>
          </a:xfrm>
          <a:prstGeom prst="roundRect">
            <a:avLst>
              <a:gd name="adj" fmla="val 6000"/>
            </a:avLst>
          </a:prstGeom>
          <a:solidFill>
            <a:srgbClr val="FFFFFF"/>
          </a:solidFill>
          <a:ln w="15875">
            <a:solidFill>
              <a:srgbClr val="F28A1A"/>
            </a:solidFill>
          </a:ln>
          <a:effectLst>
            <a:outerShdw blurRad="279400" dist="50800" dir="5400000" algn="t" rotWithShape="0">
              <a:srgbClr val="0B1A5C">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cket_saffron.png"/>
          <p:cNvPicPr>
            <a:picLocks noChangeAspect="1"/>
          </p:cNvPicPr>
          <p:nvPr/>
        </p:nvPicPr>
        <p:blipFill>
          <a:blip r:embed="rId5"/>
          <a:stretch>
            <a:fillRect/>
          </a:stretch>
        </p:blipFill>
        <p:spPr>
          <a:xfrm>
            <a:off x="6647688" y="4572000"/>
            <a:ext cx="237744" cy="237744"/>
          </a:xfrm>
          <a:prstGeom prst="rect">
            <a:avLst/>
          </a:prstGeom>
        </p:spPr>
      </p:pic>
      <p:sp>
        <p:nvSpPr>
          <p:cNvPr id="29" name="TextBox 28"/>
          <p:cNvSpPr txBox="1"/>
          <p:nvPr/>
        </p:nvSpPr>
        <p:spPr>
          <a:xfrm>
            <a:off x="6976872" y="4517136"/>
            <a:ext cx="2715768" cy="457200"/>
          </a:xfrm>
          <a:prstGeom prst="rect">
            <a:avLst/>
          </a:prstGeom>
          <a:noFill/>
        </p:spPr>
        <p:txBody>
          <a:bodyPr wrap="square" lIns="0" rIns="0" tIns="0" bIns="0" anchor="t">
            <a:spAutoFit/>
          </a:bodyPr>
          <a:lstStyle/>
          <a:p>
            <a:pPr algn="l">
              <a:lnSpc>
                <a:spcPct val="100000"/>
              </a:lnSpc>
            </a:pPr>
            <a:r>
              <a:rPr sz="1200" b="0" i="0">
                <a:solidFill>
                  <a:srgbClr val="111827"/>
                </a:solidFill>
                <a:latin typeface="Segoe UI Semibold"/>
              </a:rPr>
              <a:t>The app is already live. Use it without any installation:</a:t>
            </a:r>
          </a:p>
        </p:txBody>
      </p:sp>
      <p:sp>
        <p:nvSpPr>
          <p:cNvPr id="30" name="Rounded Rectangle 29">
            <a:hlinkClick r:id="rId6"/>
          </p:cNvPr>
          <p:cNvSpPr/>
          <p:nvPr/>
        </p:nvSpPr>
        <p:spPr>
          <a:xfrm>
            <a:off x="6647688" y="5047488"/>
            <a:ext cx="2999232" cy="420624"/>
          </a:xfrm>
          <a:prstGeom prst="roundRect">
            <a:avLst>
              <a:gd name="adj" fmla="val 5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ink2_white.png"/>
          <p:cNvPicPr>
            <a:picLocks noChangeAspect="1"/>
          </p:cNvPicPr>
          <p:nvPr/>
        </p:nvPicPr>
        <p:blipFill>
          <a:blip r:embed="rId7"/>
          <a:stretch>
            <a:fillRect/>
          </a:stretch>
        </p:blipFill>
        <p:spPr>
          <a:xfrm>
            <a:off x="6793992" y="5157216"/>
            <a:ext cx="201168" cy="201168"/>
          </a:xfrm>
          <a:prstGeom prst="rect">
            <a:avLst/>
          </a:prstGeom>
        </p:spPr>
      </p:pic>
      <p:sp>
        <p:nvSpPr>
          <p:cNvPr id="32" name="TextBox 31"/>
          <p:cNvSpPr txBox="1"/>
          <p:nvPr/>
        </p:nvSpPr>
        <p:spPr>
          <a:xfrm>
            <a:off x="7068312" y="5047488"/>
            <a:ext cx="2532888" cy="420624"/>
          </a:xfrm>
          <a:prstGeom prst="rect">
            <a:avLst/>
          </a:prstGeom>
          <a:noFill/>
        </p:spPr>
        <p:txBody>
          <a:bodyPr wrap="none" lIns="0" rIns="0" tIns="0" bIns="0" anchor="ctr">
            <a:spAutoFit/>
          </a:bodyPr>
          <a:lstStyle/>
          <a:p>
            <a:pPr algn="l"/>
            <a:r>
              <a:rPr sz="1200" b="0" i="0">
                <a:solidFill>
                  <a:srgbClr val="FFFFFF"/>
                </a:solidFill>
                <a:latin typeface="Segoe UI Semibold"/>
                <a:hlinkClick r:id="rId6">
                  <a:extLst>
                    <a:ext uri="{A12FA001-AC4F-418D-AE19-62706E023703}">
                      <ahyp:hlinkClr xmlns:ahyp="http://schemas.microsoft.com/office/drawing/2018/hyperlinkcolor" val="tx"/>
                    </a:ext>
                  </a:extLst>
                </a:hlinkClick>
              </a:rPr>
              <a:t>https://shubhlabh-ai.replit.app</a:t>
            </a:r>
          </a:p>
        </p:txBody>
      </p:sp>
      <p:sp>
        <p:nvSpPr>
          <p:cNvPr id="33" name="TextBox 32"/>
          <p:cNvSpPr txBox="1"/>
          <p:nvPr/>
        </p:nvSpPr>
        <p:spPr>
          <a:xfrm>
            <a:off x="6647688" y="5596128"/>
            <a:ext cx="3017520" cy="777240"/>
          </a:xfrm>
          <a:prstGeom prst="rect">
            <a:avLst/>
          </a:prstGeom>
          <a:noFill/>
        </p:spPr>
        <p:txBody>
          <a:bodyPr wrap="square" lIns="0" rIns="0" tIns="0" bIns="0" anchor="t">
            <a:spAutoFit/>
          </a:bodyPr>
          <a:lstStyle/>
          <a:p>
            <a:pPr algn="l">
              <a:lnSpc>
                <a:spcPct val="105000"/>
              </a:lnSpc>
            </a:pPr>
            <a:r>
              <a:rPr sz="950" b="0" i="0">
                <a:solidFill>
                  <a:srgbClr val="6B7280"/>
                </a:solidFill>
                <a:latin typeface="Segoe UI"/>
              </a:rPr>
              <a:t>First run may take 4–5 minutes to complete for the One‑Click Designer and Promo Studio.</a:t>
            </a:r>
          </a:p>
          <a:p>
            <a:pPr algn="l">
              <a:lnSpc>
                <a:spcPct val="105000"/>
              </a:lnSpc>
              <a:spcBef>
                <a:spcPts val="400"/>
              </a:spcBef>
            </a:pPr>
            <a:r>
              <a:rPr sz="950" b="0" i="0">
                <a:solidFill>
                  <a:srgbClr val="138808"/>
                </a:solidFill>
                <a:latin typeface="Segoe UI Semibold"/>
              </a:rPr>
              <a:t>WhatsApp replies instantly: </a:t>
            </a:r>
            <a:r>
              <a:rPr sz="950" b="0" i="0">
                <a:solidFill>
                  <a:srgbClr val="6B7280"/>
                </a:solidFill>
                <a:latin typeface="Segoe UI"/>
              </a:rPr>
              <a:t>message </a:t>
            </a:r>
            <a:r>
              <a:rPr sz="950" b="0" i="0">
                <a:solidFill>
                  <a:srgbClr val="111827"/>
                </a:solidFill>
                <a:latin typeface="Segoe UI Semibold"/>
              </a:rPr>
              <a:t>+1 415 523 8886</a:t>
            </a:r>
            <a:r>
              <a:rPr sz="950" b="0" i="0">
                <a:solidFill>
                  <a:srgbClr val="6B7280"/>
                </a:solidFill>
                <a:latin typeface="Segoe UI"/>
              </a:rPr>
              <a:t> with </a:t>
            </a:r>
            <a:r>
              <a:rPr sz="950" b="0" i="0">
                <a:solidFill>
                  <a:srgbClr val="111827"/>
                </a:solidFill>
                <a:latin typeface="Segoe UI Semibold"/>
              </a:rPr>
              <a:t>'join bright‑blanket'</a:t>
            </a:r>
            <a:r>
              <a:rPr sz="950" b="0" i="0">
                <a:solidFill>
                  <a:srgbClr val="6B7280"/>
                </a:solidFill>
                <a:latin typeface="Segoe UI"/>
              </a:rPr>
              <a:t>.</a:t>
            </a:r>
          </a:p>
        </p:txBody>
      </p:sp>
      <p:pic>
        <p:nvPicPr>
          <p:cNvPr id="34" name="Picture 33" descr="Users_saffron.png"/>
          <p:cNvPicPr>
            <a:picLocks noChangeAspect="1"/>
          </p:cNvPicPr>
          <p:nvPr/>
        </p:nvPicPr>
        <p:blipFill>
          <a:blip r:embed="rId8"/>
          <a:stretch>
            <a:fillRect/>
          </a:stretch>
        </p:blipFill>
        <p:spPr>
          <a:xfrm>
            <a:off x="3520440" y="5321808"/>
            <a:ext cx="237744" cy="237744"/>
          </a:xfrm>
          <a:prstGeom prst="rect">
            <a:avLst/>
          </a:prstGeom>
        </p:spPr>
      </p:pic>
      <p:sp>
        <p:nvSpPr>
          <p:cNvPr id="35" name="TextBox 34"/>
          <p:cNvSpPr txBox="1"/>
          <p:nvPr/>
        </p:nvSpPr>
        <p:spPr>
          <a:xfrm>
            <a:off x="3840480" y="5303520"/>
            <a:ext cx="2743200" cy="274320"/>
          </a:xfrm>
          <a:prstGeom prst="rect">
            <a:avLst/>
          </a:prstGeom>
          <a:noFill/>
        </p:spPr>
        <p:txBody>
          <a:bodyPr wrap="square" lIns="0" rIns="0" tIns="0" bIns="0" anchor="t">
            <a:spAutoFit/>
          </a:bodyPr>
          <a:lstStyle/>
          <a:p>
            <a:pPr algn="l"/>
            <a:r>
              <a:rPr sz="1000" b="0" i="0">
                <a:solidFill>
                  <a:srgbClr val="6B7280"/>
                </a:solidFill>
                <a:latin typeface="Segoe UI Semibold"/>
              </a:rPr>
              <a:t>Built by</a:t>
            </a:r>
          </a:p>
        </p:txBody>
      </p:sp>
      <p:sp>
        <p:nvSpPr>
          <p:cNvPr id="36" name="TextBox 35"/>
          <p:cNvSpPr txBox="1"/>
          <p:nvPr/>
        </p:nvSpPr>
        <p:spPr>
          <a:xfrm>
            <a:off x="3520440" y="5596128"/>
            <a:ext cx="3017520" cy="365760"/>
          </a:xfrm>
          <a:prstGeom prst="rect">
            <a:avLst/>
          </a:prstGeom>
          <a:noFill/>
        </p:spPr>
        <p:txBody>
          <a:bodyPr wrap="square" lIns="0" rIns="0" tIns="0" bIns="0" anchor="t">
            <a:spAutoFit/>
          </a:bodyPr>
          <a:lstStyle/>
          <a:p>
            <a:pPr algn="l"/>
            <a:r>
              <a:rPr sz="1500" b="0" i="0">
                <a:solidFill>
                  <a:srgbClr val="111827"/>
                </a:solidFill>
                <a:latin typeface="Segoe UI Semibold"/>
              </a:rPr>
              <a:t>Anurag Manik</a:t>
            </a:r>
          </a:p>
        </p:txBody>
      </p:sp>
      <p:sp>
        <p:nvSpPr>
          <p:cNvPr id="37" name="TextBox 36"/>
          <p:cNvSpPr txBox="1"/>
          <p:nvPr/>
        </p:nvSpPr>
        <p:spPr>
          <a:xfrm>
            <a:off x="3520440" y="5925312"/>
            <a:ext cx="3108960" cy="274320"/>
          </a:xfrm>
          <a:prstGeom prst="rect">
            <a:avLst/>
          </a:prstGeom>
          <a:noFill/>
        </p:spPr>
        <p:txBody>
          <a:bodyPr wrap="square" lIns="0" rIns="0" tIns="0" bIns="0" anchor="t">
            <a:spAutoFit/>
          </a:bodyPr>
          <a:lstStyle/>
          <a:p>
            <a:pPr algn="l"/>
            <a:r>
              <a:rPr sz="1000" b="0" i="0">
                <a:solidFill>
                  <a:srgbClr val="6B7280"/>
                </a:solidFill>
                <a:latin typeface="Segoe UI"/>
              </a:rPr>
              <a:t>AI Solution Architect – HP</a:t>
            </a:r>
          </a:p>
        </p:txBody>
      </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600"/>
                                        <p:tgtEl>
                                          <p:spTgt spid="38"/>
                                        </p:tgtEl>
                                      </p:cBhvr>
                                    </p:animEffect>
                                    <p:anim calcmode="lin" valueType="num">
                                      <p:cBhvr>
                                        <p:cTn id="8" dur="600" fill="hold"/>
                                        <p:tgtEl>
                                          <p:spTgt spid="38"/>
                                        </p:tgtEl>
                                        <p:attrNameLst>
                                          <p:attrName>ppt_x</p:attrName>
                                        </p:attrNameLst>
                                      </p:cBhvr>
                                      <p:tavLst>
                                        <p:tav tm="0">
                                          <p:val>
                                            <p:strVal val="#ppt_x"/>
                                          </p:val>
                                        </p:tav>
                                        <p:tav tm="100000">
                                          <p:val>
                                            <p:strVal val="#ppt_x"/>
                                          </p:val>
                                        </p:tav>
                                      </p:tavLst>
                                    </p:anim>
                                    <p:anim calcmode="lin" valueType="num">
                                      <p:cBhvr>
                                        <p:cTn id="9" dur="600" decel="100000" fill="hold"/>
                                        <p:tgtEl>
                                          <p:spTgt spid="38"/>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anim calcmode="lin" valueType="num">
                                      <p:cBhvr>
                                        <p:cTn id="14" dur="600" fill="hold"/>
                                        <p:tgtEl>
                                          <p:spTgt spid="8"/>
                                        </p:tgtEl>
                                        <p:attrNameLst>
                                          <p:attrName>ppt_x</p:attrName>
                                        </p:attrNameLst>
                                      </p:cBhvr>
                                      <p:tavLst>
                                        <p:tav tm="0">
                                          <p:val>
                                            <p:strVal val="#ppt_x"/>
                                          </p:val>
                                        </p:tav>
                                        <p:tav tm="100000">
                                          <p:val>
                                            <p:strVal val="#ppt_x"/>
                                          </p:val>
                                        </p:tav>
                                      </p:tavLst>
                                    </p:anim>
                                    <p:anim calcmode="lin" valueType="num">
                                      <p:cBhvr>
                                        <p:cTn id="15" dur="600" decel="100000" fill="hold"/>
                                        <p:tgtEl>
                                          <p:spTgt spid="8"/>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600"/>
                                        <p:tgtEl>
                                          <p:spTgt spid="39"/>
                                        </p:tgtEl>
                                      </p:cBhvr>
                                    </p:animEffect>
                                    <p:anim calcmode="lin" valueType="num">
                                      <p:cBhvr>
                                        <p:cTn id="20" dur="600" fill="hold"/>
                                        <p:tgtEl>
                                          <p:spTgt spid="39"/>
                                        </p:tgtEl>
                                        <p:attrNameLst>
                                          <p:attrName>ppt_x</p:attrName>
                                        </p:attrNameLst>
                                      </p:cBhvr>
                                      <p:tavLst>
                                        <p:tav tm="0">
                                          <p:val>
                                            <p:strVal val="#ppt_x"/>
                                          </p:val>
                                        </p:tav>
                                        <p:tav tm="100000">
                                          <p:val>
                                            <p:strVal val="#ppt_x"/>
                                          </p:val>
                                        </p:tav>
                                      </p:tavLst>
                                    </p:anim>
                                    <p:anim calcmode="lin" valueType="num">
                                      <p:cBhvr>
                                        <p:cTn id="21" dur="600" decel="100000" fill="hold"/>
                                        <p:tgtEl>
                                          <p:spTgt spid="3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02</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sers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Team introduction · verified on real data</a:t>
            </a:r>
          </a:p>
        </p:txBody>
      </p:sp>
      <p:sp>
        <p:nvSpPr>
          <p:cNvPr id="11" name="TextBox 10"/>
          <p:cNvSpPr txBox="1"/>
          <p:nvPr/>
        </p:nvSpPr>
        <p:spPr>
          <a:xfrm>
            <a:off x="548640" y="850392"/>
            <a:ext cx="11384280" cy="114300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Built by one person.</a:t>
            </a:r>
            <a:br/>
            <a:r>
              <a:rPr sz="3600" b="0" i="0">
                <a:solidFill>
                  <a:srgbClr val="0B1A5C"/>
                </a:solidFill>
                <a:latin typeface="Segoe UI Black"/>
              </a:rPr>
              <a:t>Verified on </a:t>
            </a:r>
            <a:r>
              <a:rPr sz="3600" b="0" i="0">
                <a:solidFill>
                  <a:srgbClr val="F28A1A"/>
                </a:solidFill>
                <a:latin typeface="Segoe UI Black"/>
              </a:rPr>
              <a:t>real</a:t>
            </a:r>
            <a:r>
              <a:rPr sz="3600" b="0" i="0">
                <a:solidFill>
                  <a:srgbClr val="0B1A5C"/>
                </a:solidFill>
                <a:latin typeface="Segoe UI Black"/>
              </a:rPr>
              <a:t> Indian store photos.</a:t>
            </a:r>
          </a:p>
        </p:txBody>
      </p:sp>
      <p:grpSp>
        <p:nvGrpSpPr>
          <p:cNvPr id="29" name="team"/>
          <p:cNvGrpSpPr/>
          <p:nvPr/>
        </p:nvGrpSpPr>
        <p:grpSpPr>
          <a:xfrm>
            <a:off x="548640" y="2029968"/>
            <a:ext cx="3246120" cy="3822191"/>
            <a:chOff x="548640" y="2029968"/>
            <a:chExt cx="3246120" cy="3822191"/>
          </a:xfrm>
        </p:grpSpPr>
        <p:sp>
          <p:nvSpPr>
            <p:cNvPr id="12" name="Rounded Rectangle 11"/>
            <p:cNvSpPr/>
            <p:nvPr/>
          </p:nvSpPr>
          <p:spPr>
            <a:xfrm>
              <a:off x="548640" y="2029968"/>
              <a:ext cx="3246120" cy="3822191"/>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68096" y="2267712"/>
              <a:ext cx="713232" cy="71323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267712"/>
              <a:ext cx="713232" cy="713232"/>
            </a:xfrm>
            <a:prstGeom prst="rect">
              <a:avLst/>
            </a:prstGeom>
            <a:noFill/>
          </p:spPr>
          <p:txBody>
            <a:bodyPr wrap="square" lIns="0" rIns="0" tIns="0" bIns="0" anchor="ctr">
              <a:spAutoFit/>
            </a:bodyPr>
            <a:lstStyle/>
            <a:p>
              <a:pPr algn="ctr"/>
              <a:r>
                <a:rPr sz="2000" b="0" i="0">
                  <a:solidFill>
                    <a:srgbClr val="FFFFFF"/>
                  </a:solidFill>
                  <a:latin typeface="Segoe UI Black"/>
                </a:rPr>
                <a:t>AM</a:t>
              </a:r>
            </a:p>
          </p:txBody>
        </p:sp>
        <p:sp>
          <p:nvSpPr>
            <p:cNvPr id="15" name="TextBox 14"/>
            <p:cNvSpPr txBox="1"/>
            <p:nvPr/>
          </p:nvSpPr>
          <p:spPr>
            <a:xfrm>
              <a:off x="1645920" y="2304288"/>
              <a:ext cx="2103120" cy="347472"/>
            </a:xfrm>
            <a:prstGeom prst="rect">
              <a:avLst/>
            </a:prstGeom>
            <a:noFill/>
          </p:spPr>
          <p:txBody>
            <a:bodyPr wrap="square" lIns="0" rIns="0" tIns="0" bIns="0" anchor="t">
              <a:spAutoFit/>
            </a:bodyPr>
            <a:lstStyle/>
            <a:p>
              <a:pPr algn="l"/>
              <a:r>
                <a:rPr sz="1900" b="0" i="0">
                  <a:solidFill>
                    <a:srgbClr val="0B1A5C"/>
                  </a:solidFill>
                  <a:latin typeface="Segoe UI Semibold"/>
                </a:rPr>
                <a:t>Anurag Manik</a:t>
              </a:r>
            </a:p>
          </p:txBody>
        </p:sp>
        <p:sp>
          <p:nvSpPr>
            <p:cNvPr id="16" name="TextBox 15"/>
            <p:cNvSpPr txBox="1"/>
            <p:nvPr/>
          </p:nvSpPr>
          <p:spPr>
            <a:xfrm>
              <a:off x="1645920" y="2670048"/>
              <a:ext cx="2103120" cy="274320"/>
            </a:xfrm>
            <a:prstGeom prst="rect">
              <a:avLst/>
            </a:prstGeom>
            <a:noFill/>
          </p:spPr>
          <p:txBody>
            <a:bodyPr wrap="square" lIns="0" rIns="0" tIns="0" bIns="0" anchor="t">
              <a:spAutoFit/>
            </a:bodyPr>
            <a:lstStyle/>
            <a:p>
              <a:pPr algn="l"/>
              <a:r>
                <a:rPr sz="1200" b="0" i="0">
                  <a:solidFill>
                    <a:srgbClr val="F28A1A"/>
                  </a:solidFill>
                  <a:latin typeface="Segoe UI Semibold"/>
                </a:rPr>
                <a:t>AI Solution Architect – HP</a:t>
              </a:r>
            </a:p>
          </p:txBody>
        </p:sp>
        <p:pic>
          <p:nvPicPr>
            <p:cNvPr id="17" name="Picture 16" descr="Mail_navy.png"/>
            <p:cNvPicPr>
              <a:picLocks noChangeAspect="1"/>
            </p:cNvPicPr>
            <p:nvPr/>
          </p:nvPicPr>
          <p:blipFill>
            <a:blip r:embed="rId3"/>
            <a:stretch>
              <a:fillRect/>
            </a:stretch>
          </p:blipFill>
          <p:spPr>
            <a:xfrm>
              <a:off x="786384" y="3218688"/>
              <a:ext cx="219456" cy="219456"/>
            </a:xfrm>
            <a:prstGeom prst="rect">
              <a:avLst/>
            </a:prstGeom>
          </p:spPr>
        </p:pic>
        <p:sp>
          <p:nvSpPr>
            <p:cNvPr id="18" name="TextBox 17"/>
            <p:cNvSpPr txBox="1"/>
            <p:nvPr/>
          </p:nvSpPr>
          <p:spPr>
            <a:xfrm>
              <a:off x="1097280" y="3172968"/>
              <a:ext cx="2606040" cy="310896"/>
            </a:xfrm>
            <a:prstGeom prst="rect">
              <a:avLst/>
            </a:prstGeom>
            <a:noFill/>
          </p:spPr>
          <p:txBody>
            <a:bodyPr wrap="square" lIns="0" rIns="0" tIns="0" bIns="0" anchor="ctr">
              <a:spAutoFit/>
            </a:bodyPr>
            <a:lstStyle/>
            <a:p>
              <a:pPr algn="l"/>
              <a:r>
                <a:rPr sz="1100" b="0" i="0">
                  <a:solidFill>
                    <a:srgbClr val="0B1A5C"/>
                  </a:solidFill>
                  <a:latin typeface="Segoe UI"/>
                </a:rPr>
                <a:t>anuragmanik7@gmail.com</a:t>
              </a:r>
            </a:p>
          </p:txBody>
        </p:sp>
        <p:sp>
          <p:nvSpPr>
            <p:cNvPr id="19" name="Rectangle 18"/>
            <p:cNvSpPr/>
            <p:nvPr/>
          </p:nvSpPr>
          <p:spPr>
            <a:xfrm>
              <a:off x="768096" y="3639312"/>
              <a:ext cx="2807208"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8096" y="3767328"/>
              <a:ext cx="2743200" cy="219456"/>
            </a:xfrm>
            <a:prstGeom prst="rect">
              <a:avLst/>
            </a:prstGeom>
            <a:noFill/>
          </p:spPr>
          <p:txBody>
            <a:bodyPr wrap="square" lIns="0" rIns="0" tIns="0" bIns="0" anchor="t">
              <a:spAutoFit/>
            </a:bodyPr>
            <a:lstStyle/>
            <a:p>
              <a:pPr algn="l"/>
              <a:r>
                <a:rPr sz="900" b="0" i="0">
                  <a:solidFill>
                    <a:srgbClr val="6B7280"/>
                  </a:solidFill>
                  <a:latin typeface="Segoe UI Semibold"/>
                </a:rPr>
                <a:t>BUILT END TO END, SOLO</a:t>
              </a:r>
            </a:p>
          </p:txBody>
        </p:sp>
        <p:pic>
          <p:nvPicPr>
            <p:cNvPr id="21" name="Picture 20" descr="CheckCircle2_green.png"/>
            <p:cNvPicPr>
              <a:picLocks noChangeAspect="1"/>
            </p:cNvPicPr>
            <p:nvPr/>
          </p:nvPicPr>
          <p:blipFill>
            <a:blip r:embed="rId4"/>
            <a:stretch>
              <a:fillRect/>
            </a:stretch>
          </p:blipFill>
          <p:spPr>
            <a:xfrm>
              <a:off x="786384" y="4073652"/>
              <a:ext cx="182880" cy="182880"/>
            </a:xfrm>
            <a:prstGeom prst="rect">
              <a:avLst/>
            </a:prstGeom>
          </p:spPr>
        </p:pic>
        <p:sp>
          <p:nvSpPr>
            <p:cNvPr id="22" name="TextBox 21"/>
            <p:cNvSpPr txBox="1"/>
            <p:nvPr/>
          </p:nvSpPr>
          <p:spPr>
            <a:xfrm>
              <a:off x="1060704" y="4059936"/>
              <a:ext cx="2514600" cy="402336"/>
            </a:xfrm>
            <a:prstGeom prst="rect">
              <a:avLst/>
            </a:prstGeom>
            <a:noFill/>
          </p:spPr>
          <p:txBody>
            <a:bodyPr wrap="square" lIns="0" rIns="0" tIns="0" bIns="0" anchor="t">
              <a:spAutoFit/>
            </a:bodyPr>
            <a:lstStyle/>
            <a:p>
              <a:pPr algn="l">
                <a:lnSpc>
                  <a:spcPct val="98000"/>
                </a:lnSpc>
              </a:pPr>
              <a:r>
                <a:rPr sz="1000" b="0" i="0">
                  <a:solidFill>
                    <a:srgbClr val="0B1A5C"/>
                  </a:solidFill>
                  <a:latin typeface="Segoe UI Semibold"/>
                </a:rPr>
                <a:t>Backend:</a:t>
              </a:r>
              <a:r>
                <a:rPr sz="1000" b="0" i="0">
                  <a:solidFill>
                    <a:srgbClr val="4B5563"/>
                  </a:solidFill>
                  <a:latin typeface="Segoe UI"/>
                </a:rPr>
                <a:t> the agent, solver, guard pack and WhatsApp channel</a:t>
              </a:r>
            </a:p>
          </p:txBody>
        </p:sp>
        <p:pic>
          <p:nvPicPr>
            <p:cNvPr id="23" name="Picture 22" descr="CheckCircle2_green.png"/>
            <p:cNvPicPr>
              <a:picLocks noChangeAspect="1"/>
            </p:cNvPicPr>
            <p:nvPr/>
          </p:nvPicPr>
          <p:blipFill>
            <a:blip r:embed="rId4"/>
            <a:stretch>
              <a:fillRect/>
            </a:stretch>
          </p:blipFill>
          <p:spPr>
            <a:xfrm>
              <a:off x="786384" y="4503420"/>
              <a:ext cx="182880" cy="182880"/>
            </a:xfrm>
            <a:prstGeom prst="rect">
              <a:avLst/>
            </a:prstGeom>
          </p:spPr>
        </p:pic>
        <p:sp>
          <p:nvSpPr>
            <p:cNvPr id="24" name="TextBox 23"/>
            <p:cNvSpPr txBox="1"/>
            <p:nvPr/>
          </p:nvSpPr>
          <p:spPr>
            <a:xfrm>
              <a:off x="1060704" y="4489704"/>
              <a:ext cx="2514600" cy="402336"/>
            </a:xfrm>
            <a:prstGeom prst="rect">
              <a:avLst/>
            </a:prstGeom>
            <a:noFill/>
          </p:spPr>
          <p:txBody>
            <a:bodyPr wrap="square" lIns="0" rIns="0" tIns="0" bIns="0" anchor="t">
              <a:spAutoFit/>
            </a:bodyPr>
            <a:lstStyle/>
            <a:p>
              <a:pPr algn="l">
                <a:lnSpc>
                  <a:spcPct val="98000"/>
                </a:lnSpc>
              </a:pPr>
              <a:r>
                <a:rPr sz="1000" b="0" i="0">
                  <a:solidFill>
                    <a:srgbClr val="0B1A5C"/>
                  </a:solidFill>
                  <a:latin typeface="Segoe UI Semibold"/>
                </a:rPr>
                <a:t>React UI:</a:t>
              </a:r>
              <a:r>
                <a:rPr sz="1000" b="0" i="0">
                  <a:solidFill>
                    <a:srgbClr val="4B5563"/>
                  </a:solidFill>
                  <a:latin typeface="Segoe UI"/>
                </a:rPr>
                <a:t> One-Click Designer, Promo Studio, guided tour</a:t>
              </a:r>
            </a:p>
          </p:txBody>
        </p:sp>
        <p:pic>
          <p:nvPicPr>
            <p:cNvPr id="25" name="Picture 24" descr="CheckCircle2_green.png"/>
            <p:cNvPicPr>
              <a:picLocks noChangeAspect="1"/>
            </p:cNvPicPr>
            <p:nvPr/>
          </p:nvPicPr>
          <p:blipFill>
            <a:blip r:embed="rId4"/>
            <a:stretch>
              <a:fillRect/>
            </a:stretch>
          </p:blipFill>
          <p:spPr>
            <a:xfrm>
              <a:off x="786384" y="4933188"/>
              <a:ext cx="182880" cy="182880"/>
            </a:xfrm>
            <a:prstGeom prst="rect">
              <a:avLst/>
            </a:prstGeom>
          </p:spPr>
        </p:pic>
        <p:sp>
          <p:nvSpPr>
            <p:cNvPr id="26" name="TextBox 25"/>
            <p:cNvSpPr txBox="1"/>
            <p:nvPr/>
          </p:nvSpPr>
          <p:spPr>
            <a:xfrm>
              <a:off x="1060704" y="4919472"/>
              <a:ext cx="2514600" cy="402336"/>
            </a:xfrm>
            <a:prstGeom prst="rect">
              <a:avLst/>
            </a:prstGeom>
            <a:noFill/>
          </p:spPr>
          <p:txBody>
            <a:bodyPr wrap="square" lIns="0" rIns="0" tIns="0" bIns="0" anchor="t">
              <a:spAutoFit/>
            </a:bodyPr>
            <a:lstStyle/>
            <a:p>
              <a:pPr algn="l">
                <a:lnSpc>
                  <a:spcPct val="98000"/>
                </a:lnSpc>
              </a:pPr>
              <a:r>
                <a:rPr sz="1000" b="0" i="0">
                  <a:solidFill>
                    <a:srgbClr val="0B1A5C"/>
                  </a:solidFill>
                  <a:latin typeface="Segoe UI Semibold"/>
                </a:rPr>
                <a:t>Evidence pipeline:</a:t>
              </a:r>
              <a:r>
                <a:rPr sz="1000" b="0" i="0">
                  <a:solidFill>
                    <a:srgbClr val="4B5563"/>
                  </a:solidFill>
                  <a:latin typeface="Segoe UI"/>
                </a:rPr>
                <a:t> two reads + OCR, Chronos-2 forecasts</a:t>
              </a:r>
            </a:p>
          </p:txBody>
        </p:sp>
        <p:pic>
          <p:nvPicPr>
            <p:cNvPr id="27" name="Picture 26" descr="CheckCircle2_green.png"/>
            <p:cNvPicPr>
              <a:picLocks noChangeAspect="1"/>
            </p:cNvPicPr>
            <p:nvPr/>
          </p:nvPicPr>
          <p:blipFill>
            <a:blip r:embed="rId4"/>
            <a:stretch>
              <a:fillRect/>
            </a:stretch>
          </p:blipFill>
          <p:spPr>
            <a:xfrm>
              <a:off x="786384" y="5362955"/>
              <a:ext cx="182880" cy="182880"/>
            </a:xfrm>
            <a:prstGeom prst="rect">
              <a:avLst/>
            </a:prstGeom>
          </p:spPr>
        </p:pic>
        <p:sp>
          <p:nvSpPr>
            <p:cNvPr id="28" name="TextBox 27"/>
            <p:cNvSpPr txBox="1"/>
            <p:nvPr/>
          </p:nvSpPr>
          <p:spPr>
            <a:xfrm>
              <a:off x="1060704" y="5349240"/>
              <a:ext cx="2514600" cy="402336"/>
            </a:xfrm>
            <a:prstGeom prst="rect">
              <a:avLst/>
            </a:prstGeom>
            <a:noFill/>
          </p:spPr>
          <p:txBody>
            <a:bodyPr wrap="square" lIns="0" rIns="0" tIns="0" bIns="0" anchor="t">
              <a:spAutoFit/>
            </a:bodyPr>
            <a:lstStyle/>
            <a:p>
              <a:pPr algn="l">
                <a:lnSpc>
                  <a:spcPct val="98000"/>
                </a:lnSpc>
              </a:pPr>
              <a:r>
                <a:rPr sz="1000" b="0" i="0">
                  <a:solidFill>
                    <a:srgbClr val="0B1A5C"/>
                  </a:solidFill>
                  <a:latin typeface="Segoe UI Semibold"/>
                </a:rPr>
                <a:t>Proof:</a:t>
              </a:r>
              <a:r>
                <a:rPr sz="1000" b="0" i="0">
                  <a:solidFill>
                    <a:srgbClr val="4B5563"/>
                  </a:solidFill>
                  <a:latin typeface="Segoe UI"/>
                </a:rPr>
                <a:t> 784 automated tests, red-team runs, real-store checks</a:t>
              </a:r>
            </a:p>
          </p:txBody>
        </p:sp>
      </p:grpSp>
      <p:grpSp>
        <p:nvGrpSpPr>
          <p:cNvPr id="36" name="realcard"/>
          <p:cNvGrpSpPr/>
          <p:nvPr/>
        </p:nvGrpSpPr>
        <p:grpSpPr>
          <a:xfrm>
            <a:off x="4023359" y="2029968"/>
            <a:ext cx="7635240" cy="3822191"/>
            <a:chOff x="4023359" y="2029968"/>
            <a:chExt cx="7635240" cy="3822191"/>
          </a:xfrm>
        </p:grpSpPr>
        <p:sp>
          <p:nvSpPr>
            <p:cNvPr id="30" name="Rounded Rectangle 29"/>
            <p:cNvSpPr/>
            <p:nvPr/>
          </p:nvSpPr>
          <p:spPr>
            <a:xfrm>
              <a:off x="4023359" y="2029968"/>
              <a:ext cx="7635240" cy="3822191"/>
            </a:xfrm>
            <a:prstGeom prst="roundRect">
              <a:avLst>
                <a:gd name="adj" fmla="val 4000"/>
              </a:avLst>
            </a:prstGeom>
            <a:solidFill>
              <a:srgbClr val="0B1A5C"/>
            </a:solidFill>
            <a:ln>
              <a:noFill/>
            </a:ln>
            <a:effectLst>
              <a:outerShdw blurRad="279400" dist="50800" dir="5400000" algn="t" rotWithShape="0">
                <a:srgbClr val="0B1A5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279392" y="2221992"/>
              <a:ext cx="5120640" cy="228600"/>
            </a:xfrm>
            <a:prstGeom prst="rect">
              <a:avLst/>
            </a:prstGeom>
            <a:noFill/>
          </p:spPr>
          <p:txBody>
            <a:bodyPr wrap="square" lIns="0" rIns="0" tIns="0" bIns="0" anchor="t">
              <a:spAutoFit/>
            </a:bodyPr>
            <a:lstStyle/>
            <a:p>
              <a:pPr algn="l"/>
              <a:r>
                <a:rPr sz="1000" b="0" i="0">
                  <a:solidFill>
                    <a:srgbClr val="F28A1A"/>
                  </a:solidFill>
                  <a:latin typeface="Segoe UI Semibold"/>
                </a:rPr>
                <a:t>REAL STORE CHECK · SAME PIPELINE AS THE PRODUCT</a:t>
              </a:r>
            </a:p>
          </p:txBody>
        </p:sp>
        <p:sp>
          <p:nvSpPr>
            <p:cNvPr id="32" name="Rounded Rectangle 31"/>
            <p:cNvSpPr/>
            <p:nvPr/>
          </p:nvSpPr>
          <p:spPr>
            <a:xfrm>
              <a:off x="9732755" y="2185416"/>
              <a:ext cx="1724676" cy="256032"/>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60771" y="2185416"/>
              <a:ext cx="1519851" cy="256032"/>
            </a:xfrm>
            <a:prstGeom prst="rect">
              <a:avLst/>
            </a:prstGeom>
            <a:noFill/>
          </p:spPr>
          <p:txBody>
            <a:bodyPr wrap="none" lIns="0" rIns="0" tIns="0" bIns="0" anchor="ctr">
              <a:spAutoFit/>
            </a:bodyPr>
            <a:lstStyle/>
            <a:p>
              <a:pPr algn="ctr"/>
              <a:r>
                <a:rPr sz="900" b="0" i="0">
                  <a:solidFill>
                    <a:srgbClr val="FFFFFF"/>
                  </a:solidFill>
                  <a:latin typeface="Segoe UI Semibold"/>
                </a:rPr>
                <a:t>Hand-verified · 10 Oct 2026</a:t>
              </a:r>
            </a:p>
          </p:txBody>
        </p:sp>
        <p:sp>
          <p:nvSpPr>
            <p:cNvPr id="34" name="TextBox 33"/>
            <p:cNvSpPr txBox="1"/>
            <p:nvPr/>
          </p:nvSpPr>
          <p:spPr>
            <a:xfrm>
              <a:off x="4279392" y="2487168"/>
              <a:ext cx="5486400" cy="329184"/>
            </a:xfrm>
            <a:prstGeom prst="rect">
              <a:avLst/>
            </a:prstGeom>
            <a:noFill/>
          </p:spPr>
          <p:txBody>
            <a:bodyPr wrap="square" lIns="0" rIns="0" tIns="0" bIns="0" anchor="t">
              <a:spAutoFit/>
            </a:bodyPr>
            <a:lstStyle/>
            <a:p>
              <a:pPr algn="l"/>
              <a:r>
                <a:rPr sz="1600" b="0" i="0">
                  <a:solidFill>
                    <a:srgbClr val="FFFFFF"/>
                  </a:solidFill>
                  <a:latin typeface="Segoe UI Semibold"/>
                </a:rPr>
                <a:t>Photos &amp; videos from real Indian stores</a:t>
              </a:r>
            </a:p>
          </p:txBody>
        </p:sp>
        <p:sp>
          <p:nvSpPr>
            <p:cNvPr id="35" name="TextBox 34"/>
            <p:cNvSpPr txBox="1"/>
            <p:nvPr/>
          </p:nvSpPr>
          <p:spPr>
            <a:xfrm>
              <a:off x="4279392" y="2852928"/>
              <a:ext cx="7123176" cy="339217"/>
            </a:xfrm>
            <a:prstGeom prst="rect">
              <a:avLst/>
            </a:prstGeom>
            <a:noFill/>
          </p:spPr>
          <p:txBody>
            <a:bodyPr wrap="square" lIns="0" rIns="0" tIns="0" bIns="0" anchor="t">
              <a:spAutoFit/>
            </a:bodyPr>
            <a:lstStyle/>
            <a:p>
              <a:pPr algn="l">
                <a:lnSpc>
                  <a:spcPct val="95000"/>
                </a:lnSpc>
              </a:pPr>
              <a:r>
                <a:rPr sz="1000" b="0" i="0">
                  <a:solidFill>
                    <a:srgbClr val="C7CCE8"/>
                  </a:solidFill>
                  <a:latin typeface="Segoe UI"/>
                </a:rPr>
                <a:t>19 real photos + 2 videos (12 keyframes) from a mall hypermarket, QSR menu boards, apparel and electronics displays, all sent over WhatsApp. Only values at 0.90 confidence or above are auto-accepted; the rest go to a person.</a:t>
              </a:r>
            </a:p>
          </p:txBody>
        </p:sp>
      </p:grpSp>
      <p:grpSp>
        <p:nvGrpSpPr>
          <p:cNvPr id="49" name="tiles"/>
          <p:cNvGrpSpPr/>
          <p:nvPr/>
        </p:nvGrpSpPr>
        <p:grpSpPr>
          <a:xfrm>
            <a:off x="4279392" y="3301873"/>
            <a:ext cx="7123176" cy="859536"/>
            <a:chOff x="4279392" y="3301873"/>
            <a:chExt cx="7123176" cy="859536"/>
          </a:xfrm>
        </p:grpSpPr>
        <p:sp>
          <p:nvSpPr>
            <p:cNvPr id="37" name="Rounded Rectangle 36"/>
            <p:cNvSpPr/>
            <p:nvPr/>
          </p:nvSpPr>
          <p:spPr>
            <a:xfrm>
              <a:off x="4279392" y="3301873"/>
              <a:ext cx="1698498" cy="859536"/>
            </a:xfrm>
            <a:prstGeom prst="roundRect">
              <a:avLst>
                <a:gd name="adj" fmla="val 8000"/>
              </a:avLst>
            </a:prstGeom>
            <a:solidFill>
              <a:srgbClr val="162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07407" y="3356737"/>
              <a:ext cx="1515618" cy="329184"/>
            </a:xfrm>
            <a:prstGeom prst="rect">
              <a:avLst/>
            </a:prstGeom>
            <a:noFill/>
          </p:spPr>
          <p:txBody>
            <a:bodyPr wrap="none" lIns="0" rIns="0" tIns="0" bIns="0" anchor="ctr">
              <a:spAutoFit/>
            </a:bodyPr>
            <a:lstStyle/>
            <a:p>
              <a:pPr algn="l"/>
              <a:r>
                <a:rPr sz="1900" b="0" i="0">
                  <a:solidFill>
                    <a:srgbClr val="F28A1A"/>
                  </a:solidFill>
                  <a:latin typeface="Segoe UI Black"/>
                </a:rPr>
                <a:t>91%</a:t>
              </a:r>
            </a:p>
          </p:txBody>
        </p:sp>
        <p:sp>
          <p:nvSpPr>
            <p:cNvPr id="39" name="TextBox 38"/>
            <p:cNvSpPr txBox="1"/>
            <p:nvPr/>
          </p:nvSpPr>
          <p:spPr>
            <a:xfrm>
              <a:off x="4407407" y="3695065"/>
              <a:ext cx="1479042" cy="429768"/>
            </a:xfrm>
            <a:prstGeom prst="rect">
              <a:avLst/>
            </a:prstGeom>
            <a:noFill/>
          </p:spPr>
          <p:txBody>
            <a:bodyPr wrap="square" lIns="0" rIns="0" tIns="0" bIns="0" anchor="t">
              <a:spAutoFit/>
            </a:bodyPr>
            <a:lstStyle/>
            <a:p>
              <a:pPr algn="l">
                <a:lnSpc>
                  <a:spcPct val="92000"/>
                </a:lnSpc>
              </a:pPr>
              <a:r>
                <a:rPr sz="850" b="0" i="0">
                  <a:solidFill>
                    <a:srgbClr val="FFFFFF"/>
                  </a:solidFill>
                  <a:latin typeface="Segoe UI"/>
                </a:rPr>
                <a:t>of auto-accepted fields correct — 20 of 22 hand-checkable fields</a:t>
              </a:r>
            </a:p>
          </p:txBody>
        </p:sp>
        <p:sp>
          <p:nvSpPr>
            <p:cNvPr id="40" name="Rounded Rectangle 39"/>
            <p:cNvSpPr/>
            <p:nvPr/>
          </p:nvSpPr>
          <p:spPr>
            <a:xfrm>
              <a:off x="6087618" y="3301873"/>
              <a:ext cx="1698498" cy="859536"/>
            </a:xfrm>
            <a:prstGeom prst="roundRect">
              <a:avLst>
                <a:gd name="adj" fmla="val 8000"/>
              </a:avLst>
            </a:prstGeom>
            <a:solidFill>
              <a:srgbClr val="162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215633" y="3356737"/>
              <a:ext cx="1515618" cy="329184"/>
            </a:xfrm>
            <a:prstGeom prst="rect">
              <a:avLst/>
            </a:prstGeom>
            <a:noFill/>
          </p:spPr>
          <p:txBody>
            <a:bodyPr wrap="none" lIns="0" rIns="0" tIns="0" bIns="0" anchor="ctr">
              <a:spAutoFit/>
            </a:bodyPr>
            <a:lstStyle/>
            <a:p>
              <a:pPr algn="l"/>
              <a:r>
                <a:rPr sz="1900" b="0" i="0">
                  <a:solidFill>
                    <a:srgbClr val="F28A1A"/>
                  </a:solidFill>
                  <a:latin typeface="Segoe UI Black"/>
                </a:rPr>
                <a:t>14 / 14</a:t>
              </a:r>
            </a:p>
          </p:txBody>
        </p:sp>
        <p:sp>
          <p:nvSpPr>
            <p:cNvPr id="42" name="TextBox 41"/>
            <p:cNvSpPr txBox="1"/>
            <p:nvPr/>
          </p:nvSpPr>
          <p:spPr>
            <a:xfrm>
              <a:off x="6215633" y="3695065"/>
              <a:ext cx="1479042" cy="429768"/>
            </a:xfrm>
            <a:prstGeom prst="rect">
              <a:avLst/>
            </a:prstGeom>
            <a:noFill/>
          </p:spPr>
          <p:txBody>
            <a:bodyPr wrap="square" lIns="0" rIns="0" tIns="0" bIns="0" anchor="t">
              <a:spAutoFit/>
            </a:bodyPr>
            <a:lstStyle/>
            <a:p>
              <a:pPr algn="l">
                <a:lnSpc>
                  <a:spcPct val="92000"/>
                </a:lnSpc>
              </a:pPr>
              <a:r>
                <a:rPr sz="850" b="0" i="0">
                  <a:solidFill>
                    <a:srgbClr val="FFFFFF"/>
                  </a:solidFill>
                  <a:latin typeface="Segoe UI"/>
                </a:rPr>
                <a:t>offer prices correct</a:t>
              </a:r>
            </a:p>
          </p:txBody>
        </p:sp>
        <p:sp>
          <p:nvSpPr>
            <p:cNvPr id="43" name="Rounded Rectangle 42"/>
            <p:cNvSpPr/>
            <p:nvPr/>
          </p:nvSpPr>
          <p:spPr>
            <a:xfrm>
              <a:off x="7895844" y="3301873"/>
              <a:ext cx="1698498" cy="859536"/>
            </a:xfrm>
            <a:prstGeom prst="roundRect">
              <a:avLst>
                <a:gd name="adj" fmla="val 8000"/>
              </a:avLst>
            </a:prstGeom>
            <a:solidFill>
              <a:srgbClr val="162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023860" y="3356737"/>
              <a:ext cx="1515618" cy="329184"/>
            </a:xfrm>
            <a:prstGeom prst="rect">
              <a:avLst/>
            </a:prstGeom>
            <a:noFill/>
          </p:spPr>
          <p:txBody>
            <a:bodyPr wrap="none" lIns="0" rIns="0" tIns="0" bIns="0" anchor="ctr">
              <a:spAutoFit/>
            </a:bodyPr>
            <a:lstStyle/>
            <a:p>
              <a:pPr algn="l"/>
              <a:r>
                <a:rPr sz="1400" b="0" i="0">
                  <a:solidFill>
                    <a:srgbClr val="C7CCE8"/>
                  </a:solidFill>
                  <a:latin typeface="Segoe UI Black"/>
                </a:rPr>
                <a:t>80%</a:t>
              </a:r>
              <a:r>
                <a:rPr sz="1400" b="0" i="0">
                  <a:solidFill>
                    <a:srgbClr val="C7CCE8"/>
                  </a:solidFill>
                  <a:latin typeface="Segoe UI Black"/>
                </a:rPr>
                <a:t> → </a:t>
              </a:r>
              <a:r>
                <a:rPr sz="1900" b="0" i="0">
                  <a:solidFill>
                    <a:srgbClr val="F28A1A"/>
                  </a:solidFill>
                  <a:latin typeface="Segoe UI Black"/>
                </a:rPr>
                <a:t>91%</a:t>
              </a:r>
            </a:p>
          </p:txBody>
        </p:sp>
        <p:sp>
          <p:nvSpPr>
            <p:cNvPr id="45" name="TextBox 44"/>
            <p:cNvSpPr txBox="1"/>
            <p:nvPr/>
          </p:nvSpPr>
          <p:spPr>
            <a:xfrm>
              <a:off x="8023860" y="3695065"/>
              <a:ext cx="1479042" cy="429768"/>
            </a:xfrm>
            <a:prstGeom prst="rect">
              <a:avLst/>
            </a:prstGeom>
            <a:noFill/>
          </p:spPr>
          <p:txBody>
            <a:bodyPr wrap="square" lIns="0" rIns="0" tIns="0" bIns="0" anchor="t">
              <a:spAutoFit/>
            </a:bodyPr>
            <a:lstStyle/>
            <a:p>
              <a:pPr algn="l">
                <a:lnSpc>
                  <a:spcPct val="92000"/>
                </a:lnSpc>
              </a:pPr>
              <a:r>
                <a:rPr sz="850" b="0" i="0">
                  <a:solidFill>
                    <a:srgbClr val="FFFFFF"/>
                  </a:solidFill>
                  <a:latin typeface="Segoe UI"/>
                </a:rPr>
                <a:t>after a consistency check these photos taught us</a:t>
              </a:r>
            </a:p>
          </p:txBody>
        </p:sp>
        <p:sp>
          <p:nvSpPr>
            <p:cNvPr id="46" name="Rounded Rectangle 45"/>
            <p:cNvSpPr/>
            <p:nvPr/>
          </p:nvSpPr>
          <p:spPr>
            <a:xfrm>
              <a:off x="9704070" y="3301873"/>
              <a:ext cx="1698498" cy="859536"/>
            </a:xfrm>
            <a:prstGeom prst="roundRect">
              <a:avLst>
                <a:gd name="adj" fmla="val 8000"/>
              </a:avLst>
            </a:prstGeom>
            <a:solidFill>
              <a:srgbClr val="162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832086" y="3356737"/>
              <a:ext cx="1515618" cy="329184"/>
            </a:xfrm>
            <a:prstGeom prst="rect">
              <a:avLst/>
            </a:prstGeom>
            <a:noFill/>
          </p:spPr>
          <p:txBody>
            <a:bodyPr wrap="none" lIns="0" rIns="0" tIns="0" bIns="0" anchor="ctr">
              <a:spAutoFit/>
            </a:bodyPr>
            <a:lstStyle/>
            <a:p>
              <a:pPr algn="l"/>
              <a:r>
                <a:rPr sz="1900" b="0" i="0">
                  <a:solidFill>
                    <a:srgbClr val="F28A1A"/>
                  </a:solidFill>
                  <a:latin typeface="Segoe UI Black"/>
                </a:rPr>
                <a:t>$0.09</a:t>
              </a:r>
            </a:p>
          </p:txBody>
        </p:sp>
        <p:sp>
          <p:nvSpPr>
            <p:cNvPr id="48" name="TextBox 47"/>
            <p:cNvSpPr txBox="1"/>
            <p:nvPr/>
          </p:nvSpPr>
          <p:spPr>
            <a:xfrm>
              <a:off x="9832086" y="3695065"/>
              <a:ext cx="1479042" cy="429768"/>
            </a:xfrm>
            <a:prstGeom prst="rect">
              <a:avLst/>
            </a:prstGeom>
            <a:noFill/>
          </p:spPr>
          <p:txBody>
            <a:bodyPr wrap="square" lIns="0" rIns="0" tIns="0" bIns="0" anchor="t">
              <a:spAutoFit/>
            </a:bodyPr>
            <a:lstStyle/>
            <a:p>
              <a:pPr algn="l">
                <a:lnSpc>
                  <a:spcPct val="92000"/>
                </a:lnSpc>
              </a:pPr>
              <a:r>
                <a:rPr sz="850" b="0" i="0">
                  <a:solidFill>
                    <a:srgbClr val="FFFFFF"/>
                  </a:solidFill>
                  <a:latin typeface="Segoe UI"/>
                </a:rPr>
                <a:t>model cost for all 31 inputs · 22 with prices · 45 extra items read</a:t>
              </a:r>
            </a:p>
          </p:txBody>
        </p:sp>
      </p:grpSp>
      <p:grpSp>
        <p:nvGrpSpPr>
          <p:cNvPr id="56" name="photos"/>
          <p:cNvGrpSpPr/>
          <p:nvPr/>
        </p:nvGrpSpPr>
        <p:grpSpPr>
          <a:xfrm>
            <a:off x="4279392" y="4289425"/>
            <a:ext cx="7123176" cy="1434719"/>
            <a:chOff x="4279392" y="4289425"/>
            <a:chExt cx="7123176" cy="1434719"/>
          </a:xfrm>
        </p:grpSpPr>
        <p:pic>
          <p:nvPicPr>
            <p:cNvPr id="50" name="Picture 49" descr="IMG-20261009-WA0025.jpg"/>
            <p:cNvPicPr>
              <a:picLocks noChangeAspect="1"/>
            </p:cNvPicPr>
            <p:nvPr/>
          </p:nvPicPr>
          <p:blipFill>
            <a:blip r:embed="rId5"/>
            <a:srcRect l="25400" r="17400" t="43110" b="36110"/>
            <a:stretch>
              <a:fillRect/>
            </a:stretch>
          </p:blipFill>
          <p:spPr>
            <a:xfrm>
              <a:off x="4279392" y="4289425"/>
              <a:ext cx="2301240" cy="1114679"/>
            </a:xfrm>
            <a:prstGeom prst="rect">
              <a:avLst/>
            </a:prstGeom>
            <a:ln w="25400">
              <a:solidFill>
                <a:srgbClr val="FFFFFF"/>
              </a:solidFill>
            </a:ln>
          </p:spPr>
        </p:pic>
        <p:sp>
          <p:nvSpPr>
            <p:cNvPr id="51" name="TextBox 50"/>
            <p:cNvSpPr txBox="1"/>
            <p:nvPr/>
          </p:nvSpPr>
          <p:spPr>
            <a:xfrm>
              <a:off x="4279392" y="5449824"/>
              <a:ext cx="2301240" cy="274320"/>
            </a:xfrm>
            <a:prstGeom prst="rect">
              <a:avLst/>
            </a:prstGeom>
            <a:noFill/>
          </p:spPr>
          <p:txBody>
            <a:bodyPr wrap="square" lIns="0" rIns="0" tIns="0" bIns="0" anchor="t">
              <a:spAutoFit/>
            </a:bodyPr>
            <a:lstStyle/>
            <a:p>
              <a:pPr algn="ctr">
                <a:lnSpc>
                  <a:spcPct val="95000"/>
                </a:lnSpc>
              </a:pPr>
              <a:r>
                <a:rPr sz="850" b="0" i="0">
                  <a:solidFill>
                    <a:srgbClr val="C7CCE8"/>
                  </a:solidFill>
                  <a:latin typeface="Segoe UI"/>
                </a:rPr>
                <a:t>Super Sarvottam Rice Bran Oil 13 kg: MRP ₹2,929 → ₹2,199</a:t>
              </a:r>
            </a:p>
          </p:txBody>
        </p:sp>
        <p:pic>
          <p:nvPicPr>
            <p:cNvPr id="52" name="Picture 51" descr="IMG-20261009-WA0034.jpg"/>
            <p:cNvPicPr>
              <a:picLocks noChangeAspect="1"/>
            </p:cNvPicPr>
            <p:nvPr/>
          </p:nvPicPr>
          <p:blipFill>
            <a:blip r:embed="rId6"/>
            <a:srcRect l="33386" t="28900" b="46900"/>
            <a:stretch>
              <a:fillRect/>
            </a:stretch>
          </p:blipFill>
          <p:spPr>
            <a:xfrm>
              <a:off x="6690360" y="4289425"/>
              <a:ext cx="2301240" cy="1114679"/>
            </a:xfrm>
            <a:prstGeom prst="rect">
              <a:avLst/>
            </a:prstGeom>
            <a:ln w="25400">
              <a:solidFill>
                <a:srgbClr val="FFFFFF"/>
              </a:solidFill>
            </a:ln>
          </p:spPr>
        </p:pic>
        <p:sp>
          <p:nvSpPr>
            <p:cNvPr id="53" name="TextBox 52"/>
            <p:cNvSpPr txBox="1"/>
            <p:nvPr/>
          </p:nvSpPr>
          <p:spPr>
            <a:xfrm>
              <a:off x="6690360" y="5449824"/>
              <a:ext cx="2301240" cy="274320"/>
            </a:xfrm>
            <a:prstGeom prst="rect">
              <a:avLst/>
            </a:prstGeom>
            <a:noFill/>
          </p:spPr>
          <p:txBody>
            <a:bodyPr wrap="square" lIns="0" rIns="0" tIns="0" bIns="0" anchor="t">
              <a:spAutoFit/>
            </a:bodyPr>
            <a:lstStyle/>
            <a:p>
              <a:pPr algn="ctr">
                <a:lnSpc>
                  <a:spcPct val="95000"/>
                </a:lnSpc>
              </a:pPr>
              <a:r>
                <a:rPr sz="850" b="0" i="0">
                  <a:solidFill>
                    <a:srgbClr val="C7CCE8"/>
                  </a:solidFill>
                  <a:latin typeface="Segoe UI"/>
                </a:rPr>
                <a:t>KFC Krisper Meal ₹237 → ₹99</a:t>
              </a:r>
            </a:p>
          </p:txBody>
        </p:sp>
        <p:pic>
          <p:nvPicPr>
            <p:cNvPr id="54" name="Picture 53" descr="IMG-20261009-WA0035.jpg"/>
            <p:cNvPicPr>
              <a:picLocks noChangeAspect="1"/>
            </p:cNvPicPr>
            <p:nvPr/>
          </p:nvPicPr>
          <p:blipFill>
            <a:blip r:embed="rId7"/>
            <a:srcRect r="33386" t="42900" b="32900"/>
            <a:stretch>
              <a:fillRect/>
            </a:stretch>
          </p:blipFill>
          <p:spPr>
            <a:xfrm>
              <a:off x="9101328" y="4289425"/>
              <a:ext cx="2301240" cy="1114679"/>
            </a:xfrm>
            <a:prstGeom prst="rect">
              <a:avLst/>
            </a:prstGeom>
            <a:ln w="25400">
              <a:solidFill>
                <a:srgbClr val="FFFFFF"/>
              </a:solidFill>
            </a:ln>
          </p:spPr>
        </p:pic>
        <p:sp>
          <p:nvSpPr>
            <p:cNvPr id="55" name="TextBox 54"/>
            <p:cNvSpPr txBox="1"/>
            <p:nvPr/>
          </p:nvSpPr>
          <p:spPr>
            <a:xfrm>
              <a:off x="9101328" y="5449824"/>
              <a:ext cx="2301240" cy="274320"/>
            </a:xfrm>
            <a:prstGeom prst="rect">
              <a:avLst/>
            </a:prstGeom>
            <a:noFill/>
          </p:spPr>
          <p:txBody>
            <a:bodyPr wrap="square" lIns="0" rIns="0" tIns="0" bIns="0" anchor="t">
              <a:spAutoFit/>
            </a:bodyPr>
            <a:lstStyle/>
            <a:p>
              <a:pPr algn="ctr">
                <a:lnSpc>
                  <a:spcPct val="95000"/>
                </a:lnSpc>
              </a:pPr>
              <a:r>
                <a:rPr sz="850" b="0" i="0">
                  <a:solidFill>
                    <a:srgbClr val="F28A1A"/>
                  </a:solidFill>
                  <a:latin typeface="Segoe UI Semibold"/>
                </a:rPr>
                <a:t>Caught by review: </a:t>
              </a:r>
              <a:r>
                <a:rPr sz="850" b="0" i="0">
                  <a:solidFill>
                    <a:srgbClr val="C7CCE8"/>
                  </a:solidFill>
                  <a:latin typeface="Segoe UI"/>
                </a:rPr>
                <a:t>“33% off” read as ₹333, sent to a person</a:t>
              </a:r>
            </a:p>
          </p:txBody>
        </p:sp>
      </p:grpSp>
      <p:grpSp>
        <p:nvGrpSpPr>
          <p:cNvPr id="59" name="proofline"/>
          <p:cNvGrpSpPr/>
          <p:nvPr/>
        </p:nvGrpSpPr>
        <p:grpSpPr>
          <a:xfrm>
            <a:off x="548640" y="5943600"/>
            <a:ext cx="11109960" cy="329184"/>
            <a:chOff x="548640" y="5943600"/>
            <a:chExt cx="11109960" cy="329184"/>
          </a:xfrm>
        </p:grpSpPr>
        <p:pic>
          <p:nvPicPr>
            <p:cNvPr id="57" name="Picture 56" descr="ShieldCheck_green.png"/>
            <p:cNvPicPr>
              <a:picLocks noChangeAspect="1"/>
            </p:cNvPicPr>
            <p:nvPr/>
          </p:nvPicPr>
          <p:blipFill>
            <a:blip r:embed="rId8"/>
            <a:stretch>
              <a:fillRect/>
            </a:stretch>
          </p:blipFill>
          <p:spPr>
            <a:xfrm>
              <a:off x="548640" y="5971032"/>
              <a:ext cx="201168" cy="201168"/>
            </a:xfrm>
            <a:prstGeom prst="rect">
              <a:avLst/>
            </a:prstGeom>
          </p:spPr>
        </p:pic>
        <p:sp>
          <p:nvSpPr>
            <p:cNvPr id="58" name="TextBox 57"/>
            <p:cNvSpPr txBox="1"/>
            <p:nvPr/>
          </p:nvSpPr>
          <p:spPr>
            <a:xfrm>
              <a:off x="822960" y="5943600"/>
              <a:ext cx="10835640" cy="329184"/>
            </a:xfrm>
            <a:prstGeom prst="rect">
              <a:avLst/>
            </a:prstGeom>
            <a:noFill/>
          </p:spPr>
          <p:txBody>
            <a:bodyPr wrap="square" lIns="0" rIns="0" tIns="0" bIns="0" anchor="t">
              <a:spAutoFit/>
            </a:bodyPr>
            <a:lstStyle/>
            <a:p>
              <a:pPr algn="l">
                <a:lnSpc>
                  <a:spcPct val="98000"/>
                </a:lnSpc>
              </a:pPr>
              <a:r>
                <a:rPr sz="1000" b="0" i="0">
                  <a:solidFill>
                    <a:srgbClr val="138808"/>
                  </a:solidFill>
                  <a:latin typeface="Segoe UI Semibold"/>
                </a:rPr>
                <a:t>Labelled test set, live re-run (61 files): 100% of auto-accepted fields correct on all 6 input types — shelf-tag photos, festival flyers, quick-commerce screenshots, WhatsApp scheme images, text-PDF and scanned price lists (slide 9).</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600"/>
                                        <p:tgtEl>
                                          <p:spTgt spid="29"/>
                                        </p:tgtEl>
                                      </p:cBhvr>
                                    </p:animEffect>
                                    <p:anim calcmode="lin" valueType="num">
                                      <p:cBhvr>
                                        <p:cTn id="8" dur="600" fill="hold"/>
                                        <p:tgtEl>
                                          <p:spTgt spid="29"/>
                                        </p:tgtEl>
                                        <p:attrNameLst>
                                          <p:attrName>ppt_x</p:attrName>
                                        </p:attrNameLst>
                                      </p:cBhvr>
                                      <p:tavLst>
                                        <p:tav tm="0">
                                          <p:val>
                                            <p:strVal val="#ppt_x"/>
                                          </p:val>
                                        </p:tav>
                                        <p:tav tm="100000">
                                          <p:val>
                                            <p:strVal val="#ppt_x"/>
                                          </p:val>
                                        </p:tav>
                                      </p:tavLst>
                                    </p:anim>
                                    <p:anim calcmode="lin" valueType="num">
                                      <p:cBhvr>
                                        <p:cTn id="9" dur="600" decel="100000" fill="hold"/>
                                        <p:tgtEl>
                                          <p:spTgt spid="29"/>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600"/>
                                        <p:tgtEl>
                                          <p:spTgt spid="36"/>
                                        </p:tgtEl>
                                      </p:cBhvr>
                                    </p:animEffect>
                                    <p:anim calcmode="lin" valueType="num">
                                      <p:cBhvr>
                                        <p:cTn id="14" dur="600" fill="hold"/>
                                        <p:tgtEl>
                                          <p:spTgt spid="36"/>
                                        </p:tgtEl>
                                        <p:attrNameLst>
                                          <p:attrName>ppt_x</p:attrName>
                                        </p:attrNameLst>
                                      </p:cBhvr>
                                      <p:tavLst>
                                        <p:tav tm="0">
                                          <p:val>
                                            <p:strVal val="#ppt_x"/>
                                          </p:val>
                                        </p:tav>
                                        <p:tav tm="100000">
                                          <p:val>
                                            <p:strVal val="#ppt_x"/>
                                          </p:val>
                                        </p:tav>
                                      </p:tavLst>
                                    </p:anim>
                                    <p:anim calcmode="lin" valueType="num">
                                      <p:cBhvr>
                                        <p:cTn id="15" dur="600" decel="100000" fill="hold"/>
                                        <p:tgtEl>
                                          <p:spTgt spid="36"/>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600"/>
                                        <p:tgtEl>
                                          <p:spTgt spid="49"/>
                                        </p:tgtEl>
                                      </p:cBhvr>
                                    </p:animEffect>
                                    <p:anim calcmode="lin" valueType="num">
                                      <p:cBhvr>
                                        <p:cTn id="20" dur="600" fill="hold"/>
                                        <p:tgtEl>
                                          <p:spTgt spid="49"/>
                                        </p:tgtEl>
                                        <p:attrNameLst>
                                          <p:attrName>ppt_x</p:attrName>
                                        </p:attrNameLst>
                                      </p:cBhvr>
                                      <p:tavLst>
                                        <p:tav tm="0">
                                          <p:val>
                                            <p:strVal val="#ppt_x"/>
                                          </p:val>
                                        </p:tav>
                                        <p:tav tm="100000">
                                          <p:val>
                                            <p:strVal val="#ppt_x"/>
                                          </p:val>
                                        </p:tav>
                                      </p:tavLst>
                                    </p:anim>
                                    <p:anim calcmode="lin" valueType="num">
                                      <p:cBhvr>
                                        <p:cTn id="21" dur="600" decel="100000" fill="hold"/>
                                        <p:tgtEl>
                                          <p:spTgt spid="49"/>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600"/>
                                        <p:tgtEl>
                                          <p:spTgt spid="56"/>
                                        </p:tgtEl>
                                      </p:cBhvr>
                                    </p:animEffect>
                                    <p:anim calcmode="lin" valueType="num">
                                      <p:cBhvr>
                                        <p:cTn id="26" dur="600" fill="hold"/>
                                        <p:tgtEl>
                                          <p:spTgt spid="56"/>
                                        </p:tgtEl>
                                        <p:attrNameLst>
                                          <p:attrName>ppt_x</p:attrName>
                                        </p:attrNameLst>
                                      </p:cBhvr>
                                      <p:tavLst>
                                        <p:tav tm="0">
                                          <p:val>
                                            <p:strVal val="#ppt_x"/>
                                          </p:val>
                                        </p:tav>
                                        <p:tav tm="100000">
                                          <p:val>
                                            <p:strVal val="#ppt_x"/>
                                          </p:val>
                                        </p:tav>
                                      </p:tavLst>
                                    </p:anim>
                                    <p:anim calcmode="lin" valueType="num">
                                      <p:cBhvr>
                                        <p:cTn id="27" dur="600" decel="100000" fill="hold"/>
                                        <p:tgtEl>
                                          <p:spTgt spid="56"/>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600"/>
                                        <p:tgtEl>
                                          <p:spTgt spid="59"/>
                                        </p:tgtEl>
                                      </p:cBhvr>
                                    </p:animEffect>
                                    <p:anim calcmode="lin" valueType="num">
                                      <p:cBhvr>
                                        <p:cTn id="32" dur="600" fill="hold"/>
                                        <p:tgtEl>
                                          <p:spTgt spid="59"/>
                                        </p:tgtEl>
                                        <p:attrNameLst>
                                          <p:attrName>ppt_x</p:attrName>
                                        </p:attrNameLst>
                                      </p:cBhvr>
                                      <p:tavLst>
                                        <p:tav tm="0">
                                          <p:val>
                                            <p:strVal val="#ppt_x"/>
                                          </p:val>
                                        </p:tav>
                                        <p:tav tm="100000">
                                          <p:val>
                                            <p:strVal val="#ppt_x"/>
                                          </p:val>
                                        </p:tav>
                                      </p:tavLst>
                                    </p:anim>
                                    <p:anim calcmode="lin" valueType="num">
                                      <p:cBhvr>
                                        <p:cTn id="33" dur="600" decel="100000" fill="hold"/>
                                        <p:tgtEl>
                                          <p:spTgt spid="5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03</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lertTriangle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Problem statement</a:t>
            </a:r>
          </a:p>
        </p:txBody>
      </p:sp>
      <p:sp>
        <p:nvSpPr>
          <p:cNvPr id="11" name="TextBox 10"/>
          <p:cNvSpPr txBox="1"/>
          <p:nvPr/>
        </p:nvSpPr>
        <p:spPr>
          <a:xfrm>
            <a:off x="548640" y="850392"/>
            <a:ext cx="11384280" cy="114300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Festivals decide the year —</a:t>
            </a:r>
            <a:br/>
            <a:r>
              <a:rPr sz="3600" b="0" i="0">
                <a:solidFill>
                  <a:srgbClr val="0B1A5C"/>
                </a:solidFill>
                <a:latin typeface="Segoe UI Black"/>
              </a:rPr>
              <a:t>and most promotions </a:t>
            </a:r>
            <a:r>
              <a:rPr sz="3600" b="0" i="0">
                <a:solidFill>
                  <a:srgbClr val="E03A3A"/>
                </a:solidFill>
                <a:latin typeface="Segoe UI Black"/>
              </a:rPr>
              <a:t>lose money</a:t>
            </a:r>
          </a:p>
        </p:txBody>
      </p:sp>
      <p:grpSp>
        <p:nvGrpSpPr>
          <p:cNvPr id="17" name="stat0"/>
          <p:cNvGrpSpPr/>
          <p:nvPr/>
        </p:nvGrpSpPr>
        <p:grpSpPr>
          <a:xfrm>
            <a:off x="548640" y="2029968"/>
            <a:ext cx="2606040" cy="1344168"/>
            <a:chOff x="548640" y="2029968"/>
            <a:chExt cx="2606040" cy="1344168"/>
          </a:xfrm>
        </p:grpSpPr>
        <p:sp>
          <p:nvSpPr>
            <p:cNvPr id="12" name="Rounded Rectangle 11"/>
            <p:cNvSpPr/>
            <p:nvPr/>
          </p:nvSpPr>
          <p:spPr>
            <a:xfrm>
              <a:off x="548640" y="2029968"/>
              <a:ext cx="2606040" cy="1344168"/>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029968"/>
              <a:ext cx="2606040" cy="54864"/>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2157984"/>
              <a:ext cx="2286000" cy="457200"/>
            </a:xfrm>
            <a:prstGeom prst="rect">
              <a:avLst/>
            </a:prstGeom>
            <a:noFill/>
          </p:spPr>
          <p:txBody>
            <a:bodyPr wrap="square" lIns="0" rIns="0" tIns="0" bIns="0" anchor="t">
              <a:spAutoFit/>
            </a:bodyPr>
            <a:lstStyle/>
            <a:p>
              <a:pPr algn="l"/>
              <a:r>
                <a:rPr sz="2800" b="0" i="0">
                  <a:solidFill>
                    <a:srgbClr val="F28A1A"/>
                  </a:solidFill>
                  <a:latin typeface="Segoe UI Black"/>
                </a:rPr>
                <a:t>₹6.05</a:t>
              </a:r>
              <a:r>
                <a:rPr sz="1600" b="0" i="0">
                  <a:solidFill>
                    <a:srgbClr val="F28A1A"/>
                  </a:solidFill>
                  <a:latin typeface="Segoe UI Black"/>
                </a:rPr>
                <a:t> lakh cr</a:t>
              </a:r>
            </a:p>
          </p:txBody>
        </p:sp>
        <p:sp>
          <p:nvSpPr>
            <p:cNvPr id="15" name="TextBox 14"/>
            <p:cNvSpPr txBox="1"/>
            <p:nvPr/>
          </p:nvSpPr>
          <p:spPr>
            <a:xfrm>
              <a:off x="768096" y="2615184"/>
              <a:ext cx="2212848" cy="512064"/>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Diwali 2025 trade, +25% on 2024 · 85% of it through traditional retail</a:t>
              </a:r>
            </a:p>
          </p:txBody>
        </p:sp>
        <p:sp>
          <p:nvSpPr>
            <p:cNvPr id="16" name="TextBox 15"/>
            <p:cNvSpPr txBox="1"/>
            <p:nvPr/>
          </p:nvSpPr>
          <p:spPr>
            <a:xfrm>
              <a:off x="768096" y="3127248"/>
              <a:ext cx="2286000" cy="182880"/>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 CAIT, Oct 2025</a:t>
              </a:r>
            </a:p>
          </p:txBody>
        </p:sp>
      </p:grpSp>
      <p:grpSp>
        <p:nvGrpSpPr>
          <p:cNvPr id="23" name="stat1"/>
          <p:cNvGrpSpPr/>
          <p:nvPr/>
        </p:nvGrpSpPr>
        <p:grpSpPr>
          <a:xfrm>
            <a:off x="3383280" y="2029968"/>
            <a:ext cx="2606040" cy="1344168"/>
            <a:chOff x="3383280" y="2029968"/>
            <a:chExt cx="2606040" cy="1344168"/>
          </a:xfrm>
        </p:grpSpPr>
        <p:sp>
          <p:nvSpPr>
            <p:cNvPr id="18" name="Rounded Rectangle 17"/>
            <p:cNvSpPr/>
            <p:nvPr/>
          </p:nvSpPr>
          <p:spPr>
            <a:xfrm>
              <a:off x="3383280" y="2029968"/>
              <a:ext cx="2606040" cy="1344168"/>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83280" y="2029968"/>
              <a:ext cx="2606040" cy="54864"/>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02736" y="2157984"/>
              <a:ext cx="2286000" cy="457200"/>
            </a:xfrm>
            <a:prstGeom prst="rect">
              <a:avLst/>
            </a:prstGeom>
            <a:noFill/>
          </p:spPr>
          <p:txBody>
            <a:bodyPr wrap="square" lIns="0" rIns="0" tIns="0" bIns="0" anchor="t">
              <a:spAutoFit/>
            </a:bodyPr>
            <a:lstStyle/>
            <a:p>
              <a:pPr algn="l"/>
              <a:r>
                <a:rPr sz="2800" b="0" i="0">
                  <a:solidFill>
                    <a:srgbClr val="0B1A5C"/>
                  </a:solidFill>
                  <a:latin typeface="Segoe UI Black"/>
                </a:rPr>
                <a:t>~91%</a:t>
              </a:r>
              <a:r>
                <a:rPr sz="1600" b="0" i="0">
                  <a:solidFill>
                    <a:srgbClr val="0B1A5C"/>
                  </a:solidFill>
                  <a:latin typeface="Segoe UI Black"/>
                </a:rPr>
                <a:t/>
              </a:r>
            </a:p>
          </p:txBody>
        </p:sp>
        <p:sp>
          <p:nvSpPr>
            <p:cNvPr id="21" name="TextBox 20"/>
            <p:cNvSpPr txBox="1"/>
            <p:nvPr/>
          </p:nvSpPr>
          <p:spPr>
            <a:xfrm>
              <a:off x="3602736" y="2615184"/>
              <a:ext cx="2212848" cy="512064"/>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of India's US$658 bn grocery market is sold through 12–13 million kiranas</a:t>
              </a:r>
            </a:p>
          </p:txBody>
        </p:sp>
        <p:sp>
          <p:nvSpPr>
            <p:cNvPr id="22" name="TextBox 21"/>
            <p:cNvSpPr txBox="1"/>
            <p:nvPr/>
          </p:nvSpPr>
          <p:spPr>
            <a:xfrm>
              <a:off x="3602736" y="3127248"/>
              <a:ext cx="2286000" cy="182880"/>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 Redseer, 2026 · Invest India</a:t>
              </a:r>
            </a:p>
          </p:txBody>
        </p:sp>
      </p:grpSp>
      <p:grpSp>
        <p:nvGrpSpPr>
          <p:cNvPr id="29" name="stat2"/>
          <p:cNvGrpSpPr/>
          <p:nvPr/>
        </p:nvGrpSpPr>
        <p:grpSpPr>
          <a:xfrm>
            <a:off x="6217920" y="2029968"/>
            <a:ext cx="2606040" cy="1344168"/>
            <a:chOff x="6217920" y="2029968"/>
            <a:chExt cx="2606040" cy="1344168"/>
          </a:xfrm>
        </p:grpSpPr>
        <p:sp>
          <p:nvSpPr>
            <p:cNvPr id="24" name="Rounded Rectangle 23"/>
            <p:cNvSpPr/>
            <p:nvPr/>
          </p:nvSpPr>
          <p:spPr>
            <a:xfrm>
              <a:off x="6217920" y="2029968"/>
              <a:ext cx="2606040" cy="1344168"/>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17920" y="2029968"/>
              <a:ext cx="2606040" cy="54864"/>
            </a:xfrm>
            <a:prstGeom prst="rect">
              <a:avLst/>
            </a:prstGeom>
            <a:solidFill>
              <a:srgbClr val="E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37376" y="2157984"/>
              <a:ext cx="2286000" cy="457200"/>
            </a:xfrm>
            <a:prstGeom prst="rect">
              <a:avLst/>
            </a:prstGeom>
            <a:noFill/>
          </p:spPr>
          <p:txBody>
            <a:bodyPr wrap="square" lIns="0" rIns="0" tIns="0" bIns="0" anchor="t">
              <a:spAutoFit/>
            </a:bodyPr>
            <a:lstStyle/>
            <a:p>
              <a:pPr algn="l"/>
              <a:r>
                <a:rPr sz="2800" b="0" i="0">
                  <a:solidFill>
                    <a:srgbClr val="E03A3A"/>
                  </a:solidFill>
                  <a:latin typeface="Segoe UI Black"/>
                </a:rPr>
                <a:t>59%</a:t>
              </a:r>
              <a:r>
                <a:rPr sz="1600" b="0" i="0">
                  <a:solidFill>
                    <a:srgbClr val="E03A3A"/>
                  </a:solidFill>
                  <a:latin typeface="Segoe UI Black"/>
                </a:rPr>
                <a:t/>
              </a:r>
            </a:p>
          </p:txBody>
        </p:sp>
        <p:sp>
          <p:nvSpPr>
            <p:cNvPr id="27" name="TextBox 26"/>
            <p:cNvSpPr txBox="1"/>
            <p:nvPr/>
          </p:nvSpPr>
          <p:spPr>
            <a:xfrm>
              <a:off x="6437376" y="2615184"/>
              <a:ext cx="2212848" cy="512064"/>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of trade promotions lose money (72% in the US)</a:t>
              </a:r>
            </a:p>
          </p:txBody>
        </p:sp>
        <p:sp>
          <p:nvSpPr>
            <p:cNvPr id="28" name="TextBox 27"/>
            <p:cNvSpPr txBox="1"/>
            <p:nvPr/>
          </p:nvSpPr>
          <p:spPr>
            <a:xfrm>
              <a:off x="6437376" y="3127248"/>
              <a:ext cx="2286000" cy="182880"/>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 McKinsey, 2019 (citing Nielsen)</a:t>
              </a:r>
            </a:p>
          </p:txBody>
        </p:sp>
      </p:grpSp>
      <p:grpSp>
        <p:nvGrpSpPr>
          <p:cNvPr id="35" name="stat3"/>
          <p:cNvGrpSpPr/>
          <p:nvPr/>
        </p:nvGrpSpPr>
        <p:grpSpPr>
          <a:xfrm>
            <a:off x="9052560" y="2029968"/>
            <a:ext cx="2606040" cy="1344168"/>
            <a:chOff x="9052560" y="2029968"/>
            <a:chExt cx="2606040" cy="1344168"/>
          </a:xfrm>
        </p:grpSpPr>
        <p:sp>
          <p:nvSpPr>
            <p:cNvPr id="30" name="Rounded Rectangle 29"/>
            <p:cNvSpPr/>
            <p:nvPr/>
          </p:nvSpPr>
          <p:spPr>
            <a:xfrm>
              <a:off x="9052560" y="2029968"/>
              <a:ext cx="2606040" cy="1344168"/>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052560" y="2029968"/>
              <a:ext cx="2606040" cy="54864"/>
            </a:xfrm>
            <a:prstGeom prst="rect">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72016" y="2157984"/>
              <a:ext cx="2286000" cy="457200"/>
            </a:xfrm>
            <a:prstGeom prst="rect">
              <a:avLst/>
            </a:prstGeom>
            <a:noFill/>
          </p:spPr>
          <p:txBody>
            <a:bodyPr wrap="square" lIns="0" rIns="0" tIns="0" bIns="0" anchor="t">
              <a:spAutoFit/>
            </a:bodyPr>
            <a:lstStyle/>
            <a:p>
              <a:pPr algn="l"/>
              <a:r>
                <a:rPr sz="2800" b="0" i="0">
                  <a:solidFill>
                    <a:srgbClr val="0B1A5C"/>
                  </a:solidFill>
                  <a:latin typeface="Segoe UI Black"/>
                </a:rPr>
                <a:t>22%</a:t>
              </a:r>
              <a:r>
                <a:rPr sz="1600" b="0" i="0">
                  <a:solidFill>
                    <a:srgbClr val="0B1A5C"/>
                  </a:solidFill>
                  <a:latin typeface="Segoe UI Black"/>
                </a:rPr>
                <a:t/>
              </a:r>
            </a:p>
          </p:txBody>
        </p:sp>
        <p:sp>
          <p:nvSpPr>
            <p:cNvPr id="33" name="TextBox 32"/>
            <p:cNvSpPr txBox="1"/>
            <p:nvPr/>
          </p:nvSpPr>
          <p:spPr>
            <a:xfrm>
              <a:off x="9272016" y="2615184"/>
              <a:ext cx="2212848" cy="512064"/>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of companies can measure promotion spend per event · 81% run compliance by hand</a:t>
              </a:r>
            </a:p>
          </p:txBody>
        </p:sp>
        <p:sp>
          <p:nvSpPr>
            <p:cNvPr id="34" name="TextBox 33"/>
            <p:cNvSpPr txBox="1"/>
            <p:nvPr/>
          </p:nvSpPr>
          <p:spPr>
            <a:xfrm>
              <a:off x="9272016" y="3127248"/>
              <a:ext cx="2286000" cy="182880"/>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 Strategy&amp; (PwC) · POI, 2026</a:t>
              </a:r>
            </a:p>
          </p:txBody>
        </p:sp>
      </p:grpSp>
      <p:grpSp>
        <p:nvGrpSpPr>
          <p:cNvPr id="67" name="pains"/>
          <p:cNvGrpSpPr/>
          <p:nvPr/>
        </p:nvGrpSpPr>
        <p:grpSpPr>
          <a:xfrm>
            <a:off x="548640" y="3483864"/>
            <a:ext cx="11109959" cy="1975104"/>
            <a:chOff x="548640" y="3483864"/>
            <a:chExt cx="11109959" cy="1975104"/>
          </a:xfrm>
        </p:grpSpPr>
        <p:sp>
          <p:nvSpPr>
            <p:cNvPr id="36" name="TextBox 35"/>
            <p:cNvSpPr txBox="1"/>
            <p:nvPr/>
          </p:nvSpPr>
          <p:spPr>
            <a:xfrm>
              <a:off x="548640" y="3483864"/>
              <a:ext cx="3657600" cy="182880"/>
            </a:xfrm>
            <a:prstGeom prst="rect">
              <a:avLst/>
            </a:prstGeom>
            <a:noFill/>
          </p:spPr>
          <p:txBody>
            <a:bodyPr wrap="square" lIns="0" rIns="0" tIns="0" bIns="0" anchor="t">
              <a:spAutoFit/>
            </a:bodyPr>
            <a:lstStyle/>
            <a:p>
              <a:pPr algn="l"/>
              <a:r>
                <a:rPr sz="900" b="0" i="0">
                  <a:solidFill>
                    <a:srgbClr val="6B7280"/>
                  </a:solidFill>
                  <a:latin typeface="Segoe UI Semibold"/>
                </a:rPr>
                <a:t>FIVE PAIN POINTS</a:t>
              </a:r>
            </a:p>
          </p:txBody>
        </p:sp>
        <p:sp>
          <p:nvSpPr>
            <p:cNvPr id="37" name="Rounded Rectangle 36"/>
            <p:cNvSpPr/>
            <p:nvPr/>
          </p:nvSpPr>
          <p:spPr>
            <a:xfrm>
              <a:off x="548640" y="3703320"/>
              <a:ext cx="2119579" cy="1755648"/>
            </a:xfrm>
            <a:prstGeom prst="roundRect">
              <a:avLst>
                <a:gd name="adj" fmla="val 6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67512" y="3822192"/>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3822192"/>
              <a:ext cx="347472" cy="347472"/>
            </a:xfrm>
            <a:prstGeom prst="rect">
              <a:avLst/>
            </a:prstGeom>
            <a:noFill/>
          </p:spPr>
          <p:txBody>
            <a:bodyPr wrap="square" lIns="0" rIns="0" tIns="0" bIns="0" anchor="ctr">
              <a:spAutoFit/>
            </a:bodyPr>
            <a:lstStyle/>
            <a:p>
              <a:pPr algn="ctr"/>
              <a:r>
                <a:rPr sz="1000" b="0" i="0">
                  <a:solidFill>
                    <a:srgbClr val="FFFFFF"/>
                  </a:solidFill>
                  <a:latin typeface="Segoe UI Black"/>
                </a:rPr>
                <a:t>P1</a:t>
              </a:r>
            </a:p>
          </p:txBody>
        </p:sp>
        <p:sp>
          <p:nvSpPr>
            <p:cNvPr id="40" name="TextBox 39"/>
            <p:cNvSpPr txBox="1"/>
            <p:nvPr/>
          </p:nvSpPr>
          <p:spPr>
            <a:xfrm>
              <a:off x="1097280" y="3776472"/>
              <a:ext cx="1479499" cy="438912"/>
            </a:xfrm>
            <a:prstGeom prst="rect">
              <a:avLst/>
            </a:prstGeom>
            <a:noFill/>
          </p:spPr>
          <p:txBody>
            <a:bodyPr wrap="square" lIns="0" rIns="0" tIns="0" bIns="0" anchor="ctr">
              <a:spAutoFit/>
            </a:bodyPr>
            <a:lstStyle/>
            <a:p>
              <a:pPr algn="l">
                <a:lnSpc>
                  <a:spcPct val="90000"/>
                </a:lnSpc>
              </a:pPr>
              <a:r>
                <a:rPr sz="1100" b="0" i="0">
                  <a:solidFill>
                    <a:srgbClr val="0B1A5C"/>
                  </a:solidFill>
                  <a:latin typeface="Segoe UI Semibold"/>
                </a:rPr>
                <a:t>Evidence is scattered and messy</a:t>
              </a:r>
            </a:p>
          </p:txBody>
        </p:sp>
        <p:sp>
          <p:nvSpPr>
            <p:cNvPr id="41" name="TextBox 40"/>
            <p:cNvSpPr txBox="1"/>
            <p:nvPr/>
          </p:nvSpPr>
          <p:spPr>
            <a:xfrm>
              <a:off x="676656" y="4279392"/>
              <a:ext cx="1881835" cy="850392"/>
            </a:xfrm>
            <a:prstGeom prst="rect">
              <a:avLst/>
            </a:prstGeom>
            <a:noFill/>
          </p:spPr>
          <p:txBody>
            <a:bodyPr wrap="square" lIns="0" rIns="0" tIns="0" bIns="0" anchor="t">
              <a:spAutoFit/>
            </a:bodyPr>
            <a:lstStyle/>
            <a:p>
              <a:pPr algn="l">
                <a:lnSpc>
                  <a:spcPct val="95000"/>
                </a:lnSpc>
              </a:pPr>
              <a:r>
                <a:rPr sz="900" b="0" i="0">
                  <a:solidFill>
                    <a:srgbClr val="4B5563"/>
                  </a:solidFill>
                  <a:latin typeface="Segoe UI"/>
                </a:rPr>
                <a:t>Schemes, competitor prices and HQ rules arrive as WhatsApp forwards, shelf photos, flyers and PDFs. Nobody reads them all, and one hidden instruction can mislead an AI.</a:t>
              </a:r>
            </a:p>
          </p:txBody>
        </p:sp>
        <p:sp>
          <p:nvSpPr>
            <p:cNvPr id="42" name="TextBox 41"/>
            <p:cNvSpPr txBox="1"/>
            <p:nvPr/>
          </p:nvSpPr>
          <p:spPr>
            <a:xfrm>
              <a:off x="676656" y="5120640"/>
              <a:ext cx="1881835" cy="274320"/>
            </a:xfrm>
            <a:prstGeom prst="rect">
              <a:avLst/>
            </a:prstGeom>
            <a:noFill/>
          </p:spPr>
          <p:txBody>
            <a:bodyPr wrap="square" lIns="0" rIns="0" tIns="0" bIns="0" anchor="b">
              <a:spAutoFit/>
            </a:bodyPr>
            <a:lstStyle/>
            <a:p>
              <a:pPr algn="l">
                <a:lnSpc>
                  <a:spcPct val="95000"/>
                </a:lnSpc>
              </a:pPr>
              <a:r>
                <a:rPr sz="800" b="0" i="1">
                  <a:solidFill>
                    <a:srgbClr val="6B7280"/>
                  </a:solidFill>
                  <a:latin typeface="Segoe UI"/>
                </a:rPr>
                <a:t>500 M+ WhatsApp users in India — Meta</a:t>
              </a:r>
            </a:p>
          </p:txBody>
        </p:sp>
        <p:sp>
          <p:nvSpPr>
            <p:cNvPr id="43" name="Rounded Rectangle 42"/>
            <p:cNvSpPr/>
            <p:nvPr/>
          </p:nvSpPr>
          <p:spPr>
            <a:xfrm>
              <a:off x="2796235" y="3703320"/>
              <a:ext cx="2119579" cy="1755648"/>
            </a:xfrm>
            <a:prstGeom prst="roundRect">
              <a:avLst>
                <a:gd name="adj" fmla="val 6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915107" y="3822192"/>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15107" y="3822192"/>
              <a:ext cx="347472" cy="347472"/>
            </a:xfrm>
            <a:prstGeom prst="rect">
              <a:avLst/>
            </a:prstGeom>
            <a:noFill/>
          </p:spPr>
          <p:txBody>
            <a:bodyPr wrap="square" lIns="0" rIns="0" tIns="0" bIns="0" anchor="ctr">
              <a:spAutoFit/>
            </a:bodyPr>
            <a:lstStyle/>
            <a:p>
              <a:pPr algn="ctr"/>
              <a:r>
                <a:rPr sz="1000" b="0" i="0">
                  <a:solidFill>
                    <a:srgbClr val="FFFFFF"/>
                  </a:solidFill>
                  <a:latin typeface="Segoe UI Black"/>
                </a:rPr>
                <a:t>P2</a:t>
              </a:r>
            </a:p>
          </p:txBody>
        </p:sp>
        <p:sp>
          <p:nvSpPr>
            <p:cNvPr id="46" name="TextBox 45"/>
            <p:cNvSpPr txBox="1"/>
            <p:nvPr/>
          </p:nvSpPr>
          <p:spPr>
            <a:xfrm>
              <a:off x="3344875" y="3776472"/>
              <a:ext cx="1479499" cy="438912"/>
            </a:xfrm>
            <a:prstGeom prst="rect">
              <a:avLst/>
            </a:prstGeom>
            <a:noFill/>
          </p:spPr>
          <p:txBody>
            <a:bodyPr wrap="square" lIns="0" rIns="0" tIns="0" bIns="0" anchor="ctr">
              <a:spAutoFit/>
            </a:bodyPr>
            <a:lstStyle/>
            <a:p>
              <a:pPr algn="l">
                <a:lnSpc>
                  <a:spcPct val="90000"/>
                </a:lnSpc>
              </a:pPr>
              <a:r>
                <a:rPr sz="1100" b="0" i="0">
                  <a:solidFill>
                    <a:srgbClr val="0B1A5C"/>
                  </a:solidFill>
                  <a:latin typeface="Segoe UI Semibold"/>
                </a:rPr>
                <a:t>Planning is slow and unproven</a:t>
              </a:r>
            </a:p>
          </p:txBody>
        </p:sp>
        <p:sp>
          <p:nvSpPr>
            <p:cNvPr id="47" name="TextBox 46"/>
            <p:cNvSpPr txBox="1"/>
            <p:nvPr/>
          </p:nvSpPr>
          <p:spPr>
            <a:xfrm>
              <a:off x="2924251" y="4279392"/>
              <a:ext cx="1881835" cy="850392"/>
            </a:xfrm>
            <a:prstGeom prst="rect">
              <a:avLst/>
            </a:prstGeom>
            <a:noFill/>
          </p:spPr>
          <p:txBody>
            <a:bodyPr wrap="square" lIns="0" rIns="0" tIns="0" bIns="0" anchor="t">
              <a:spAutoFit/>
            </a:bodyPr>
            <a:lstStyle/>
            <a:p>
              <a:pPr algn="l">
                <a:lnSpc>
                  <a:spcPct val="95000"/>
                </a:lnSpc>
              </a:pPr>
              <a:r>
                <a:rPr sz="900" b="0" i="0">
                  <a:solidFill>
                    <a:srgbClr val="4B5563"/>
                  </a:solidFill>
                  <a:latin typeface="Segoe UI"/>
                </a:rPr>
                <a:t>Weeks of spreadsheets per scheme, no forecast, and no proof an offer will pay before it goes live.</a:t>
              </a:r>
            </a:p>
          </p:txBody>
        </p:sp>
        <p:sp>
          <p:nvSpPr>
            <p:cNvPr id="48" name="TextBox 47"/>
            <p:cNvSpPr txBox="1"/>
            <p:nvPr/>
          </p:nvSpPr>
          <p:spPr>
            <a:xfrm>
              <a:off x="2924251" y="5120640"/>
              <a:ext cx="1881835" cy="274320"/>
            </a:xfrm>
            <a:prstGeom prst="rect">
              <a:avLst/>
            </a:prstGeom>
            <a:noFill/>
          </p:spPr>
          <p:txBody>
            <a:bodyPr wrap="square" lIns="0" rIns="0" tIns="0" bIns="0" anchor="b">
              <a:spAutoFit/>
            </a:bodyPr>
            <a:lstStyle/>
            <a:p>
              <a:pPr algn="l">
                <a:lnSpc>
                  <a:spcPct val="95000"/>
                </a:lnSpc>
              </a:pPr>
              <a:r>
                <a:rPr sz="800" b="0" i="1">
                  <a:solidFill>
                    <a:srgbClr val="6B7280"/>
                  </a:solidFill>
                  <a:latin typeface="Segoe UI"/>
                </a:rPr>
                <a:t>22% can measure spend per event — Strategy&amp;</a:t>
              </a:r>
            </a:p>
          </p:txBody>
        </p:sp>
        <p:sp>
          <p:nvSpPr>
            <p:cNvPr id="49" name="Rounded Rectangle 48"/>
            <p:cNvSpPr/>
            <p:nvPr/>
          </p:nvSpPr>
          <p:spPr>
            <a:xfrm>
              <a:off x="5043830" y="3703320"/>
              <a:ext cx="2119579" cy="1755648"/>
            </a:xfrm>
            <a:prstGeom prst="roundRect">
              <a:avLst>
                <a:gd name="adj" fmla="val 6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162702" y="3822192"/>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62702" y="3822192"/>
              <a:ext cx="347472" cy="347472"/>
            </a:xfrm>
            <a:prstGeom prst="rect">
              <a:avLst/>
            </a:prstGeom>
            <a:noFill/>
          </p:spPr>
          <p:txBody>
            <a:bodyPr wrap="square" lIns="0" rIns="0" tIns="0" bIns="0" anchor="ctr">
              <a:spAutoFit/>
            </a:bodyPr>
            <a:lstStyle/>
            <a:p>
              <a:pPr algn="ctr"/>
              <a:r>
                <a:rPr sz="1000" b="0" i="0">
                  <a:solidFill>
                    <a:srgbClr val="FFFFFF"/>
                  </a:solidFill>
                  <a:latin typeface="Segoe UI Black"/>
                </a:rPr>
                <a:t>P3</a:t>
              </a:r>
            </a:p>
          </p:txBody>
        </p:sp>
        <p:sp>
          <p:nvSpPr>
            <p:cNvPr id="52" name="TextBox 51"/>
            <p:cNvSpPr txBox="1"/>
            <p:nvPr/>
          </p:nvSpPr>
          <p:spPr>
            <a:xfrm>
              <a:off x="5592470" y="3776472"/>
              <a:ext cx="1479499" cy="438912"/>
            </a:xfrm>
            <a:prstGeom prst="rect">
              <a:avLst/>
            </a:prstGeom>
            <a:noFill/>
          </p:spPr>
          <p:txBody>
            <a:bodyPr wrap="square" lIns="0" rIns="0" tIns="0" bIns="0" anchor="ctr">
              <a:spAutoFit/>
            </a:bodyPr>
            <a:lstStyle/>
            <a:p>
              <a:pPr algn="l">
                <a:lnSpc>
                  <a:spcPct val="90000"/>
                </a:lnSpc>
              </a:pPr>
              <a:r>
                <a:rPr sz="1100" b="0" i="0">
                  <a:solidFill>
                    <a:srgbClr val="0B1A5C"/>
                  </a:solidFill>
                  <a:latin typeface="Segoe UI Semibold"/>
                </a:rPr>
                <a:t>Quick commerce resets prices daily</a:t>
              </a:r>
            </a:p>
          </p:txBody>
        </p:sp>
        <p:sp>
          <p:nvSpPr>
            <p:cNvPr id="53" name="TextBox 52"/>
            <p:cNvSpPr txBox="1"/>
            <p:nvPr/>
          </p:nvSpPr>
          <p:spPr>
            <a:xfrm>
              <a:off x="5171846" y="4279392"/>
              <a:ext cx="1881835" cy="850392"/>
            </a:xfrm>
            <a:prstGeom prst="rect">
              <a:avLst/>
            </a:prstGeom>
            <a:noFill/>
          </p:spPr>
          <p:txBody>
            <a:bodyPr wrap="square" lIns="0" rIns="0" tIns="0" bIns="0" anchor="t">
              <a:spAutoFit/>
            </a:bodyPr>
            <a:lstStyle/>
            <a:p>
              <a:pPr algn="l">
                <a:lnSpc>
                  <a:spcPct val="95000"/>
                </a:lnSpc>
              </a:pPr>
              <a:r>
                <a:rPr sz="900" b="0" i="0">
                  <a:solidFill>
                    <a:srgbClr val="4B5563"/>
                  </a:solidFill>
                  <a:latin typeface="Segoe UI"/>
                </a:rPr>
                <a:t>Ten-minute apps run 20–25% off MRP city by city; chains and kiranas must answer in hours, on margins of 10–12%.</a:t>
              </a:r>
            </a:p>
          </p:txBody>
        </p:sp>
        <p:sp>
          <p:nvSpPr>
            <p:cNvPr id="54" name="TextBox 53"/>
            <p:cNvSpPr txBox="1"/>
            <p:nvPr/>
          </p:nvSpPr>
          <p:spPr>
            <a:xfrm>
              <a:off x="5171846" y="5120640"/>
              <a:ext cx="1881835" cy="274320"/>
            </a:xfrm>
            <a:prstGeom prst="rect">
              <a:avLst/>
            </a:prstGeom>
            <a:noFill/>
          </p:spPr>
          <p:txBody>
            <a:bodyPr wrap="square" lIns="0" rIns="0" tIns="0" bIns="0" anchor="b">
              <a:spAutoFit/>
            </a:bodyPr>
            <a:lstStyle/>
            <a:p>
              <a:pPr algn="l">
                <a:lnSpc>
                  <a:spcPct val="95000"/>
                </a:lnSpc>
              </a:pPr>
              <a:r>
                <a:rPr sz="800" b="0" i="1">
                  <a:solidFill>
                    <a:srgbClr val="6B7280"/>
                  </a:solidFill>
                  <a:latin typeface="Segoe UI"/>
                </a:rPr>
                <a:t>Elara Capital, 2025 · KPMG, 2026</a:t>
              </a:r>
            </a:p>
          </p:txBody>
        </p:sp>
        <p:sp>
          <p:nvSpPr>
            <p:cNvPr id="55" name="Rounded Rectangle 54"/>
            <p:cNvSpPr/>
            <p:nvPr/>
          </p:nvSpPr>
          <p:spPr>
            <a:xfrm>
              <a:off x="7291425" y="3703320"/>
              <a:ext cx="2119579" cy="1755648"/>
            </a:xfrm>
            <a:prstGeom prst="roundRect">
              <a:avLst>
                <a:gd name="adj" fmla="val 6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7410297" y="3822192"/>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10297" y="3822192"/>
              <a:ext cx="347472" cy="347472"/>
            </a:xfrm>
            <a:prstGeom prst="rect">
              <a:avLst/>
            </a:prstGeom>
            <a:noFill/>
          </p:spPr>
          <p:txBody>
            <a:bodyPr wrap="square" lIns="0" rIns="0" tIns="0" bIns="0" anchor="ctr">
              <a:spAutoFit/>
            </a:bodyPr>
            <a:lstStyle/>
            <a:p>
              <a:pPr algn="ctr"/>
              <a:r>
                <a:rPr sz="1000" b="0" i="0">
                  <a:solidFill>
                    <a:srgbClr val="FFFFFF"/>
                  </a:solidFill>
                  <a:latin typeface="Segoe UI Black"/>
                </a:rPr>
                <a:t>P4</a:t>
              </a:r>
            </a:p>
          </p:txBody>
        </p:sp>
        <p:sp>
          <p:nvSpPr>
            <p:cNvPr id="58" name="TextBox 57"/>
            <p:cNvSpPr txBox="1"/>
            <p:nvPr/>
          </p:nvSpPr>
          <p:spPr>
            <a:xfrm>
              <a:off x="7840065" y="3776472"/>
              <a:ext cx="1479499" cy="438912"/>
            </a:xfrm>
            <a:prstGeom prst="rect">
              <a:avLst/>
            </a:prstGeom>
            <a:noFill/>
          </p:spPr>
          <p:txBody>
            <a:bodyPr wrap="square" lIns="0" rIns="0" tIns="0" bIns="0" anchor="ctr">
              <a:spAutoFit/>
            </a:bodyPr>
            <a:lstStyle/>
            <a:p>
              <a:pPr algn="l">
                <a:lnSpc>
                  <a:spcPct val="90000"/>
                </a:lnSpc>
              </a:pPr>
              <a:r>
                <a:rPr sz="1100" b="0" i="0">
                  <a:solidFill>
                    <a:srgbClr val="0B1A5C"/>
                  </a:solidFill>
                  <a:latin typeface="Segoe UI Semibold"/>
                </a:rPr>
                <a:t>Compliance risk is now real</a:t>
              </a:r>
            </a:p>
          </p:txBody>
        </p:sp>
        <p:sp>
          <p:nvSpPr>
            <p:cNvPr id="59" name="TextBox 58"/>
            <p:cNvSpPr txBox="1"/>
            <p:nvPr/>
          </p:nvSpPr>
          <p:spPr>
            <a:xfrm>
              <a:off x="7419441" y="4279392"/>
              <a:ext cx="1881835" cy="850392"/>
            </a:xfrm>
            <a:prstGeom prst="rect">
              <a:avLst/>
            </a:prstGeom>
            <a:noFill/>
          </p:spPr>
          <p:txBody>
            <a:bodyPr wrap="square" lIns="0" rIns="0" tIns="0" bIns="0" anchor="t">
              <a:spAutoFit/>
            </a:bodyPr>
            <a:lstStyle/>
            <a:p>
              <a:pPr algn="l">
                <a:lnSpc>
                  <a:spcPct val="95000"/>
                </a:lnSpc>
              </a:pPr>
              <a:r>
                <a:rPr sz="900" b="0" i="0">
                  <a:solidFill>
                    <a:srgbClr val="4B5563"/>
                  </a:solidFill>
                  <a:latin typeface="Segoe UI"/>
                </a:rPr>
                <a:t>Fake “% off”, drip pricing and MRP breaches carry penalties; from 1 Jan 2027 every online price cut must show the 30-day low.</a:t>
              </a:r>
            </a:p>
          </p:txBody>
        </p:sp>
        <p:sp>
          <p:nvSpPr>
            <p:cNvPr id="60" name="TextBox 59"/>
            <p:cNvSpPr txBox="1"/>
            <p:nvPr/>
          </p:nvSpPr>
          <p:spPr>
            <a:xfrm>
              <a:off x="7419441" y="5120640"/>
              <a:ext cx="1881835" cy="274320"/>
            </a:xfrm>
            <a:prstGeom prst="rect">
              <a:avLst/>
            </a:prstGeom>
            <a:noFill/>
          </p:spPr>
          <p:txBody>
            <a:bodyPr wrap="square" lIns="0" rIns="0" tIns="0" bIns="0" anchor="b">
              <a:spAutoFit/>
            </a:bodyPr>
            <a:lstStyle/>
            <a:p>
              <a:pPr algn="l">
                <a:lnSpc>
                  <a:spcPct val="95000"/>
                </a:lnSpc>
              </a:pPr>
              <a:r>
                <a:rPr sz="800" b="0" i="1">
                  <a:solidFill>
                    <a:srgbClr val="6B7280"/>
                  </a:solidFill>
                  <a:latin typeface="Segoe UI"/>
                </a:rPr>
                <a:t>CCPA fines on 9 platforms, Aug 2026 · E‑Commerce (Amdt) Rules, 2026</a:t>
              </a:r>
            </a:p>
          </p:txBody>
        </p:sp>
        <p:sp>
          <p:nvSpPr>
            <p:cNvPr id="61" name="Rounded Rectangle 60"/>
            <p:cNvSpPr/>
            <p:nvPr/>
          </p:nvSpPr>
          <p:spPr>
            <a:xfrm>
              <a:off x="9539020" y="3703320"/>
              <a:ext cx="2119579" cy="1755648"/>
            </a:xfrm>
            <a:prstGeom prst="roundRect">
              <a:avLst>
                <a:gd name="adj" fmla="val 6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9657892" y="3822192"/>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57892" y="3822192"/>
              <a:ext cx="347472" cy="347472"/>
            </a:xfrm>
            <a:prstGeom prst="rect">
              <a:avLst/>
            </a:prstGeom>
            <a:noFill/>
          </p:spPr>
          <p:txBody>
            <a:bodyPr wrap="square" lIns="0" rIns="0" tIns="0" bIns="0" anchor="ctr">
              <a:spAutoFit/>
            </a:bodyPr>
            <a:lstStyle/>
            <a:p>
              <a:pPr algn="ctr"/>
              <a:r>
                <a:rPr sz="1000" b="0" i="0">
                  <a:solidFill>
                    <a:srgbClr val="FFFFFF"/>
                  </a:solidFill>
                  <a:latin typeface="Segoe UI Black"/>
                </a:rPr>
                <a:t>P5</a:t>
              </a:r>
            </a:p>
          </p:txBody>
        </p:sp>
        <p:sp>
          <p:nvSpPr>
            <p:cNvPr id="64" name="TextBox 63"/>
            <p:cNvSpPr txBox="1"/>
            <p:nvPr/>
          </p:nvSpPr>
          <p:spPr>
            <a:xfrm>
              <a:off x="10087660" y="3776472"/>
              <a:ext cx="1479499" cy="438912"/>
            </a:xfrm>
            <a:prstGeom prst="rect">
              <a:avLst/>
            </a:prstGeom>
            <a:noFill/>
          </p:spPr>
          <p:txBody>
            <a:bodyPr wrap="square" lIns="0" rIns="0" tIns="0" bIns="0" anchor="ctr">
              <a:spAutoFit/>
            </a:bodyPr>
            <a:lstStyle/>
            <a:p>
              <a:pPr algn="l">
                <a:lnSpc>
                  <a:spcPct val="90000"/>
                </a:lnSpc>
              </a:pPr>
              <a:r>
                <a:rPr sz="1100" b="0" i="0">
                  <a:solidFill>
                    <a:srgbClr val="0B1A5C"/>
                  </a:solidFill>
                  <a:latin typeface="Segoe UI Semibold"/>
                </a:rPr>
                <a:t>The kirana has no planner at all</a:t>
              </a:r>
            </a:p>
          </p:txBody>
        </p:sp>
        <p:sp>
          <p:nvSpPr>
            <p:cNvPr id="65" name="TextBox 64"/>
            <p:cNvSpPr txBox="1"/>
            <p:nvPr/>
          </p:nvSpPr>
          <p:spPr>
            <a:xfrm>
              <a:off x="9667036" y="4279392"/>
              <a:ext cx="1881835" cy="850392"/>
            </a:xfrm>
            <a:prstGeom prst="rect">
              <a:avLst/>
            </a:prstGeom>
            <a:noFill/>
          </p:spPr>
          <p:txBody>
            <a:bodyPr wrap="square" lIns="0" rIns="0" tIns="0" bIns="0" anchor="t">
              <a:spAutoFit/>
            </a:bodyPr>
            <a:lstStyle/>
            <a:p>
              <a:pPr algn="l">
                <a:lnSpc>
                  <a:spcPct val="95000"/>
                </a:lnSpc>
              </a:pPr>
              <a:r>
                <a:rPr sz="900" b="0" i="0">
                  <a:solidFill>
                    <a:srgbClr val="4B5563"/>
                  </a:solidFill>
                  <a:latin typeface="Segoe UI"/>
                </a:rPr>
                <a:t>12–13 million shops sell ~91% of India's grocery with no analyst, no tool and no app they would install.</a:t>
              </a:r>
            </a:p>
          </p:txBody>
        </p:sp>
        <p:sp>
          <p:nvSpPr>
            <p:cNvPr id="66" name="TextBox 65"/>
            <p:cNvSpPr txBox="1"/>
            <p:nvPr/>
          </p:nvSpPr>
          <p:spPr>
            <a:xfrm>
              <a:off x="9667036" y="5120640"/>
              <a:ext cx="1881835" cy="274320"/>
            </a:xfrm>
            <a:prstGeom prst="rect">
              <a:avLst/>
            </a:prstGeom>
            <a:noFill/>
          </p:spPr>
          <p:txBody>
            <a:bodyPr wrap="square" lIns="0" rIns="0" tIns="0" bIns="0" anchor="b">
              <a:spAutoFit/>
            </a:bodyPr>
            <a:lstStyle/>
            <a:p>
              <a:pPr algn="l">
                <a:lnSpc>
                  <a:spcPct val="95000"/>
                </a:lnSpc>
              </a:pPr>
              <a:r>
                <a:rPr sz="800" b="0" i="1">
                  <a:solidFill>
                    <a:srgbClr val="6B7280"/>
                  </a:solidFill>
                  <a:latin typeface="Segoe UI"/>
                </a:rPr>
                <a:t>Redseer, 2026 · Invest India</a:t>
              </a:r>
            </a:p>
          </p:txBody>
        </p:sp>
      </p:grpSp>
      <p:grpSp>
        <p:nvGrpSpPr>
          <p:cNvPr id="75" name="bar"/>
          <p:cNvGrpSpPr/>
          <p:nvPr/>
        </p:nvGrpSpPr>
        <p:grpSpPr>
          <a:xfrm>
            <a:off x="548640" y="5550408"/>
            <a:ext cx="11109960" cy="704087"/>
            <a:chOff x="548640" y="5550408"/>
            <a:chExt cx="11109960" cy="704087"/>
          </a:xfrm>
        </p:grpSpPr>
        <p:sp>
          <p:nvSpPr>
            <p:cNvPr id="68" name="Rounded Rectangle 67"/>
            <p:cNvSpPr/>
            <p:nvPr/>
          </p:nvSpPr>
          <p:spPr>
            <a:xfrm>
              <a:off x="548640" y="5550408"/>
              <a:ext cx="11109960" cy="704087"/>
            </a:xfrm>
            <a:prstGeom prst="roundRect">
              <a:avLst>
                <a:gd name="adj" fmla="val 1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768096" y="5673852"/>
              <a:ext cx="457200" cy="457200"/>
            </a:xfrm>
            <a:prstGeom prst="ellipse">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XCircle_white.png"/>
            <p:cNvPicPr>
              <a:picLocks noChangeAspect="1"/>
            </p:cNvPicPr>
            <p:nvPr/>
          </p:nvPicPr>
          <p:blipFill>
            <a:blip r:embed="rId3"/>
            <a:stretch>
              <a:fillRect/>
            </a:stretch>
          </p:blipFill>
          <p:spPr>
            <a:xfrm>
              <a:off x="868680" y="5774436"/>
              <a:ext cx="256032" cy="256032"/>
            </a:xfrm>
            <a:prstGeom prst="rect">
              <a:avLst/>
            </a:prstGeom>
          </p:spPr>
        </p:pic>
        <p:sp>
          <p:nvSpPr>
            <p:cNvPr id="71" name="TextBox 70"/>
            <p:cNvSpPr txBox="1"/>
            <p:nvPr/>
          </p:nvSpPr>
          <p:spPr>
            <a:xfrm>
              <a:off x="1417320" y="5632704"/>
              <a:ext cx="6858000" cy="182880"/>
            </a:xfrm>
            <a:prstGeom prst="rect">
              <a:avLst/>
            </a:prstGeom>
            <a:noFill/>
          </p:spPr>
          <p:txBody>
            <a:bodyPr wrap="square" lIns="0" rIns="0" tIns="0" bIns="0" anchor="t">
              <a:spAutoFit/>
            </a:bodyPr>
            <a:lstStyle/>
            <a:p>
              <a:pPr algn="l"/>
              <a:r>
                <a:rPr sz="900" b="0" i="0">
                  <a:solidFill>
                    <a:srgbClr val="F28A1A"/>
                  </a:solidFill>
                  <a:latin typeface="Segoe UI Semibold"/>
                </a:rPr>
                <a:t>WHAT THAT MEANS FOR ONE BRAND</a:t>
              </a:r>
            </a:p>
          </p:txBody>
        </p:sp>
        <p:sp>
          <p:nvSpPr>
            <p:cNvPr id="72" name="TextBox 71"/>
            <p:cNvSpPr txBox="1"/>
            <p:nvPr/>
          </p:nvSpPr>
          <p:spPr>
            <a:xfrm>
              <a:off x="1417320" y="5815584"/>
              <a:ext cx="7406640" cy="402335"/>
            </a:xfrm>
            <a:prstGeom prst="rect">
              <a:avLst/>
            </a:prstGeom>
            <a:noFill/>
          </p:spPr>
          <p:txBody>
            <a:bodyPr wrap="square" lIns="0" rIns="0" tIns="0" bIns="0" anchor="t">
              <a:spAutoFit/>
            </a:bodyPr>
            <a:lstStyle/>
            <a:p>
              <a:pPr algn="l">
                <a:lnSpc>
                  <a:spcPct val="98000"/>
                </a:lnSpc>
              </a:pPr>
              <a:r>
                <a:rPr sz="1200" b="0" i="0">
                  <a:solidFill>
                    <a:srgbClr val="FFFFFF"/>
                  </a:solidFill>
                  <a:latin typeface="Segoe UI Semibold"/>
                </a:rPr>
                <a:t>A ₹500-crore consumer brand puts ~₹100 crore a year into promotions. If 59% of those events lose money, crores ride on gut feel every festival.</a:t>
              </a:r>
            </a:p>
          </p:txBody>
        </p:sp>
        <p:sp>
          <p:nvSpPr>
            <p:cNvPr id="73" name="Rounded Rectangle 72"/>
            <p:cNvSpPr/>
            <p:nvPr/>
          </p:nvSpPr>
          <p:spPr>
            <a:xfrm>
              <a:off x="9098280" y="5660136"/>
              <a:ext cx="2377440" cy="484631"/>
            </a:xfrm>
            <a:prstGeom prst="roundRect">
              <a:avLst>
                <a:gd name="adj" fmla="val 20000"/>
              </a:avLst>
            </a:prstGeom>
            <a:solidFill>
              <a:srgbClr val="16267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189720" y="5660136"/>
              <a:ext cx="2194560" cy="484631"/>
            </a:xfrm>
            <a:prstGeom prst="rect">
              <a:avLst/>
            </a:prstGeom>
            <a:noFill/>
          </p:spPr>
          <p:txBody>
            <a:bodyPr wrap="square" lIns="0" rIns="0" tIns="0" bIns="0" anchor="ctr">
              <a:spAutoFit/>
            </a:bodyPr>
            <a:lstStyle/>
            <a:p>
              <a:pPr algn="ctr">
                <a:lnSpc>
                  <a:spcPct val="95000"/>
                </a:lnSpc>
              </a:pPr>
              <a:r>
                <a:rPr sz="1050" b="0" i="0">
                  <a:solidFill>
                    <a:srgbClr val="FFFFFF"/>
                  </a:solidFill>
                  <a:latin typeface="Segoe UI Semibold"/>
                </a:rPr>
                <a:t>Decided blind — in spreadsheets, days too late</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anim calcmode="lin" valueType="num">
                                      <p:cBhvr>
                                        <p:cTn id="8" dur="600" fill="hold"/>
                                        <p:tgtEl>
                                          <p:spTgt spid="17"/>
                                        </p:tgtEl>
                                        <p:attrNameLst>
                                          <p:attrName>ppt_x</p:attrName>
                                        </p:attrNameLst>
                                      </p:cBhvr>
                                      <p:tavLst>
                                        <p:tav tm="0">
                                          <p:val>
                                            <p:strVal val="#ppt_x"/>
                                          </p:val>
                                        </p:tav>
                                        <p:tav tm="100000">
                                          <p:val>
                                            <p:strVal val="#ppt_x"/>
                                          </p:val>
                                        </p:tav>
                                      </p:tavLst>
                                    </p:anim>
                                    <p:anim calcmode="lin" valueType="num">
                                      <p:cBhvr>
                                        <p:cTn id="9" dur="600" decel="100000" fill="hold"/>
                                        <p:tgtEl>
                                          <p:spTgt spid="17"/>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600"/>
                                        <p:tgtEl>
                                          <p:spTgt spid="23"/>
                                        </p:tgtEl>
                                      </p:cBhvr>
                                    </p:animEffect>
                                    <p:anim calcmode="lin" valueType="num">
                                      <p:cBhvr>
                                        <p:cTn id="14" dur="600" fill="hold"/>
                                        <p:tgtEl>
                                          <p:spTgt spid="23"/>
                                        </p:tgtEl>
                                        <p:attrNameLst>
                                          <p:attrName>ppt_x</p:attrName>
                                        </p:attrNameLst>
                                      </p:cBhvr>
                                      <p:tavLst>
                                        <p:tav tm="0">
                                          <p:val>
                                            <p:strVal val="#ppt_x"/>
                                          </p:val>
                                        </p:tav>
                                        <p:tav tm="100000">
                                          <p:val>
                                            <p:strVal val="#ppt_x"/>
                                          </p:val>
                                        </p:tav>
                                      </p:tavLst>
                                    </p:anim>
                                    <p:anim calcmode="lin" valueType="num">
                                      <p:cBhvr>
                                        <p:cTn id="15" dur="600" decel="100000" fill="hold"/>
                                        <p:tgtEl>
                                          <p:spTgt spid="23"/>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600"/>
                                        <p:tgtEl>
                                          <p:spTgt spid="29"/>
                                        </p:tgtEl>
                                      </p:cBhvr>
                                    </p:animEffect>
                                    <p:anim calcmode="lin" valueType="num">
                                      <p:cBhvr>
                                        <p:cTn id="20" dur="600" fill="hold"/>
                                        <p:tgtEl>
                                          <p:spTgt spid="29"/>
                                        </p:tgtEl>
                                        <p:attrNameLst>
                                          <p:attrName>ppt_x</p:attrName>
                                        </p:attrNameLst>
                                      </p:cBhvr>
                                      <p:tavLst>
                                        <p:tav tm="0">
                                          <p:val>
                                            <p:strVal val="#ppt_x"/>
                                          </p:val>
                                        </p:tav>
                                        <p:tav tm="100000">
                                          <p:val>
                                            <p:strVal val="#ppt_x"/>
                                          </p:val>
                                        </p:tav>
                                      </p:tavLst>
                                    </p:anim>
                                    <p:anim calcmode="lin" valueType="num">
                                      <p:cBhvr>
                                        <p:cTn id="21" dur="600" decel="100000" fill="hold"/>
                                        <p:tgtEl>
                                          <p:spTgt spid="29"/>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600"/>
                                        <p:tgtEl>
                                          <p:spTgt spid="35"/>
                                        </p:tgtEl>
                                      </p:cBhvr>
                                    </p:animEffect>
                                    <p:anim calcmode="lin" valueType="num">
                                      <p:cBhvr>
                                        <p:cTn id="26" dur="600" fill="hold"/>
                                        <p:tgtEl>
                                          <p:spTgt spid="35"/>
                                        </p:tgtEl>
                                        <p:attrNameLst>
                                          <p:attrName>ppt_x</p:attrName>
                                        </p:attrNameLst>
                                      </p:cBhvr>
                                      <p:tavLst>
                                        <p:tav tm="0">
                                          <p:val>
                                            <p:strVal val="#ppt_x"/>
                                          </p:val>
                                        </p:tav>
                                        <p:tav tm="100000">
                                          <p:val>
                                            <p:strVal val="#ppt_x"/>
                                          </p:val>
                                        </p:tav>
                                      </p:tavLst>
                                    </p:anim>
                                    <p:anim calcmode="lin" valueType="num">
                                      <p:cBhvr>
                                        <p:cTn id="27" dur="600" decel="100000" fill="hold"/>
                                        <p:tgtEl>
                                          <p:spTgt spid="35"/>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600"/>
                                        <p:tgtEl>
                                          <p:spTgt spid="67"/>
                                        </p:tgtEl>
                                      </p:cBhvr>
                                    </p:animEffect>
                                    <p:anim calcmode="lin" valueType="num">
                                      <p:cBhvr>
                                        <p:cTn id="32" dur="600" fill="hold"/>
                                        <p:tgtEl>
                                          <p:spTgt spid="67"/>
                                        </p:tgtEl>
                                        <p:attrNameLst>
                                          <p:attrName>ppt_x</p:attrName>
                                        </p:attrNameLst>
                                      </p:cBhvr>
                                      <p:tavLst>
                                        <p:tav tm="0">
                                          <p:val>
                                            <p:strVal val="#ppt_x"/>
                                          </p:val>
                                        </p:tav>
                                        <p:tav tm="100000">
                                          <p:val>
                                            <p:strVal val="#ppt_x"/>
                                          </p:val>
                                        </p:tav>
                                      </p:tavLst>
                                    </p:anim>
                                    <p:anim calcmode="lin" valueType="num">
                                      <p:cBhvr>
                                        <p:cTn id="33" dur="600" decel="100000" fill="hold"/>
                                        <p:tgtEl>
                                          <p:spTgt spid="67"/>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75"/>
                                        </p:tgtEl>
                                        <p:attrNameLst>
                                          <p:attrName>style.visibility</p:attrName>
                                        </p:attrNameLst>
                                      </p:cBhvr>
                                      <p:to>
                                        <p:strVal val="visible"/>
                                      </p:to>
                                    </p:set>
                                    <p:animEffect transition="in" filter="fade">
                                      <p:cBhvr>
                                        <p:cTn id="37" dur="600"/>
                                        <p:tgtEl>
                                          <p:spTgt spid="75"/>
                                        </p:tgtEl>
                                      </p:cBhvr>
                                    </p:animEffect>
                                    <p:anim calcmode="lin" valueType="num">
                                      <p:cBhvr>
                                        <p:cTn id="38" dur="600" fill="hold"/>
                                        <p:tgtEl>
                                          <p:spTgt spid="75"/>
                                        </p:tgtEl>
                                        <p:attrNameLst>
                                          <p:attrName>ppt_x</p:attrName>
                                        </p:attrNameLst>
                                      </p:cBhvr>
                                      <p:tavLst>
                                        <p:tav tm="0">
                                          <p:val>
                                            <p:strVal val="#ppt_x"/>
                                          </p:val>
                                        </p:tav>
                                        <p:tav tm="100000">
                                          <p:val>
                                            <p:strVal val="#ppt_x"/>
                                          </p:val>
                                        </p:tav>
                                      </p:tavLst>
                                    </p:anim>
                                    <p:anim calcmode="lin" valueType="num">
                                      <p:cBhvr>
                                        <p:cTn id="39" dur="600" decel="100000" fill="hold"/>
                                        <p:tgtEl>
                                          <p:spTgt spid="7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04</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arkles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Proposed solution · Powered by agentic AI</a:t>
            </a:r>
          </a:p>
        </p:txBody>
      </p:sp>
      <p:sp>
        <p:nvSpPr>
          <p:cNvPr id="11" name="TextBox 10"/>
          <p:cNvSpPr txBox="1"/>
          <p:nvPr/>
        </p:nvSpPr>
        <p:spPr>
          <a:xfrm>
            <a:off x="548640" y="850392"/>
            <a:ext cx="11384280" cy="114300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One AI engine, </a:t>
            </a:r>
            <a:r>
              <a:rPr sz="3600" b="0" i="0">
                <a:solidFill>
                  <a:srgbClr val="138808"/>
                </a:solidFill>
                <a:latin typeface="Segoe UI Black"/>
              </a:rPr>
              <a:t>three ways in</a:t>
            </a:r>
            <a:r>
              <a:rPr sz="3600" b="0" i="0">
                <a:solidFill>
                  <a:srgbClr val="0B1A5C"/>
                </a:solidFill>
                <a:latin typeface="Segoe UI Black"/>
              </a:rPr>
              <a:t> —</a:t>
            </a:r>
            <a:br/>
            <a:r>
              <a:rPr sz="3600" b="0" i="0">
                <a:solidFill>
                  <a:srgbClr val="0B1A5C"/>
                </a:solidFill>
                <a:latin typeface="Segoe UI Black"/>
              </a:rPr>
              <a:t>every pain point answered</a:t>
            </a:r>
          </a:p>
        </p:txBody>
      </p:sp>
      <p:sp>
        <p:nvSpPr>
          <p:cNvPr id="12" name="Rounded Rectangle 11"/>
          <p:cNvSpPr/>
          <p:nvPr/>
        </p:nvSpPr>
        <p:spPr>
          <a:xfrm>
            <a:off x="10243962" y="429768"/>
            <a:ext cx="1414637" cy="310896"/>
          </a:xfrm>
          <a:prstGeom prst="roundRect">
            <a:avLst>
              <a:gd name="adj" fmla="val 50000"/>
            </a:avLst>
          </a:prstGeom>
          <a:solidFill>
            <a:srgbClr val="EC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371978" y="429768"/>
            <a:ext cx="1209812" cy="310896"/>
          </a:xfrm>
          <a:prstGeom prst="rect">
            <a:avLst/>
          </a:prstGeom>
          <a:noFill/>
        </p:spPr>
        <p:txBody>
          <a:bodyPr wrap="none" lIns="0" rIns="0" tIns="0" bIns="0" anchor="ctr">
            <a:spAutoFit/>
          </a:bodyPr>
          <a:lstStyle/>
          <a:p>
            <a:pPr algn="ctr"/>
            <a:r>
              <a:rPr sz="850" b="0" i="0">
                <a:solidFill>
                  <a:srgbClr val="138808"/>
                </a:solidFill>
                <a:latin typeface="Segoe UI Semibold"/>
              </a:rPr>
              <a:t>WhatsApp · for kiranas</a:t>
            </a:r>
          </a:p>
        </p:txBody>
      </p:sp>
      <p:sp>
        <p:nvSpPr>
          <p:cNvPr id="14" name="Rounded Rectangle 13"/>
          <p:cNvSpPr/>
          <p:nvPr/>
        </p:nvSpPr>
        <p:spPr>
          <a:xfrm>
            <a:off x="6835774" y="429768"/>
            <a:ext cx="3298459" cy="310896"/>
          </a:xfrm>
          <a:prstGeom prst="roundRect">
            <a:avLst>
              <a:gd name="adj" fmla="val 5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63790" y="429768"/>
            <a:ext cx="3093634" cy="310896"/>
          </a:xfrm>
          <a:prstGeom prst="rect">
            <a:avLst/>
          </a:prstGeom>
          <a:noFill/>
        </p:spPr>
        <p:txBody>
          <a:bodyPr wrap="none" lIns="0" rIns="0" tIns="0" bIns="0" anchor="ctr">
            <a:spAutoFit/>
          </a:bodyPr>
          <a:lstStyle/>
          <a:p>
            <a:pPr algn="ctr"/>
            <a:r>
              <a:rPr sz="850" b="0" i="0">
                <a:solidFill>
                  <a:srgbClr val="0B1A5C"/>
                </a:solidFill>
                <a:latin typeface="Segoe UI Semibold"/>
              </a:rPr>
              <a:t>Promo Studio · full control, for category &amp; promo managers</a:t>
            </a:r>
          </a:p>
        </p:txBody>
      </p:sp>
      <p:sp>
        <p:nvSpPr>
          <p:cNvPr id="16" name="Rounded Rectangle 15"/>
          <p:cNvSpPr/>
          <p:nvPr/>
        </p:nvSpPr>
        <p:spPr>
          <a:xfrm>
            <a:off x="4545741" y="429768"/>
            <a:ext cx="2180305" cy="310896"/>
          </a:xfrm>
          <a:prstGeom prst="roundRect">
            <a:avLst>
              <a:gd name="adj" fmla="val 50000"/>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73757" y="429768"/>
            <a:ext cx="1975479" cy="310896"/>
          </a:xfrm>
          <a:prstGeom prst="rect">
            <a:avLst/>
          </a:prstGeom>
          <a:noFill/>
        </p:spPr>
        <p:txBody>
          <a:bodyPr wrap="none" lIns="0" rIns="0" tIns="0" bIns="0" anchor="ctr">
            <a:spAutoFit/>
          </a:bodyPr>
          <a:lstStyle/>
          <a:p>
            <a:pPr algn="ctr"/>
            <a:r>
              <a:rPr sz="850" b="0" i="0">
                <a:solidFill>
                  <a:srgbClr val="F28A1A"/>
                </a:solidFill>
                <a:latin typeface="Segoe UI Semibold"/>
              </a:rPr>
              <a:t>One-Click Designer · speed, for chains</a:t>
            </a:r>
          </a:p>
        </p:txBody>
      </p:sp>
      <p:grpSp>
        <p:nvGrpSpPr>
          <p:cNvPr id="28" name="map0"/>
          <p:cNvGrpSpPr/>
          <p:nvPr/>
        </p:nvGrpSpPr>
        <p:grpSpPr>
          <a:xfrm>
            <a:off x="548640" y="2029968"/>
            <a:ext cx="11109960" cy="694944"/>
            <a:chOff x="548640" y="2029968"/>
            <a:chExt cx="11109960" cy="694944"/>
          </a:xfrm>
        </p:grpSpPr>
        <p:sp>
          <p:nvSpPr>
            <p:cNvPr id="18" name="Rounded Rectangle 17"/>
            <p:cNvSpPr/>
            <p:nvPr/>
          </p:nvSpPr>
          <p:spPr>
            <a:xfrm>
              <a:off x="548640" y="2029968"/>
              <a:ext cx="3291840" cy="694944"/>
            </a:xfrm>
            <a:prstGeom prst="roundRect">
              <a:avLst>
                <a:gd name="adj" fmla="val 8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2157984"/>
              <a:ext cx="438912" cy="43891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157984"/>
              <a:ext cx="438912" cy="438912"/>
            </a:xfrm>
            <a:prstGeom prst="rect">
              <a:avLst/>
            </a:prstGeom>
            <a:noFill/>
          </p:spPr>
          <p:txBody>
            <a:bodyPr wrap="square" lIns="0" rIns="0" tIns="0" bIns="0" anchor="ctr">
              <a:spAutoFit/>
            </a:bodyPr>
            <a:lstStyle/>
            <a:p>
              <a:pPr algn="ctr"/>
              <a:r>
                <a:rPr sz="1150" b="0" i="0">
                  <a:solidFill>
                    <a:srgbClr val="FFFFFF"/>
                  </a:solidFill>
                  <a:latin typeface="Segoe UI Black"/>
                </a:rPr>
                <a:t>P1</a:t>
              </a:r>
            </a:p>
          </p:txBody>
        </p:sp>
        <p:sp>
          <p:nvSpPr>
            <p:cNvPr id="21" name="TextBox 20"/>
            <p:cNvSpPr txBox="1"/>
            <p:nvPr/>
          </p:nvSpPr>
          <p:spPr>
            <a:xfrm>
              <a:off x="1298448" y="2029968"/>
              <a:ext cx="2468880" cy="694944"/>
            </a:xfrm>
            <a:prstGeom prst="rect">
              <a:avLst/>
            </a:prstGeom>
            <a:noFill/>
          </p:spPr>
          <p:txBody>
            <a:bodyPr wrap="square" lIns="0" rIns="0" tIns="0" bIns="0" anchor="ctr">
              <a:spAutoFit/>
            </a:bodyPr>
            <a:lstStyle/>
            <a:p>
              <a:pPr algn="l"/>
              <a:r>
                <a:rPr sz="1250" b="0" i="0">
                  <a:solidFill>
                    <a:srgbClr val="0B1A5C"/>
                  </a:solidFill>
                  <a:latin typeface="Segoe UI Semibold"/>
                </a:rPr>
                <a:t>Messy evidence</a:t>
              </a:r>
            </a:p>
          </p:txBody>
        </p:sp>
        <p:pic>
          <p:nvPicPr>
            <p:cNvPr id="22" name="Picture 21" descr="ArrowRight_grey.png"/>
            <p:cNvPicPr>
              <a:picLocks noChangeAspect="1"/>
            </p:cNvPicPr>
            <p:nvPr/>
          </p:nvPicPr>
          <p:blipFill>
            <a:blip r:embed="rId3"/>
            <a:stretch>
              <a:fillRect/>
            </a:stretch>
          </p:blipFill>
          <p:spPr>
            <a:xfrm>
              <a:off x="4050791" y="2249424"/>
              <a:ext cx="256032" cy="256032"/>
            </a:xfrm>
            <a:prstGeom prst="rect">
              <a:avLst/>
            </a:prstGeom>
          </p:spPr>
        </p:pic>
        <p:sp>
          <p:nvSpPr>
            <p:cNvPr id="23" name="Rounded Rectangle 22"/>
            <p:cNvSpPr/>
            <p:nvPr/>
          </p:nvSpPr>
          <p:spPr>
            <a:xfrm>
              <a:off x="4526280" y="2029968"/>
              <a:ext cx="7132320" cy="69494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736592" y="2093976"/>
              <a:ext cx="5760720" cy="274320"/>
            </a:xfrm>
            <a:prstGeom prst="rect">
              <a:avLst/>
            </a:prstGeom>
            <a:noFill/>
          </p:spPr>
          <p:txBody>
            <a:bodyPr wrap="square" lIns="0" rIns="0" tIns="0" bIns="0" anchor="t">
              <a:spAutoFit/>
            </a:bodyPr>
            <a:lstStyle/>
            <a:p>
              <a:pPr algn="l"/>
              <a:r>
                <a:rPr sz="1400" b="0" i="0">
                  <a:solidFill>
                    <a:srgbClr val="0B1A5C"/>
                  </a:solidFill>
                  <a:latin typeface="Segoe UI Semibold"/>
                </a:rPr>
                <a:t>Reads anything</a:t>
              </a:r>
            </a:p>
          </p:txBody>
        </p:sp>
        <p:sp>
          <p:nvSpPr>
            <p:cNvPr id="25" name="TextBox 24"/>
            <p:cNvSpPr txBox="1"/>
            <p:nvPr/>
          </p:nvSpPr>
          <p:spPr>
            <a:xfrm>
              <a:off x="4736592" y="2359152"/>
              <a:ext cx="6766560" cy="347472"/>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Shelf-tag photos, flyers, app screenshots, WhatsApp schemes, PDFs, CSVs. Two independent reads + OCR; doubtful fields go to a person; hidden instructions quarantined.</a:t>
              </a:r>
            </a:p>
          </p:txBody>
        </p:sp>
        <p:sp>
          <p:nvSpPr>
            <p:cNvPr id="26" name="Rounded Rectangle 25"/>
            <p:cNvSpPr/>
            <p:nvPr/>
          </p:nvSpPr>
          <p:spPr>
            <a:xfrm>
              <a:off x="11131971" y="2121408"/>
              <a:ext cx="362036" cy="228600"/>
            </a:xfrm>
            <a:prstGeom prst="roundRect">
              <a:avLst>
                <a:gd name="adj" fmla="val 5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241699" y="2121408"/>
              <a:ext cx="186471" cy="228600"/>
            </a:xfrm>
            <a:prstGeom prst="rect">
              <a:avLst/>
            </a:prstGeom>
            <a:noFill/>
          </p:spPr>
          <p:txBody>
            <a:bodyPr wrap="none" lIns="0" rIns="0" tIns="0" bIns="0" anchor="ctr">
              <a:spAutoFit/>
            </a:bodyPr>
            <a:lstStyle/>
            <a:p>
              <a:pPr algn="ctr"/>
              <a:r>
                <a:rPr sz="850" b="0" i="0">
                  <a:solidFill>
                    <a:srgbClr val="0B1A5C"/>
                  </a:solidFill>
                  <a:latin typeface="Segoe UI Semibold"/>
                </a:rPr>
                <a:t>D3</a:t>
              </a:r>
            </a:p>
          </p:txBody>
        </p:sp>
      </p:grpSp>
      <p:grpSp>
        <p:nvGrpSpPr>
          <p:cNvPr id="39" name="map1"/>
          <p:cNvGrpSpPr/>
          <p:nvPr/>
        </p:nvGrpSpPr>
        <p:grpSpPr>
          <a:xfrm>
            <a:off x="548640" y="2816352"/>
            <a:ext cx="11109960" cy="694944"/>
            <a:chOff x="548640" y="2816352"/>
            <a:chExt cx="11109960" cy="694944"/>
          </a:xfrm>
        </p:grpSpPr>
        <p:sp>
          <p:nvSpPr>
            <p:cNvPr id="29" name="Rounded Rectangle 28"/>
            <p:cNvSpPr/>
            <p:nvPr/>
          </p:nvSpPr>
          <p:spPr>
            <a:xfrm>
              <a:off x="548640" y="2816352"/>
              <a:ext cx="3291840" cy="694944"/>
            </a:xfrm>
            <a:prstGeom prst="roundRect">
              <a:avLst>
                <a:gd name="adj" fmla="val 8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13232" y="2944368"/>
              <a:ext cx="438912" cy="43891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2944368"/>
              <a:ext cx="438912" cy="438912"/>
            </a:xfrm>
            <a:prstGeom prst="rect">
              <a:avLst/>
            </a:prstGeom>
            <a:noFill/>
          </p:spPr>
          <p:txBody>
            <a:bodyPr wrap="square" lIns="0" rIns="0" tIns="0" bIns="0" anchor="ctr">
              <a:spAutoFit/>
            </a:bodyPr>
            <a:lstStyle/>
            <a:p>
              <a:pPr algn="ctr"/>
              <a:r>
                <a:rPr sz="1150" b="0" i="0">
                  <a:solidFill>
                    <a:srgbClr val="FFFFFF"/>
                  </a:solidFill>
                  <a:latin typeface="Segoe UI Black"/>
                </a:rPr>
                <a:t>P2</a:t>
              </a:r>
            </a:p>
          </p:txBody>
        </p:sp>
        <p:sp>
          <p:nvSpPr>
            <p:cNvPr id="32" name="TextBox 31"/>
            <p:cNvSpPr txBox="1"/>
            <p:nvPr/>
          </p:nvSpPr>
          <p:spPr>
            <a:xfrm>
              <a:off x="1298448" y="2816352"/>
              <a:ext cx="2468880" cy="694944"/>
            </a:xfrm>
            <a:prstGeom prst="rect">
              <a:avLst/>
            </a:prstGeom>
            <a:noFill/>
          </p:spPr>
          <p:txBody>
            <a:bodyPr wrap="square" lIns="0" rIns="0" tIns="0" bIns="0" anchor="ctr">
              <a:spAutoFit/>
            </a:bodyPr>
            <a:lstStyle/>
            <a:p>
              <a:pPr algn="l"/>
              <a:r>
                <a:rPr sz="1250" b="0" i="0">
                  <a:solidFill>
                    <a:srgbClr val="0B1A5C"/>
                  </a:solidFill>
                  <a:latin typeface="Segoe UI Semibold"/>
                </a:rPr>
                <a:t>Slow, unproven planning</a:t>
              </a:r>
            </a:p>
          </p:txBody>
        </p:sp>
        <p:pic>
          <p:nvPicPr>
            <p:cNvPr id="33" name="Picture 32" descr="ArrowRight_grey.png"/>
            <p:cNvPicPr>
              <a:picLocks noChangeAspect="1"/>
            </p:cNvPicPr>
            <p:nvPr/>
          </p:nvPicPr>
          <p:blipFill>
            <a:blip r:embed="rId3"/>
            <a:stretch>
              <a:fillRect/>
            </a:stretch>
          </p:blipFill>
          <p:spPr>
            <a:xfrm>
              <a:off x="4050791" y="3035808"/>
              <a:ext cx="256032" cy="256032"/>
            </a:xfrm>
            <a:prstGeom prst="rect">
              <a:avLst/>
            </a:prstGeom>
          </p:spPr>
        </p:pic>
        <p:sp>
          <p:nvSpPr>
            <p:cNvPr id="34" name="Rounded Rectangle 33"/>
            <p:cNvSpPr/>
            <p:nvPr/>
          </p:nvSpPr>
          <p:spPr>
            <a:xfrm>
              <a:off x="4526280" y="2816352"/>
              <a:ext cx="7132320" cy="69494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736592" y="2880360"/>
              <a:ext cx="5760720" cy="274320"/>
            </a:xfrm>
            <a:prstGeom prst="rect">
              <a:avLst/>
            </a:prstGeom>
            <a:noFill/>
          </p:spPr>
          <p:txBody>
            <a:bodyPr wrap="square" lIns="0" rIns="0" tIns="0" bIns="0" anchor="t">
              <a:spAutoFit/>
            </a:bodyPr>
            <a:lstStyle/>
            <a:p>
              <a:pPr algn="l"/>
              <a:r>
                <a:rPr sz="1400" b="0" i="0">
                  <a:solidFill>
                    <a:srgbClr val="0B1A5C"/>
                  </a:solidFill>
                  <a:latin typeface="Segoe UI Semibold"/>
                </a:rPr>
                <a:t>One click in under 2 minutes, or full control in Promo Studio</a:t>
              </a:r>
            </a:p>
          </p:txBody>
        </p:sp>
        <p:sp>
          <p:nvSpPr>
            <p:cNvPr id="36" name="TextBox 35"/>
            <p:cNvSpPr txBox="1"/>
            <p:nvPr/>
          </p:nvSpPr>
          <p:spPr>
            <a:xfrm>
              <a:off x="4736592" y="3145536"/>
              <a:ext cx="6766560" cy="347472"/>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One-Click: festival template → Chronos-2 forecast → agent designs offers → Intelli AI verifies each one → kit. Promo Studio: your own brief, every offer's checks, sign-off tiers, live what-ifs.</a:t>
              </a:r>
            </a:p>
          </p:txBody>
        </p:sp>
        <p:sp>
          <p:nvSpPr>
            <p:cNvPr id="37" name="Rounded Rectangle 36"/>
            <p:cNvSpPr/>
            <p:nvPr/>
          </p:nvSpPr>
          <p:spPr>
            <a:xfrm>
              <a:off x="10711545" y="2907792"/>
              <a:ext cx="782462" cy="228600"/>
            </a:xfrm>
            <a:prstGeom prst="roundRect">
              <a:avLst>
                <a:gd name="adj" fmla="val 50000"/>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821273" y="2907792"/>
              <a:ext cx="606897" cy="228600"/>
            </a:xfrm>
            <a:prstGeom prst="rect">
              <a:avLst/>
            </a:prstGeom>
            <a:noFill/>
          </p:spPr>
          <p:txBody>
            <a:bodyPr wrap="none" lIns="0" rIns="0" tIns="0" bIns="0" anchor="ctr">
              <a:spAutoFit/>
            </a:bodyPr>
            <a:lstStyle/>
            <a:p>
              <a:pPr algn="ctr"/>
              <a:r>
                <a:rPr sz="850" b="0" i="0">
                  <a:solidFill>
                    <a:srgbClr val="F28A1A"/>
                  </a:solidFill>
                  <a:latin typeface="Segoe UI Semibold"/>
                </a:rPr>
                <a:t>Hero USP 1</a:t>
              </a:r>
            </a:p>
          </p:txBody>
        </p:sp>
      </p:grpSp>
      <p:grpSp>
        <p:nvGrpSpPr>
          <p:cNvPr id="50" name="map2"/>
          <p:cNvGrpSpPr/>
          <p:nvPr/>
        </p:nvGrpSpPr>
        <p:grpSpPr>
          <a:xfrm>
            <a:off x="548640" y="3602736"/>
            <a:ext cx="11109960" cy="694944"/>
            <a:chOff x="548640" y="3602736"/>
            <a:chExt cx="11109960" cy="694944"/>
          </a:xfrm>
        </p:grpSpPr>
        <p:sp>
          <p:nvSpPr>
            <p:cNvPr id="40" name="Rounded Rectangle 39"/>
            <p:cNvSpPr/>
            <p:nvPr/>
          </p:nvSpPr>
          <p:spPr>
            <a:xfrm>
              <a:off x="548640" y="3602736"/>
              <a:ext cx="3291840" cy="694944"/>
            </a:xfrm>
            <a:prstGeom prst="roundRect">
              <a:avLst>
                <a:gd name="adj" fmla="val 8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13232" y="3730752"/>
              <a:ext cx="438912" cy="43891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3730752"/>
              <a:ext cx="438912" cy="438912"/>
            </a:xfrm>
            <a:prstGeom prst="rect">
              <a:avLst/>
            </a:prstGeom>
            <a:noFill/>
          </p:spPr>
          <p:txBody>
            <a:bodyPr wrap="square" lIns="0" rIns="0" tIns="0" bIns="0" anchor="ctr">
              <a:spAutoFit/>
            </a:bodyPr>
            <a:lstStyle/>
            <a:p>
              <a:pPr algn="ctr"/>
              <a:r>
                <a:rPr sz="1150" b="0" i="0">
                  <a:solidFill>
                    <a:srgbClr val="FFFFFF"/>
                  </a:solidFill>
                  <a:latin typeface="Segoe UI Black"/>
                </a:rPr>
                <a:t>P3</a:t>
              </a:r>
            </a:p>
          </p:txBody>
        </p:sp>
        <p:sp>
          <p:nvSpPr>
            <p:cNvPr id="43" name="TextBox 42"/>
            <p:cNvSpPr txBox="1"/>
            <p:nvPr/>
          </p:nvSpPr>
          <p:spPr>
            <a:xfrm>
              <a:off x="1298448" y="3602736"/>
              <a:ext cx="2468880" cy="694944"/>
            </a:xfrm>
            <a:prstGeom prst="rect">
              <a:avLst/>
            </a:prstGeom>
            <a:noFill/>
          </p:spPr>
          <p:txBody>
            <a:bodyPr wrap="square" lIns="0" rIns="0" tIns="0" bIns="0" anchor="ctr">
              <a:spAutoFit/>
            </a:bodyPr>
            <a:lstStyle/>
            <a:p>
              <a:pPr algn="l"/>
              <a:r>
                <a:rPr sz="1250" b="0" i="0">
                  <a:solidFill>
                    <a:srgbClr val="0B1A5C"/>
                  </a:solidFill>
                  <a:latin typeface="Segoe UI Semibold"/>
                </a:rPr>
                <a:t>Daily price resets</a:t>
              </a:r>
            </a:p>
          </p:txBody>
        </p:sp>
        <p:pic>
          <p:nvPicPr>
            <p:cNvPr id="44" name="Picture 43" descr="ArrowRight_grey.png"/>
            <p:cNvPicPr>
              <a:picLocks noChangeAspect="1"/>
            </p:cNvPicPr>
            <p:nvPr/>
          </p:nvPicPr>
          <p:blipFill>
            <a:blip r:embed="rId3"/>
            <a:stretch>
              <a:fillRect/>
            </a:stretch>
          </p:blipFill>
          <p:spPr>
            <a:xfrm>
              <a:off x="4050791" y="3822192"/>
              <a:ext cx="256032" cy="256032"/>
            </a:xfrm>
            <a:prstGeom prst="rect">
              <a:avLst/>
            </a:prstGeom>
          </p:spPr>
        </p:pic>
        <p:sp>
          <p:nvSpPr>
            <p:cNvPr id="45" name="Rounded Rectangle 44"/>
            <p:cNvSpPr/>
            <p:nvPr/>
          </p:nvSpPr>
          <p:spPr>
            <a:xfrm>
              <a:off x="4526280" y="3602736"/>
              <a:ext cx="7132320" cy="69494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736592" y="3666744"/>
              <a:ext cx="5760720" cy="274320"/>
            </a:xfrm>
            <a:prstGeom prst="rect">
              <a:avLst/>
            </a:prstGeom>
            <a:noFill/>
          </p:spPr>
          <p:txBody>
            <a:bodyPr wrap="square" lIns="0" rIns="0" tIns="0" bIns="0" anchor="t">
              <a:spAutoFit/>
            </a:bodyPr>
            <a:lstStyle/>
            <a:p>
              <a:pPr algn="l"/>
              <a:r>
                <a:rPr sz="1400" b="0" i="0">
                  <a:solidFill>
                    <a:srgbClr val="0B1A5C"/>
                  </a:solidFill>
                  <a:latin typeface="Segoe UI Semibold"/>
                </a:rPr>
                <a:t>Forecasts and reacts</a:t>
              </a:r>
            </a:p>
          </p:txBody>
        </p:sp>
        <p:sp>
          <p:nvSpPr>
            <p:cNvPr id="47" name="TextBox 46"/>
            <p:cNvSpPr txBox="1"/>
            <p:nvPr/>
          </p:nvSpPr>
          <p:spPr>
            <a:xfrm>
              <a:off x="4736592" y="3931920"/>
              <a:ext cx="6766560" cy="347472"/>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Demand per product × city with P10–P90; competitor prices read from photos; live events (competitor cut, stock drop, budget cut) replan mid-festival with a diff.</a:t>
              </a:r>
            </a:p>
          </p:txBody>
        </p:sp>
        <p:sp>
          <p:nvSpPr>
            <p:cNvPr id="48" name="Rounded Rectangle 47"/>
            <p:cNvSpPr/>
            <p:nvPr/>
          </p:nvSpPr>
          <p:spPr>
            <a:xfrm>
              <a:off x="10860300" y="3694176"/>
              <a:ext cx="633707" cy="228600"/>
            </a:xfrm>
            <a:prstGeom prst="roundRect">
              <a:avLst>
                <a:gd name="adj" fmla="val 5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970028" y="3694176"/>
              <a:ext cx="458142" cy="228600"/>
            </a:xfrm>
            <a:prstGeom prst="rect">
              <a:avLst/>
            </a:prstGeom>
            <a:noFill/>
          </p:spPr>
          <p:txBody>
            <a:bodyPr wrap="none" lIns="0" rIns="0" tIns="0" bIns="0" anchor="ctr">
              <a:spAutoFit/>
            </a:bodyPr>
            <a:lstStyle/>
            <a:p>
              <a:pPr algn="ctr"/>
              <a:r>
                <a:rPr sz="850" b="0" i="0">
                  <a:solidFill>
                    <a:srgbClr val="0B1A5C"/>
                  </a:solidFill>
                  <a:latin typeface="Segoe UI Semibold"/>
                </a:rPr>
                <a:t>Live ops</a:t>
              </a:r>
            </a:p>
          </p:txBody>
        </p:sp>
      </p:grpSp>
      <p:grpSp>
        <p:nvGrpSpPr>
          <p:cNvPr id="61" name="map3"/>
          <p:cNvGrpSpPr/>
          <p:nvPr/>
        </p:nvGrpSpPr>
        <p:grpSpPr>
          <a:xfrm>
            <a:off x="548640" y="4389120"/>
            <a:ext cx="11109960" cy="694944"/>
            <a:chOff x="548640" y="4389120"/>
            <a:chExt cx="11109960" cy="694944"/>
          </a:xfrm>
        </p:grpSpPr>
        <p:sp>
          <p:nvSpPr>
            <p:cNvPr id="51" name="Rounded Rectangle 50"/>
            <p:cNvSpPr/>
            <p:nvPr/>
          </p:nvSpPr>
          <p:spPr>
            <a:xfrm>
              <a:off x="548640" y="4389120"/>
              <a:ext cx="3291840" cy="694944"/>
            </a:xfrm>
            <a:prstGeom prst="roundRect">
              <a:avLst>
                <a:gd name="adj" fmla="val 8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713232" y="4517136"/>
              <a:ext cx="438912" cy="43891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4517136"/>
              <a:ext cx="438912" cy="438912"/>
            </a:xfrm>
            <a:prstGeom prst="rect">
              <a:avLst/>
            </a:prstGeom>
            <a:noFill/>
          </p:spPr>
          <p:txBody>
            <a:bodyPr wrap="square" lIns="0" rIns="0" tIns="0" bIns="0" anchor="ctr">
              <a:spAutoFit/>
            </a:bodyPr>
            <a:lstStyle/>
            <a:p>
              <a:pPr algn="ctr"/>
              <a:r>
                <a:rPr sz="1150" b="0" i="0">
                  <a:solidFill>
                    <a:srgbClr val="FFFFFF"/>
                  </a:solidFill>
                  <a:latin typeface="Segoe UI Black"/>
                </a:rPr>
                <a:t>P4</a:t>
              </a:r>
            </a:p>
          </p:txBody>
        </p:sp>
        <p:sp>
          <p:nvSpPr>
            <p:cNvPr id="54" name="TextBox 53"/>
            <p:cNvSpPr txBox="1"/>
            <p:nvPr/>
          </p:nvSpPr>
          <p:spPr>
            <a:xfrm>
              <a:off x="1298448" y="4389120"/>
              <a:ext cx="2468880" cy="694944"/>
            </a:xfrm>
            <a:prstGeom prst="rect">
              <a:avLst/>
            </a:prstGeom>
            <a:noFill/>
          </p:spPr>
          <p:txBody>
            <a:bodyPr wrap="square" lIns="0" rIns="0" tIns="0" bIns="0" anchor="ctr">
              <a:spAutoFit/>
            </a:bodyPr>
            <a:lstStyle/>
            <a:p>
              <a:pPr algn="l"/>
              <a:r>
                <a:rPr sz="1250" b="0" i="0">
                  <a:solidFill>
                    <a:srgbClr val="0B1A5C"/>
                  </a:solidFill>
                  <a:latin typeface="Segoe UI Semibold"/>
                </a:rPr>
                <a:t>Compliance risk</a:t>
              </a:r>
            </a:p>
          </p:txBody>
        </p:sp>
        <p:pic>
          <p:nvPicPr>
            <p:cNvPr id="55" name="Picture 54" descr="ArrowRight_grey.png"/>
            <p:cNvPicPr>
              <a:picLocks noChangeAspect="1"/>
            </p:cNvPicPr>
            <p:nvPr/>
          </p:nvPicPr>
          <p:blipFill>
            <a:blip r:embed="rId3"/>
            <a:stretch>
              <a:fillRect/>
            </a:stretch>
          </p:blipFill>
          <p:spPr>
            <a:xfrm>
              <a:off x="4050791" y="4608576"/>
              <a:ext cx="256032" cy="256032"/>
            </a:xfrm>
            <a:prstGeom prst="rect">
              <a:avLst/>
            </a:prstGeom>
          </p:spPr>
        </p:pic>
        <p:sp>
          <p:nvSpPr>
            <p:cNvPr id="56" name="Rounded Rectangle 55"/>
            <p:cNvSpPr/>
            <p:nvPr/>
          </p:nvSpPr>
          <p:spPr>
            <a:xfrm>
              <a:off x="4526280" y="4389120"/>
              <a:ext cx="7132320" cy="69494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736592" y="4453128"/>
              <a:ext cx="5760720" cy="274320"/>
            </a:xfrm>
            <a:prstGeom prst="rect">
              <a:avLst/>
            </a:prstGeom>
            <a:noFill/>
          </p:spPr>
          <p:txBody>
            <a:bodyPr wrap="square" lIns="0" rIns="0" tIns="0" bIns="0" anchor="t">
              <a:spAutoFit/>
            </a:bodyPr>
            <a:lstStyle/>
            <a:p>
              <a:pPr algn="l"/>
              <a:r>
                <a:rPr sz="1400" b="0" i="0">
                  <a:solidFill>
                    <a:srgbClr val="0B1A5C"/>
                  </a:solidFill>
                  <a:latin typeface="Segoe UI Semibold"/>
                </a:rPr>
                <a:t>Verifies every rupee</a:t>
              </a:r>
            </a:p>
          </p:txBody>
        </p:sp>
        <p:sp>
          <p:nvSpPr>
            <p:cNvPr id="58" name="TextBox 57"/>
            <p:cNvSpPr txBox="1"/>
            <p:nvPr/>
          </p:nvSpPr>
          <p:spPr>
            <a:xfrm>
              <a:off x="4736592" y="4718304"/>
              <a:ext cx="6766560" cy="347472"/>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Never above MRP · honest % off against the 30-day low · same price for everyone · dark-pattern lint · checked by ShubhLabh's Intelli AI, with a confidence score.</a:t>
              </a:r>
            </a:p>
          </p:txBody>
        </p:sp>
        <p:sp>
          <p:nvSpPr>
            <p:cNvPr id="59" name="Rounded Rectangle 58"/>
            <p:cNvSpPr/>
            <p:nvPr/>
          </p:nvSpPr>
          <p:spPr>
            <a:xfrm>
              <a:off x="10694161" y="4480560"/>
              <a:ext cx="799846" cy="228600"/>
            </a:xfrm>
            <a:prstGeom prst="roundRect">
              <a:avLst>
                <a:gd name="adj" fmla="val 5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0803889" y="4480560"/>
              <a:ext cx="624281" cy="228600"/>
            </a:xfrm>
            <a:prstGeom prst="rect">
              <a:avLst/>
            </a:prstGeom>
            <a:noFill/>
          </p:spPr>
          <p:txBody>
            <a:bodyPr wrap="none" lIns="0" rIns="0" tIns="0" bIns="0" anchor="ctr">
              <a:spAutoFit/>
            </a:bodyPr>
            <a:lstStyle/>
            <a:p>
              <a:pPr algn="ctr"/>
              <a:r>
                <a:rPr sz="850" b="0" i="0">
                  <a:solidFill>
                    <a:srgbClr val="0B1A5C"/>
                  </a:solidFill>
                  <a:latin typeface="Segoe UI Semibold"/>
                </a:rPr>
                <a:t>Guard pack</a:t>
              </a:r>
            </a:p>
          </p:txBody>
        </p:sp>
      </p:grpSp>
      <p:grpSp>
        <p:nvGrpSpPr>
          <p:cNvPr id="72" name="map4"/>
          <p:cNvGrpSpPr/>
          <p:nvPr/>
        </p:nvGrpSpPr>
        <p:grpSpPr>
          <a:xfrm>
            <a:off x="548640" y="5175504"/>
            <a:ext cx="11109960" cy="694944"/>
            <a:chOff x="548640" y="5175504"/>
            <a:chExt cx="11109960" cy="694944"/>
          </a:xfrm>
        </p:grpSpPr>
        <p:sp>
          <p:nvSpPr>
            <p:cNvPr id="62" name="Rounded Rectangle 61"/>
            <p:cNvSpPr/>
            <p:nvPr/>
          </p:nvSpPr>
          <p:spPr>
            <a:xfrm>
              <a:off x="548640" y="5175504"/>
              <a:ext cx="3291840" cy="694944"/>
            </a:xfrm>
            <a:prstGeom prst="roundRect">
              <a:avLst>
                <a:gd name="adj" fmla="val 8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713232" y="5303520"/>
              <a:ext cx="438912" cy="43891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3232" y="5303520"/>
              <a:ext cx="438912" cy="438912"/>
            </a:xfrm>
            <a:prstGeom prst="rect">
              <a:avLst/>
            </a:prstGeom>
            <a:noFill/>
          </p:spPr>
          <p:txBody>
            <a:bodyPr wrap="square" lIns="0" rIns="0" tIns="0" bIns="0" anchor="ctr">
              <a:spAutoFit/>
            </a:bodyPr>
            <a:lstStyle/>
            <a:p>
              <a:pPr algn="ctr"/>
              <a:r>
                <a:rPr sz="1150" b="0" i="0">
                  <a:solidFill>
                    <a:srgbClr val="FFFFFF"/>
                  </a:solidFill>
                  <a:latin typeface="Segoe UI Black"/>
                </a:rPr>
                <a:t>P5</a:t>
              </a:r>
            </a:p>
          </p:txBody>
        </p:sp>
        <p:sp>
          <p:nvSpPr>
            <p:cNvPr id="65" name="TextBox 64"/>
            <p:cNvSpPr txBox="1"/>
            <p:nvPr/>
          </p:nvSpPr>
          <p:spPr>
            <a:xfrm>
              <a:off x="1298448" y="5175504"/>
              <a:ext cx="2468880" cy="694944"/>
            </a:xfrm>
            <a:prstGeom prst="rect">
              <a:avLst/>
            </a:prstGeom>
            <a:noFill/>
          </p:spPr>
          <p:txBody>
            <a:bodyPr wrap="square" lIns="0" rIns="0" tIns="0" bIns="0" anchor="ctr">
              <a:spAutoFit/>
            </a:bodyPr>
            <a:lstStyle/>
            <a:p>
              <a:pPr algn="l"/>
              <a:r>
                <a:rPr sz="1250" b="0" i="0">
                  <a:solidFill>
                    <a:srgbClr val="0B1A5C"/>
                  </a:solidFill>
                  <a:latin typeface="Segoe UI Semibold"/>
                </a:rPr>
                <a:t>No planner for kiranas</a:t>
              </a:r>
            </a:p>
          </p:txBody>
        </p:sp>
        <p:pic>
          <p:nvPicPr>
            <p:cNvPr id="66" name="Picture 65" descr="ArrowRight_grey.png"/>
            <p:cNvPicPr>
              <a:picLocks noChangeAspect="1"/>
            </p:cNvPicPr>
            <p:nvPr/>
          </p:nvPicPr>
          <p:blipFill>
            <a:blip r:embed="rId3"/>
            <a:stretch>
              <a:fillRect/>
            </a:stretch>
          </p:blipFill>
          <p:spPr>
            <a:xfrm>
              <a:off x="4050791" y="5394960"/>
              <a:ext cx="256032" cy="256032"/>
            </a:xfrm>
            <a:prstGeom prst="rect">
              <a:avLst/>
            </a:prstGeom>
          </p:spPr>
        </p:pic>
        <p:sp>
          <p:nvSpPr>
            <p:cNvPr id="67" name="Rounded Rectangle 66"/>
            <p:cNvSpPr/>
            <p:nvPr/>
          </p:nvSpPr>
          <p:spPr>
            <a:xfrm>
              <a:off x="4526280" y="5175504"/>
              <a:ext cx="7132320" cy="69494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736592" y="5239512"/>
              <a:ext cx="5760720" cy="274320"/>
            </a:xfrm>
            <a:prstGeom prst="rect">
              <a:avLst/>
            </a:prstGeom>
            <a:noFill/>
          </p:spPr>
          <p:txBody>
            <a:bodyPr wrap="square" lIns="0" rIns="0" tIns="0" bIns="0" anchor="t">
              <a:spAutoFit/>
            </a:bodyPr>
            <a:lstStyle/>
            <a:p>
              <a:pPr algn="l"/>
              <a:r>
                <a:rPr sz="1400" b="0" i="0">
                  <a:solidFill>
                    <a:srgbClr val="0B1A5C"/>
                  </a:solidFill>
                  <a:latin typeface="Segoe UI Semibold"/>
                </a:rPr>
                <a:t>ShubhLabh on WhatsApp</a:t>
              </a:r>
            </a:p>
          </p:txBody>
        </p:sp>
        <p:sp>
          <p:nvSpPr>
            <p:cNvPr id="69" name="TextBox 68"/>
            <p:cNvSpPr txBox="1"/>
            <p:nvPr/>
          </p:nvSpPr>
          <p:spPr>
            <a:xfrm>
              <a:off x="4736592" y="5504688"/>
              <a:ext cx="6766560" cy="347472"/>
            </a:xfrm>
            <a:prstGeom prst="rect">
              <a:avLst/>
            </a:prstGeom>
            <a:noFill/>
          </p:spPr>
          <p:txBody>
            <a:bodyPr wrap="square" lIns="0" rIns="0" tIns="0" bIns="0" anchor="t">
              <a:spAutoFit/>
            </a:bodyPr>
            <a:lstStyle/>
            <a:p>
              <a:pPr algn="l">
                <a:lnSpc>
                  <a:spcPct val="95000"/>
                </a:lnSpc>
              </a:pPr>
              <a:r>
                <a:rPr sz="1050" b="0" i="0">
                  <a:solidFill>
                    <a:srgbClr val="4B5563"/>
                  </a:solidFill>
                  <a:latin typeface="Segoe UI"/>
                </a:rPr>
                <a:t>Message +1 415 523 8886 or scan the QR: festival tips, an offer check with margin and break-even, a competitor price-tag photo read. English or Hinglish. No app, no login — you don't need the website.</a:t>
              </a:r>
            </a:p>
          </p:txBody>
        </p:sp>
        <p:sp>
          <p:nvSpPr>
            <p:cNvPr id="70" name="Rounded Rectangle 69"/>
            <p:cNvSpPr/>
            <p:nvPr/>
          </p:nvSpPr>
          <p:spPr>
            <a:xfrm>
              <a:off x="10694143" y="5266944"/>
              <a:ext cx="799864" cy="228600"/>
            </a:xfrm>
            <a:prstGeom prst="roundRect">
              <a:avLst>
                <a:gd name="adj" fmla="val 50000"/>
              </a:avLst>
            </a:prstGeom>
            <a:solidFill>
              <a:srgbClr val="EC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803871" y="5266944"/>
              <a:ext cx="624299" cy="228600"/>
            </a:xfrm>
            <a:prstGeom prst="rect">
              <a:avLst/>
            </a:prstGeom>
            <a:noFill/>
          </p:spPr>
          <p:txBody>
            <a:bodyPr wrap="none" lIns="0" rIns="0" tIns="0" bIns="0" anchor="ctr">
              <a:spAutoFit/>
            </a:bodyPr>
            <a:lstStyle/>
            <a:p>
              <a:pPr algn="ctr"/>
              <a:r>
                <a:rPr sz="850" b="0" i="0">
                  <a:solidFill>
                    <a:srgbClr val="138808"/>
                  </a:solidFill>
                  <a:latin typeface="Segoe UI Semibold"/>
                </a:rPr>
                <a:t>Hero USP 2</a:t>
              </a:r>
            </a:p>
          </p:txBody>
        </p:sp>
      </p:grpSp>
      <p:sp>
        <p:nvSpPr>
          <p:cNvPr id="73" name="TextBox 72"/>
          <p:cNvSpPr txBox="1"/>
          <p:nvPr/>
        </p:nvSpPr>
        <p:spPr>
          <a:xfrm>
            <a:off x="548640" y="6025896"/>
            <a:ext cx="11109960" cy="274320"/>
          </a:xfrm>
          <a:prstGeom prst="rect">
            <a:avLst/>
          </a:prstGeom>
          <a:noFill/>
        </p:spPr>
        <p:txBody>
          <a:bodyPr wrap="square" lIns="0" rIns="0" tIns="0" bIns="0" anchor="t">
            <a:spAutoFit/>
          </a:bodyPr>
          <a:lstStyle/>
          <a:p>
            <a:pPr algn="ctr"/>
            <a:r>
              <a:rPr sz="1250" b="0" i="1">
                <a:solidFill>
                  <a:srgbClr val="F28A1A"/>
                </a:solidFill>
                <a:latin typeface="Segoe UI Semibold"/>
              </a:rPr>
              <a:t>AI designs. ShubhLabh's Intelli AI verifies every rupee. A person approves. Built for WhatsApp — where India's kiranas already are.</a:t>
            </a:r>
          </a:p>
        </p:txBody>
      </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600"/>
                                        <p:tgtEl>
                                          <p:spTgt spid="28"/>
                                        </p:tgtEl>
                                      </p:cBhvr>
                                    </p:animEffect>
                                    <p:anim calcmode="lin" valueType="num">
                                      <p:cBhvr>
                                        <p:cTn id="8" dur="600" fill="hold"/>
                                        <p:tgtEl>
                                          <p:spTgt spid="28"/>
                                        </p:tgtEl>
                                        <p:attrNameLst>
                                          <p:attrName>ppt_x</p:attrName>
                                        </p:attrNameLst>
                                      </p:cBhvr>
                                      <p:tavLst>
                                        <p:tav tm="0">
                                          <p:val>
                                            <p:strVal val="#ppt_x"/>
                                          </p:val>
                                        </p:tav>
                                        <p:tav tm="100000">
                                          <p:val>
                                            <p:strVal val="#ppt_x"/>
                                          </p:val>
                                        </p:tav>
                                      </p:tavLst>
                                    </p:anim>
                                    <p:anim calcmode="lin" valueType="num">
                                      <p:cBhvr>
                                        <p:cTn id="9" dur="600" decel="100000" fill="hold"/>
                                        <p:tgtEl>
                                          <p:spTgt spid="28"/>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600"/>
                                        <p:tgtEl>
                                          <p:spTgt spid="39"/>
                                        </p:tgtEl>
                                      </p:cBhvr>
                                    </p:animEffect>
                                    <p:anim calcmode="lin" valueType="num">
                                      <p:cBhvr>
                                        <p:cTn id="14" dur="600" fill="hold"/>
                                        <p:tgtEl>
                                          <p:spTgt spid="39"/>
                                        </p:tgtEl>
                                        <p:attrNameLst>
                                          <p:attrName>ppt_x</p:attrName>
                                        </p:attrNameLst>
                                      </p:cBhvr>
                                      <p:tavLst>
                                        <p:tav tm="0">
                                          <p:val>
                                            <p:strVal val="#ppt_x"/>
                                          </p:val>
                                        </p:tav>
                                        <p:tav tm="100000">
                                          <p:val>
                                            <p:strVal val="#ppt_x"/>
                                          </p:val>
                                        </p:tav>
                                      </p:tavLst>
                                    </p:anim>
                                    <p:anim calcmode="lin" valueType="num">
                                      <p:cBhvr>
                                        <p:cTn id="15" dur="600" decel="100000" fill="hold"/>
                                        <p:tgtEl>
                                          <p:spTgt spid="39"/>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600"/>
                                        <p:tgtEl>
                                          <p:spTgt spid="50"/>
                                        </p:tgtEl>
                                      </p:cBhvr>
                                    </p:animEffect>
                                    <p:anim calcmode="lin" valueType="num">
                                      <p:cBhvr>
                                        <p:cTn id="20" dur="600" fill="hold"/>
                                        <p:tgtEl>
                                          <p:spTgt spid="50"/>
                                        </p:tgtEl>
                                        <p:attrNameLst>
                                          <p:attrName>ppt_x</p:attrName>
                                        </p:attrNameLst>
                                      </p:cBhvr>
                                      <p:tavLst>
                                        <p:tav tm="0">
                                          <p:val>
                                            <p:strVal val="#ppt_x"/>
                                          </p:val>
                                        </p:tav>
                                        <p:tav tm="100000">
                                          <p:val>
                                            <p:strVal val="#ppt_x"/>
                                          </p:val>
                                        </p:tav>
                                      </p:tavLst>
                                    </p:anim>
                                    <p:anim calcmode="lin" valueType="num">
                                      <p:cBhvr>
                                        <p:cTn id="21" dur="600" decel="100000" fill="hold"/>
                                        <p:tgtEl>
                                          <p:spTgt spid="50"/>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61"/>
                                        </p:tgtEl>
                                        <p:attrNameLst>
                                          <p:attrName>style.visibility</p:attrName>
                                        </p:attrNameLst>
                                      </p:cBhvr>
                                      <p:to>
                                        <p:strVal val="visible"/>
                                      </p:to>
                                    </p:set>
                                    <p:animEffect transition="in" filter="fade">
                                      <p:cBhvr>
                                        <p:cTn id="25" dur="600"/>
                                        <p:tgtEl>
                                          <p:spTgt spid="61"/>
                                        </p:tgtEl>
                                      </p:cBhvr>
                                    </p:animEffect>
                                    <p:anim calcmode="lin" valueType="num">
                                      <p:cBhvr>
                                        <p:cTn id="26" dur="600" fill="hold"/>
                                        <p:tgtEl>
                                          <p:spTgt spid="61"/>
                                        </p:tgtEl>
                                        <p:attrNameLst>
                                          <p:attrName>ppt_x</p:attrName>
                                        </p:attrNameLst>
                                      </p:cBhvr>
                                      <p:tavLst>
                                        <p:tav tm="0">
                                          <p:val>
                                            <p:strVal val="#ppt_x"/>
                                          </p:val>
                                        </p:tav>
                                        <p:tav tm="100000">
                                          <p:val>
                                            <p:strVal val="#ppt_x"/>
                                          </p:val>
                                        </p:tav>
                                      </p:tavLst>
                                    </p:anim>
                                    <p:anim calcmode="lin" valueType="num">
                                      <p:cBhvr>
                                        <p:cTn id="27" dur="600" decel="100000" fill="hold"/>
                                        <p:tgtEl>
                                          <p:spTgt spid="61"/>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72"/>
                                        </p:tgtEl>
                                        <p:attrNameLst>
                                          <p:attrName>style.visibility</p:attrName>
                                        </p:attrNameLst>
                                      </p:cBhvr>
                                      <p:to>
                                        <p:strVal val="visible"/>
                                      </p:to>
                                    </p:set>
                                    <p:animEffect transition="in" filter="fade">
                                      <p:cBhvr>
                                        <p:cTn id="31" dur="600"/>
                                        <p:tgtEl>
                                          <p:spTgt spid="72"/>
                                        </p:tgtEl>
                                      </p:cBhvr>
                                    </p:animEffect>
                                    <p:anim calcmode="lin" valueType="num">
                                      <p:cBhvr>
                                        <p:cTn id="32" dur="600" fill="hold"/>
                                        <p:tgtEl>
                                          <p:spTgt spid="72"/>
                                        </p:tgtEl>
                                        <p:attrNameLst>
                                          <p:attrName>ppt_x</p:attrName>
                                        </p:attrNameLst>
                                      </p:cBhvr>
                                      <p:tavLst>
                                        <p:tav tm="0">
                                          <p:val>
                                            <p:strVal val="#ppt_x"/>
                                          </p:val>
                                        </p:tav>
                                        <p:tav tm="100000">
                                          <p:val>
                                            <p:strVal val="#ppt_x"/>
                                          </p:val>
                                        </p:tav>
                                      </p:tavLst>
                                    </p:anim>
                                    <p:anim calcmode="lin" valueType="num">
                                      <p:cBhvr>
                                        <p:cTn id="33" dur="600" decel="100000" fill="hold"/>
                                        <p:tgtEl>
                                          <p:spTgt spid="72"/>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600"/>
                                        <p:tgtEl>
                                          <p:spTgt spid="73"/>
                                        </p:tgtEl>
                                      </p:cBhvr>
                                    </p:animEffect>
                                    <p:anim calcmode="lin" valueType="num">
                                      <p:cBhvr>
                                        <p:cTn id="38" dur="600" fill="hold"/>
                                        <p:tgtEl>
                                          <p:spTgt spid="73"/>
                                        </p:tgtEl>
                                        <p:attrNameLst>
                                          <p:attrName>ppt_x</p:attrName>
                                        </p:attrNameLst>
                                      </p:cBhvr>
                                      <p:tavLst>
                                        <p:tav tm="0">
                                          <p:val>
                                            <p:strVal val="#ppt_x"/>
                                          </p:val>
                                        </p:tav>
                                        <p:tav tm="100000">
                                          <p:val>
                                            <p:strVal val="#ppt_x"/>
                                          </p:val>
                                        </p:tav>
                                      </p:tavLst>
                                    </p:anim>
                                    <p:anim calcmode="lin" valueType="num">
                                      <p:cBhvr>
                                        <p:cTn id="39" dur="600" decel="100000" fill="hold"/>
                                        <p:tgtEl>
                                          <p:spTgt spid="7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05</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yers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Architecture · Powered by agentic AI</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Six layers: evidence in, </a:t>
            </a:r>
            <a:r>
              <a:rPr sz="3600" b="0" i="0">
                <a:solidFill>
                  <a:srgbClr val="138808"/>
                </a:solidFill>
                <a:latin typeface="Segoe UI Black"/>
              </a:rPr>
              <a:t>verified offers</a:t>
            </a:r>
            <a:r>
              <a:rPr sz="3600" b="0" i="0">
                <a:solidFill>
                  <a:srgbClr val="0B1A5C"/>
                </a:solidFill>
                <a:latin typeface="Segoe UI Black"/>
              </a:rPr>
              <a:t> out</a:t>
            </a:r>
          </a:p>
        </p:txBody>
      </p:sp>
      <p:grpSp>
        <p:nvGrpSpPr>
          <p:cNvPr id="120" name="l1"/>
          <p:cNvGrpSpPr/>
          <p:nvPr/>
        </p:nvGrpSpPr>
        <p:grpSpPr>
          <a:xfrm>
            <a:off x="576071" y="1874519"/>
            <a:ext cx="10607041" cy="3186684"/>
            <a:chOff x="576071" y="1874519"/>
            <a:chExt cx="10607041" cy="3186684"/>
          </a:xfrm>
        </p:grpSpPr>
        <p:sp>
          <p:nvSpPr>
            <p:cNvPr id="12" name="Rectangle 11"/>
            <p:cNvSpPr/>
            <p:nvPr/>
          </p:nvSpPr>
          <p:spPr>
            <a:xfrm>
              <a:off x="738835" y="2135124"/>
              <a:ext cx="21945" cy="2926079"/>
            </a:xfrm>
            <a:prstGeom prst="rect">
              <a:avLst/>
            </a:prstGeom>
            <a:solidFill>
              <a:srgbClr val="C9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28" name="layer0"/>
            <p:cNvGrpSpPr/>
            <p:nvPr/>
          </p:nvGrpSpPr>
          <p:grpSpPr>
            <a:xfrm>
              <a:off x="576071" y="1874519"/>
              <a:ext cx="10607041" cy="521207"/>
              <a:chOff x="576071" y="1874519"/>
              <a:chExt cx="10607041" cy="521207"/>
            </a:xfrm>
          </p:grpSpPr>
          <p:sp>
            <p:nvSpPr>
              <p:cNvPr id="13" name="Rounded Rectangle 12"/>
              <p:cNvSpPr/>
              <p:nvPr/>
            </p:nvSpPr>
            <p:spPr>
              <a:xfrm>
                <a:off x="1069848" y="1874519"/>
                <a:ext cx="10113264" cy="521207"/>
              </a:xfrm>
              <a:prstGeom prst="roundRect">
                <a:avLst>
                  <a:gd name="adj" fmla="val 14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76071" y="1961388"/>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1" y="1961388"/>
                <a:ext cx="347472" cy="347472"/>
              </a:xfrm>
              <a:prstGeom prst="rect">
                <a:avLst/>
              </a:prstGeom>
              <a:noFill/>
            </p:spPr>
            <p:txBody>
              <a:bodyPr wrap="square" lIns="0" rIns="0" tIns="0" bIns="0" anchor="ctr">
                <a:spAutoFit/>
              </a:bodyPr>
              <a:lstStyle/>
              <a:p>
                <a:pPr algn="ctr"/>
                <a:r>
                  <a:rPr sz="1200" b="0" i="0">
                    <a:solidFill>
                      <a:srgbClr val="FFFFFF"/>
                    </a:solidFill>
                    <a:latin typeface="Segoe UI Black"/>
                  </a:rPr>
                  <a:t>1</a:t>
                </a:r>
              </a:p>
            </p:txBody>
          </p:sp>
          <p:sp>
            <p:nvSpPr>
              <p:cNvPr id="16" name="TextBox 15"/>
              <p:cNvSpPr txBox="1"/>
              <p:nvPr/>
            </p:nvSpPr>
            <p:spPr>
              <a:xfrm>
                <a:off x="1216151" y="1938527"/>
                <a:ext cx="1738336" cy="219456"/>
              </a:xfrm>
              <a:prstGeom prst="rect">
                <a:avLst/>
              </a:prstGeom>
              <a:noFill/>
            </p:spPr>
            <p:txBody>
              <a:bodyPr wrap="none" lIns="0" rIns="0" tIns="0" bIns="0" anchor="t">
                <a:spAutoFit/>
              </a:bodyPr>
              <a:lstStyle/>
              <a:p>
                <a:pPr algn="l"/>
                <a:r>
                  <a:rPr sz="1050" b="0" i="0">
                    <a:solidFill>
                      <a:srgbClr val="0B1A5C"/>
                    </a:solidFill>
                    <a:latin typeface="Segoe UI Semibold"/>
                  </a:rPr>
                  <a:t>Inputs</a:t>
                </a:r>
              </a:p>
            </p:txBody>
          </p:sp>
          <p:sp>
            <p:nvSpPr>
              <p:cNvPr id="17" name="TextBox 16"/>
              <p:cNvSpPr txBox="1"/>
              <p:nvPr/>
            </p:nvSpPr>
            <p:spPr>
              <a:xfrm>
                <a:off x="1216151" y="2148839"/>
                <a:ext cx="1738336" cy="182880"/>
              </a:xfrm>
              <a:prstGeom prst="rect">
                <a:avLst/>
              </a:prstGeom>
              <a:noFill/>
            </p:spPr>
            <p:txBody>
              <a:bodyPr wrap="none" lIns="0" rIns="0" tIns="0" bIns="0" anchor="t">
                <a:spAutoFit/>
              </a:bodyPr>
              <a:lstStyle/>
              <a:p>
                <a:pPr algn="l"/>
                <a:r>
                  <a:rPr sz="850" b="0" i="0">
                    <a:solidFill>
                      <a:srgbClr val="6B7280"/>
                    </a:solidFill>
                    <a:latin typeface="Segoe UI"/>
                  </a:rPr>
                  <a:t>anything the team has</a:t>
                </a:r>
              </a:p>
            </p:txBody>
          </p:sp>
          <p:sp>
            <p:nvSpPr>
              <p:cNvPr id="18" name="Rounded Rectangle 17"/>
              <p:cNvSpPr/>
              <p:nvPr/>
            </p:nvSpPr>
            <p:spPr>
              <a:xfrm>
                <a:off x="3064216" y="1938527"/>
                <a:ext cx="1153075"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5656" y="1938527"/>
                <a:ext cx="970195"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Brief in English or Hinglish</a:t>
                </a:r>
              </a:p>
            </p:txBody>
          </p:sp>
          <p:sp>
            <p:nvSpPr>
              <p:cNvPr id="20" name="Rounded Rectangle 19"/>
              <p:cNvSpPr/>
              <p:nvPr/>
            </p:nvSpPr>
            <p:spPr>
              <a:xfrm>
                <a:off x="4290443" y="1938527"/>
                <a:ext cx="2235689"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381883" y="1938527"/>
                <a:ext cx="2052809"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Shelf‑tag photos · flyers · app screenshots · WhatsApp images</a:t>
                </a:r>
              </a:p>
            </p:txBody>
          </p:sp>
          <p:sp>
            <p:nvSpPr>
              <p:cNvPr id="22" name="Rounded Rectangle 21"/>
              <p:cNvSpPr/>
              <p:nvPr/>
            </p:nvSpPr>
            <p:spPr>
              <a:xfrm>
                <a:off x="6599284" y="1938527"/>
                <a:ext cx="1120700"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690724" y="1938527"/>
                <a:ext cx="937820"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HQ policy &amp; price‑list PDFs</a:t>
                </a:r>
              </a:p>
            </p:txBody>
          </p:sp>
          <p:sp>
            <p:nvSpPr>
              <p:cNvPr id="24" name="Rounded Rectangle 23"/>
              <p:cNvSpPr/>
              <p:nvPr/>
            </p:nvSpPr>
            <p:spPr>
              <a:xfrm>
                <a:off x="7793137" y="1938527"/>
                <a:ext cx="1665606"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84577" y="1938527"/>
                <a:ext cx="1482726"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Sales · stock · competitor CSV / Excel</a:t>
                </a:r>
              </a:p>
            </p:txBody>
          </p:sp>
          <p:sp>
            <p:nvSpPr>
              <p:cNvPr id="26" name="Rounded Rectangle 25"/>
              <p:cNvSpPr/>
              <p:nvPr/>
            </p:nvSpPr>
            <p:spPr>
              <a:xfrm>
                <a:off x="9531895" y="1938527"/>
                <a:ext cx="1541488"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23335" y="1938527"/>
                <a:ext cx="1358608"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WhatsApp messages from kiranas</a:t>
                </a:r>
              </a:p>
            </p:txBody>
          </p:sp>
        </p:grpSp>
      </p:grpSp>
      <p:grpSp>
        <p:nvGrpSpPr>
          <p:cNvPr id="44" name="layer1"/>
          <p:cNvGrpSpPr/>
          <p:nvPr/>
        </p:nvGrpSpPr>
        <p:grpSpPr>
          <a:xfrm>
            <a:off x="576071" y="2459735"/>
            <a:ext cx="10607041" cy="521207"/>
            <a:chOff x="576071" y="2459735"/>
            <a:chExt cx="10607041" cy="521207"/>
          </a:xfrm>
        </p:grpSpPr>
        <p:sp>
          <p:nvSpPr>
            <p:cNvPr id="29" name="Rounded Rectangle 28"/>
            <p:cNvSpPr/>
            <p:nvPr/>
          </p:nvSpPr>
          <p:spPr>
            <a:xfrm>
              <a:off x="1069848" y="2459735"/>
              <a:ext cx="10113264" cy="521207"/>
            </a:xfrm>
            <a:prstGeom prst="roundRect">
              <a:avLst>
                <a:gd name="adj" fmla="val 14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576071" y="2546603"/>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71" y="2546603"/>
              <a:ext cx="347472" cy="347472"/>
            </a:xfrm>
            <a:prstGeom prst="rect">
              <a:avLst/>
            </a:prstGeom>
            <a:noFill/>
          </p:spPr>
          <p:txBody>
            <a:bodyPr wrap="square" lIns="0" rIns="0" tIns="0" bIns="0" anchor="ctr">
              <a:spAutoFit/>
            </a:bodyPr>
            <a:lstStyle/>
            <a:p>
              <a:pPr algn="ctr"/>
              <a:r>
                <a:rPr sz="1200" b="0" i="0">
                  <a:solidFill>
                    <a:srgbClr val="FFFFFF"/>
                  </a:solidFill>
                  <a:latin typeface="Segoe UI Black"/>
                </a:rPr>
                <a:t>2</a:t>
              </a:r>
            </a:p>
          </p:txBody>
        </p:sp>
        <p:sp>
          <p:nvSpPr>
            <p:cNvPr id="32" name="TextBox 31"/>
            <p:cNvSpPr txBox="1"/>
            <p:nvPr/>
          </p:nvSpPr>
          <p:spPr>
            <a:xfrm>
              <a:off x="1216151" y="2523743"/>
              <a:ext cx="1738336" cy="219456"/>
            </a:xfrm>
            <a:prstGeom prst="rect">
              <a:avLst/>
            </a:prstGeom>
            <a:noFill/>
          </p:spPr>
          <p:txBody>
            <a:bodyPr wrap="none" lIns="0" rIns="0" tIns="0" bIns="0" anchor="t">
              <a:spAutoFit/>
            </a:bodyPr>
            <a:lstStyle/>
            <a:p>
              <a:pPr algn="l"/>
              <a:r>
                <a:rPr sz="1050" b="0" i="0">
                  <a:solidFill>
                    <a:srgbClr val="0B1A5C"/>
                  </a:solidFill>
                  <a:latin typeface="Segoe UI Semibold"/>
                </a:rPr>
                <a:t>Reading &amp; verification</a:t>
              </a:r>
            </a:p>
          </p:txBody>
        </p:sp>
        <p:sp>
          <p:nvSpPr>
            <p:cNvPr id="33" name="TextBox 32"/>
            <p:cNvSpPr txBox="1"/>
            <p:nvPr/>
          </p:nvSpPr>
          <p:spPr>
            <a:xfrm>
              <a:off x="1216151" y="2734055"/>
              <a:ext cx="1738336" cy="182880"/>
            </a:xfrm>
            <a:prstGeom prst="rect">
              <a:avLst/>
            </a:prstGeom>
            <a:noFill/>
          </p:spPr>
          <p:txBody>
            <a:bodyPr wrap="none" lIns="0" rIns="0" tIns="0" bIns="0" anchor="t">
              <a:spAutoFit/>
            </a:bodyPr>
            <a:lstStyle/>
            <a:p>
              <a:pPr algn="l"/>
              <a:r>
                <a:rPr sz="850" b="0" i="0">
                  <a:solidFill>
                    <a:srgbClr val="6B7280"/>
                  </a:solidFill>
                  <a:latin typeface="Segoe UI"/>
                </a:rPr>
                <a:t>two reads must agree</a:t>
              </a:r>
            </a:p>
          </p:txBody>
        </p:sp>
        <p:sp>
          <p:nvSpPr>
            <p:cNvPr id="34" name="Rounded Rectangle 33"/>
            <p:cNvSpPr/>
            <p:nvPr/>
          </p:nvSpPr>
          <p:spPr>
            <a:xfrm>
              <a:off x="3064216" y="2523743"/>
              <a:ext cx="1851782"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155656" y="2523743"/>
              <a:ext cx="1668902"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Vision read — gpt‑4.1‑mini, strict JSON, no tools</a:t>
              </a:r>
            </a:p>
          </p:txBody>
        </p:sp>
        <p:sp>
          <p:nvSpPr>
            <p:cNvPr id="36" name="Rounded Rectangle 35"/>
            <p:cNvSpPr/>
            <p:nvPr/>
          </p:nvSpPr>
          <p:spPr>
            <a:xfrm>
              <a:off x="4989151" y="2523743"/>
              <a:ext cx="1120735"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080591" y="2523743"/>
              <a:ext cx="937855"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RapidOCR local read + parser</a:t>
              </a:r>
            </a:p>
          </p:txBody>
        </p:sp>
        <p:sp>
          <p:nvSpPr>
            <p:cNvPr id="38" name="Rounded Rectangle 37"/>
            <p:cNvSpPr/>
            <p:nvPr/>
          </p:nvSpPr>
          <p:spPr>
            <a:xfrm>
              <a:off x="6183039" y="2523743"/>
              <a:ext cx="2120021"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274479" y="2523743"/>
              <a:ext cx="1937141"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Agree + locate → confidence · ≥ 0.90 auto‑accept, else a person</a:t>
              </a:r>
            </a:p>
          </p:txBody>
        </p:sp>
        <p:sp>
          <p:nvSpPr>
            <p:cNvPr id="40" name="Rounded Rectangle 39"/>
            <p:cNvSpPr/>
            <p:nvPr/>
          </p:nvSpPr>
          <p:spPr>
            <a:xfrm>
              <a:off x="8376212" y="2523743"/>
              <a:ext cx="1392288"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467652" y="2523743"/>
              <a:ext cx="1209408"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Injection quarantine · PII redaction</a:t>
              </a:r>
            </a:p>
          </p:txBody>
        </p:sp>
        <p:sp>
          <p:nvSpPr>
            <p:cNvPr id="42" name="Rounded Rectangle 41"/>
            <p:cNvSpPr/>
            <p:nvPr/>
          </p:nvSpPr>
          <p:spPr>
            <a:xfrm>
              <a:off x="9841653" y="2523743"/>
              <a:ext cx="1231730"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933093" y="2523743"/>
              <a:ext cx="1048850"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Brief compiler → typed constraints</a:t>
              </a:r>
            </a:p>
          </p:txBody>
        </p:sp>
      </p:grpSp>
      <p:grpSp>
        <p:nvGrpSpPr>
          <p:cNvPr id="60" name="layer2"/>
          <p:cNvGrpSpPr/>
          <p:nvPr/>
        </p:nvGrpSpPr>
        <p:grpSpPr>
          <a:xfrm>
            <a:off x="576071" y="3044951"/>
            <a:ext cx="10607041" cy="521207"/>
            <a:chOff x="576071" y="3044951"/>
            <a:chExt cx="10607041" cy="521207"/>
          </a:xfrm>
        </p:grpSpPr>
        <p:sp>
          <p:nvSpPr>
            <p:cNvPr id="45" name="Rounded Rectangle 44"/>
            <p:cNvSpPr/>
            <p:nvPr/>
          </p:nvSpPr>
          <p:spPr>
            <a:xfrm>
              <a:off x="1069848" y="3044951"/>
              <a:ext cx="10113264" cy="521207"/>
            </a:xfrm>
            <a:prstGeom prst="roundRect">
              <a:avLst>
                <a:gd name="adj" fmla="val 14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576071" y="3131820"/>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1" y="3131820"/>
              <a:ext cx="347472" cy="347472"/>
            </a:xfrm>
            <a:prstGeom prst="rect">
              <a:avLst/>
            </a:prstGeom>
            <a:noFill/>
          </p:spPr>
          <p:txBody>
            <a:bodyPr wrap="square" lIns="0" rIns="0" tIns="0" bIns="0" anchor="ctr">
              <a:spAutoFit/>
            </a:bodyPr>
            <a:lstStyle/>
            <a:p>
              <a:pPr algn="ctr"/>
              <a:r>
                <a:rPr sz="1200" b="0" i="0">
                  <a:solidFill>
                    <a:srgbClr val="FFFFFF"/>
                  </a:solidFill>
                  <a:latin typeface="Segoe UI Black"/>
                </a:rPr>
                <a:t>3</a:t>
              </a:r>
            </a:p>
          </p:txBody>
        </p:sp>
        <p:sp>
          <p:nvSpPr>
            <p:cNvPr id="48" name="TextBox 47"/>
            <p:cNvSpPr txBox="1"/>
            <p:nvPr/>
          </p:nvSpPr>
          <p:spPr>
            <a:xfrm>
              <a:off x="1216151" y="3108959"/>
              <a:ext cx="1738336" cy="219456"/>
            </a:xfrm>
            <a:prstGeom prst="rect">
              <a:avLst/>
            </a:prstGeom>
            <a:noFill/>
          </p:spPr>
          <p:txBody>
            <a:bodyPr wrap="none" lIns="0" rIns="0" tIns="0" bIns="0" anchor="t">
              <a:spAutoFit/>
            </a:bodyPr>
            <a:lstStyle/>
            <a:p>
              <a:pPr algn="l"/>
              <a:r>
                <a:rPr sz="1050" b="0" i="0">
                  <a:solidFill>
                    <a:srgbClr val="0B1A5C"/>
                  </a:solidFill>
                  <a:latin typeface="Segoe UI Semibold"/>
                </a:rPr>
                <a:t>Forecasting &amp; optimisation</a:t>
              </a:r>
            </a:p>
          </p:txBody>
        </p:sp>
        <p:sp>
          <p:nvSpPr>
            <p:cNvPr id="49" name="TextBox 48"/>
            <p:cNvSpPr txBox="1"/>
            <p:nvPr/>
          </p:nvSpPr>
          <p:spPr>
            <a:xfrm>
              <a:off x="1216151" y="3319271"/>
              <a:ext cx="1738336" cy="182880"/>
            </a:xfrm>
            <a:prstGeom prst="rect">
              <a:avLst/>
            </a:prstGeom>
            <a:noFill/>
          </p:spPr>
          <p:txBody>
            <a:bodyPr wrap="none" lIns="0" rIns="0" tIns="0" bIns="0" anchor="t">
              <a:spAutoFit/>
            </a:bodyPr>
            <a:lstStyle/>
            <a:p>
              <a:pPr algn="l"/>
              <a:r>
                <a:rPr sz="850" b="0" i="0">
                  <a:solidFill>
                    <a:srgbClr val="6B7280"/>
                  </a:solidFill>
                  <a:latin typeface="Segoe UI"/>
                </a:rPr>
                <a:t>deterministic code</a:t>
              </a:r>
            </a:p>
          </p:txBody>
        </p:sp>
        <p:sp>
          <p:nvSpPr>
            <p:cNvPr id="50" name="Rounded Rectangle 49"/>
            <p:cNvSpPr/>
            <p:nvPr/>
          </p:nvSpPr>
          <p:spPr>
            <a:xfrm>
              <a:off x="3064216" y="3108959"/>
              <a:ext cx="1773205"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155656" y="3108959"/>
              <a:ext cx="1590325"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Chronos‑2 demand forecast per product × city · P10–P90</a:t>
              </a:r>
            </a:p>
          </p:txBody>
        </p:sp>
        <p:sp>
          <p:nvSpPr>
            <p:cNvPr id="52" name="Rounded Rectangle 51"/>
            <p:cNvSpPr/>
            <p:nvPr/>
          </p:nvSpPr>
          <p:spPr>
            <a:xfrm>
              <a:off x="4910574" y="3108959"/>
              <a:ext cx="1584963"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002014" y="3108959"/>
              <a:ext cx="1402083"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Price response calibrated on 4.85M real records</a:t>
              </a:r>
            </a:p>
          </p:txBody>
        </p:sp>
        <p:sp>
          <p:nvSpPr>
            <p:cNvPr id="54" name="Rounded Rectangle 53"/>
            <p:cNvSpPr/>
            <p:nvPr/>
          </p:nvSpPr>
          <p:spPr>
            <a:xfrm>
              <a:off x="6568689" y="3108959"/>
              <a:ext cx="1465899"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660129" y="3108959"/>
              <a:ext cx="1283019"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Candidates: markdown · coupon · bundle</a:t>
              </a:r>
            </a:p>
          </p:txBody>
        </p:sp>
        <p:sp>
          <p:nvSpPr>
            <p:cNvPr id="56" name="Rounded Rectangle 55"/>
            <p:cNvSpPr/>
            <p:nvPr/>
          </p:nvSpPr>
          <p:spPr>
            <a:xfrm>
              <a:off x="8107741" y="3108959"/>
              <a:ext cx="1530069"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199181" y="3108959"/>
              <a:ext cx="1347189"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OR‑Tools CP‑SAT solver + recovery ladder</a:t>
              </a:r>
            </a:p>
          </p:txBody>
        </p:sp>
        <p:sp>
          <p:nvSpPr>
            <p:cNvPr id="58" name="Rounded Rectangle 57"/>
            <p:cNvSpPr/>
            <p:nvPr/>
          </p:nvSpPr>
          <p:spPr>
            <a:xfrm>
              <a:off x="9710962" y="3108959"/>
              <a:ext cx="1362421"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802402" y="3108959"/>
              <a:ext cx="1179541"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Monte Carlo risk check · 200 scenarios</a:t>
              </a:r>
            </a:p>
          </p:txBody>
        </p:sp>
      </p:grpSp>
      <p:grpSp>
        <p:nvGrpSpPr>
          <p:cNvPr id="80" name="layer3"/>
          <p:cNvGrpSpPr/>
          <p:nvPr/>
        </p:nvGrpSpPr>
        <p:grpSpPr>
          <a:xfrm>
            <a:off x="576071" y="3630168"/>
            <a:ext cx="10607041" cy="521207"/>
            <a:chOff x="576071" y="3630168"/>
            <a:chExt cx="10607041" cy="521207"/>
          </a:xfrm>
        </p:grpSpPr>
        <p:sp>
          <p:nvSpPr>
            <p:cNvPr id="61" name="Rounded Rectangle 60"/>
            <p:cNvSpPr/>
            <p:nvPr/>
          </p:nvSpPr>
          <p:spPr>
            <a:xfrm>
              <a:off x="1069848" y="3630168"/>
              <a:ext cx="10113264" cy="521207"/>
            </a:xfrm>
            <a:prstGeom prst="roundRect">
              <a:avLst>
                <a:gd name="adj" fmla="val 14000"/>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576071" y="3717035"/>
              <a:ext cx="347472" cy="347472"/>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76071" y="3717035"/>
              <a:ext cx="347472" cy="347472"/>
            </a:xfrm>
            <a:prstGeom prst="rect">
              <a:avLst/>
            </a:prstGeom>
            <a:noFill/>
          </p:spPr>
          <p:txBody>
            <a:bodyPr wrap="square" lIns="0" rIns="0" tIns="0" bIns="0" anchor="ctr">
              <a:spAutoFit/>
            </a:bodyPr>
            <a:lstStyle/>
            <a:p>
              <a:pPr algn="ctr"/>
              <a:r>
                <a:rPr sz="1200" b="0" i="0">
                  <a:solidFill>
                    <a:srgbClr val="FFFFFF"/>
                  </a:solidFill>
                  <a:latin typeface="Segoe UI Black"/>
                </a:rPr>
                <a:t>4</a:t>
              </a:r>
            </a:p>
          </p:txBody>
        </p:sp>
        <p:sp>
          <p:nvSpPr>
            <p:cNvPr id="64" name="TextBox 63"/>
            <p:cNvSpPr txBox="1"/>
            <p:nvPr/>
          </p:nvSpPr>
          <p:spPr>
            <a:xfrm>
              <a:off x="1216151" y="3694176"/>
              <a:ext cx="1738336" cy="219456"/>
            </a:xfrm>
            <a:prstGeom prst="rect">
              <a:avLst/>
            </a:prstGeom>
            <a:noFill/>
          </p:spPr>
          <p:txBody>
            <a:bodyPr wrap="none" lIns="0" rIns="0" tIns="0" bIns="0" anchor="t">
              <a:spAutoFit/>
            </a:bodyPr>
            <a:lstStyle/>
            <a:p>
              <a:pPr algn="l"/>
              <a:r>
                <a:rPr sz="1050" b="0" i="0">
                  <a:solidFill>
                    <a:srgbClr val="0B1A5C"/>
                  </a:solidFill>
                  <a:latin typeface="Segoe UI Semibold"/>
                </a:rPr>
                <a:t>Intelli AI verification</a:t>
              </a:r>
            </a:p>
          </p:txBody>
        </p:sp>
        <p:sp>
          <p:nvSpPr>
            <p:cNvPr id="65" name="TextBox 64"/>
            <p:cNvSpPr txBox="1"/>
            <p:nvPr/>
          </p:nvSpPr>
          <p:spPr>
            <a:xfrm>
              <a:off x="1216151" y="3904487"/>
              <a:ext cx="1738336" cy="182880"/>
            </a:xfrm>
            <a:prstGeom prst="rect">
              <a:avLst/>
            </a:prstGeom>
            <a:noFill/>
          </p:spPr>
          <p:txBody>
            <a:bodyPr wrap="none" lIns="0" rIns="0" tIns="0" bIns="0" anchor="t">
              <a:spAutoFit/>
            </a:bodyPr>
            <a:lstStyle/>
            <a:p>
              <a:pPr algn="l"/>
              <a:r>
                <a:rPr sz="850" b="0" i="0">
                  <a:solidFill>
                    <a:srgbClr val="6B7280"/>
                  </a:solidFill>
                  <a:latin typeface="Segoe UI"/>
                </a:rPr>
                <a:t>every offer, every rupee</a:t>
              </a:r>
            </a:p>
          </p:txBody>
        </p:sp>
        <p:sp>
          <p:nvSpPr>
            <p:cNvPr id="66" name="Rounded Rectangle 65"/>
            <p:cNvSpPr/>
            <p:nvPr/>
          </p:nvSpPr>
          <p:spPr>
            <a:xfrm>
              <a:off x="3064216" y="3694176"/>
              <a:ext cx="994215"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3155656" y="3694176"/>
              <a:ext cx="811335"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Never above MRP</a:t>
              </a:r>
            </a:p>
          </p:txBody>
        </p:sp>
        <p:sp>
          <p:nvSpPr>
            <p:cNvPr id="68" name="Rounded Rectangle 67"/>
            <p:cNvSpPr/>
            <p:nvPr/>
          </p:nvSpPr>
          <p:spPr>
            <a:xfrm>
              <a:off x="4131584" y="3694176"/>
              <a:ext cx="1148365"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4223024" y="3694176"/>
              <a:ext cx="965485"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Honest % off vs 30‑day low</a:t>
              </a:r>
            </a:p>
          </p:txBody>
        </p:sp>
        <p:sp>
          <p:nvSpPr>
            <p:cNvPr id="70" name="Rounded Rectangle 69"/>
            <p:cNvSpPr/>
            <p:nvPr/>
          </p:nvSpPr>
          <p:spPr>
            <a:xfrm>
              <a:off x="5353101" y="3694176"/>
              <a:ext cx="1076133"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5444541" y="3694176"/>
              <a:ext cx="893253"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Same price for everyone</a:t>
              </a:r>
            </a:p>
          </p:txBody>
        </p:sp>
        <p:sp>
          <p:nvSpPr>
            <p:cNvPr id="72" name="Rounded Rectangle 71"/>
            <p:cNvSpPr/>
            <p:nvPr/>
          </p:nvSpPr>
          <p:spPr>
            <a:xfrm>
              <a:off x="6502386" y="3694176"/>
              <a:ext cx="1181670"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6593826" y="3694176"/>
              <a:ext cx="998790"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Margin floor · stock · budget</a:t>
              </a:r>
            </a:p>
          </p:txBody>
        </p:sp>
        <p:sp>
          <p:nvSpPr>
            <p:cNvPr id="74" name="Rounded Rectangle 73"/>
            <p:cNvSpPr/>
            <p:nvPr/>
          </p:nvSpPr>
          <p:spPr>
            <a:xfrm>
              <a:off x="7757209" y="3694176"/>
              <a:ext cx="1098589"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7848649" y="3694176"/>
              <a:ext cx="915709"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Dark‑pattern lint</a:t>
              </a:r>
            </a:p>
          </p:txBody>
        </p:sp>
        <p:sp>
          <p:nvSpPr>
            <p:cNvPr id="76" name="Rounded Rectangle 75"/>
            <p:cNvSpPr/>
            <p:nvPr/>
          </p:nvSpPr>
          <p:spPr>
            <a:xfrm>
              <a:off x="8928951" y="3694176"/>
              <a:ext cx="786624"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9020391" y="3694176"/>
              <a:ext cx="603744"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Number check</a:t>
              </a:r>
            </a:p>
          </p:txBody>
        </p:sp>
        <p:sp>
          <p:nvSpPr>
            <p:cNvPr id="78" name="Rounded Rectangle 77"/>
            <p:cNvSpPr/>
            <p:nvPr/>
          </p:nvSpPr>
          <p:spPr>
            <a:xfrm>
              <a:off x="9788728" y="3694176"/>
              <a:ext cx="1284655"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9880168" y="3694176"/>
              <a:ext cx="1101775"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Verification record per offer</a:t>
              </a:r>
            </a:p>
          </p:txBody>
        </p:sp>
      </p:grpSp>
      <p:grpSp>
        <p:nvGrpSpPr>
          <p:cNvPr id="121" name="l56"/>
          <p:cNvGrpSpPr/>
          <p:nvPr/>
        </p:nvGrpSpPr>
        <p:grpSpPr>
          <a:xfrm>
            <a:off x="576071" y="4215383"/>
            <a:ext cx="10607041" cy="1106423"/>
            <a:chOff x="576071" y="4215383"/>
            <a:chExt cx="10607041" cy="1106423"/>
          </a:xfrm>
        </p:grpSpPr>
        <p:grpSp>
          <p:nvGrpSpPr>
            <p:cNvPr id="94" name="layer4"/>
            <p:cNvGrpSpPr/>
            <p:nvPr/>
          </p:nvGrpSpPr>
          <p:grpSpPr>
            <a:xfrm>
              <a:off x="576071" y="4215383"/>
              <a:ext cx="10607041" cy="521207"/>
              <a:chOff x="576071" y="4215383"/>
              <a:chExt cx="10607041" cy="521207"/>
            </a:xfrm>
          </p:grpSpPr>
          <p:sp>
            <p:nvSpPr>
              <p:cNvPr id="81" name="Rounded Rectangle 80"/>
              <p:cNvSpPr/>
              <p:nvPr/>
            </p:nvSpPr>
            <p:spPr>
              <a:xfrm>
                <a:off x="1069848" y="4215383"/>
                <a:ext cx="10113264" cy="521207"/>
              </a:xfrm>
              <a:prstGeom prst="roundRect">
                <a:avLst>
                  <a:gd name="adj" fmla="val 14000"/>
                </a:avLst>
              </a:prstGeom>
              <a:solidFill>
                <a:srgbClr val="EC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576071" y="4302251"/>
                <a:ext cx="347472" cy="347472"/>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6071" y="4302251"/>
                <a:ext cx="347472" cy="347472"/>
              </a:xfrm>
              <a:prstGeom prst="rect">
                <a:avLst/>
              </a:prstGeom>
              <a:noFill/>
            </p:spPr>
            <p:txBody>
              <a:bodyPr wrap="square" lIns="0" rIns="0" tIns="0" bIns="0" anchor="ctr">
                <a:spAutoFit/>
              </a:bodyPr>
              <a:lstStyle/>
              <a:p>
                <a:pPr algn="ctr"/>
                <a:r>
                  <a:rPr sz="1200" b="0" i="0">
                    <a:solidFill>
                      <a:srgbClr val="FFFFFF"/>
                    </a:solidFill>
                    <a:latin typeface="Segoe UI Black"/>
                  </a:rPr>
                  <a:t>5</a:t>
                </a:r>
              </a:p>
            </p:txBody>
          </p:sp>
          <p:sp>
            <p:nvSpPr>
              <p:cNvPr id="84" name="TextBox 83"/>
              <p:cNvSpPr txBox="1"/>
              <p:nvPr/>
            </p:nvSpPr>
            <p:spPr>
              <a:xfrm>
                <a:off x="1216151" y="4279392"/>
                <a:ext cx="1738336" cy="219456"/>
              </a:xfrm>
              <a:prstGeom prst="rect">
                <a:avLst/>
              </a:prstGeom>
              <a:noFill/>
            </p:spPr>
            <p:txBody>
              <a:bodyPr wrap="none" lIns="0" rIns="0" tIns="0" bIns="0" anchor="t">
                <a:spAutoFit/>
              </a:bodyPr>
              <a:lstStyle/>
              <a:p>
                <a:pPr algn="l"/>
                <a:r>
                  <a:rPr sz="1050" b="0" i="0">
                    <a:solidFill>
                      <a:srgbClr val="0B1A5C"/>
                    </a:solidFill>
                    <a:latin typeface="Segoe UI Semibold"/>
                  </a:rPr>
                  <a:t>Approval</a:t>
                </a:r>
              </a:p>
            </p:txBody>
          </p:sp>
          <p:sp>
            <p:nvSpPr>
              <p:cNvPr id="85" name="TextBox 84"/>
              <p:cNvSpPr txBox="1"/>
              <p:nvPr/>
            </p:nvSpPr>
            <p:spPr>
              <a:xfrm>
                <a:off x="1216151" y="4489703"/>
                <a:ext cx="1738336" cy="182880"/>
              </a:xfrm>
              <a:prstGeom prst="rect">
                <a:avLst/>
              </a:prstGeom>
              <a:noFill/>
            </p:spPr>
            <p:txBody>
              <a:bodyPr wrap="none" lIns="0" rIns="0" tIns="0" bIns="0" anchor="t">
                <a:spAutoFit/>
              </a:bodyPr>
              <a:lstStyle/>
              <a:p>
                <a:pPr algn="l"/>
                <a:r>
                  <a:rPr sz="850" b="0" i="0">
                    <a:solidFill>
                      <a:srgbClr val="6B7280"/>
                    </a:solidFill>
                    <a:latin typeface="Segoe UI"/>
                  </a:rPr>
                  <a:t>a person in the lead</a:t>
                </a:r>
              </a:p>
            </p:txBody>
          </p:sp>
          <p:sp>
            <p:nvSpPr>
              <p:cNvPr id="86" name="Rounded Rectangle 85"/>
              <p:cNvSpPr/>
              <p:nvPr/>
            </p:nvSpPr>
            <p:spPr>
              <a:xfrm>
                <a:off x="3064216" y="4279392"/>
                <a:ext cx="3238703"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3155656" y="4279392"/>
                <a:ext cx="3055823"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Approval tiers · senior sign‑off above ₹15,000 worst case or 20% depth</a:t>
                </a:r>
              </a:p>
            </p:txBody>
          </p:sp>
          <p:sp>
            <p:nvSpPr>
              <p:cNvPr id="88" name="Rounded Rectangle 87"/>
              <p:cNvSpPr/>
              <p:nvPr/>
            </p:nvSpPr>
            <p:spPr>
              <a:xfrm>
                <a:off x="6376071" y="4279392"/>
                <a:ext cx="1198574"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6467511" y="4279392"/>
                <a:ext cx="1015694"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Ask‑human mid‑run</a:t>
                </a:r>
              </a:p>
            </p:txBody>
          </p:sp>
          <p:sp>
            <p:nvSpPr>
              <p:cNvPr id="90" name="Rounded Rectangle 89"/>
              <p:cNvSpPr/>
              <p:nvPr/>
            </p:nvSpPr>
            <p:spPr>
              <a:xfrm>
                <a:off x="7647798" y="4279392"/>
                <a:ext cx="1825602"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7739238" y="4279392"/>
                <a:ext cx="1642722"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Live‑event triage → replan with a diff</a:t>
                </a:r>
              </a:p>
            </p:txBody>
          </p:sp>
          <p:sp>
            <p:nvSpPr>
              <p:cNvPr id="92" name="Rounded Rectangle 91"/>
              <p:cNvSpPr/>
              <p:nvPr/>
            </p:nvSpPr>
            <p:spPr>
              <a:xfrm>
                <a:off x="9546552" y="4279392"/>
                <a:ext cx="1526831"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9637992" y="4279392"/>
                <a:ext cx="1343951"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Full audit trail · versioned plans</a:t>
                </a:r>
              </a:p>
            </p:txBody>
          </p:sp>
        </p:grpSp>
        <p:grpSp>
          <p:nvGrpSpPr>
            <p:cNvPr id="108" name="layer5"/>
            <p:cNvGrpSpPr/>
            <p:nvPr/>
          </p:nvGrpSpPr>
          <p:grpSpPr>
            <a:xfrm>
              <a:off x="576071" y="4800599"/>
              <a:ext cx="10607041" cy="521207"/>
              <a:chOff x="576071" y="4800599"/>
              <a:chExt cx="10607041" cy="521207"/>
            </a:xfrm>
          </p:grpSpPr>
          <p:sp>
            <p:nvSpPr>
              <p:cNvPr id="95" name="Rounded Rectangle 94"/>
              <p:cNvSpPr/>
              <p:nvPr/>
            </p:nvSpPr>
            <p:spPr>
              <a:xfrm>
                <a:off x="1069848" y="4800599"/>
                <a:ext cx="10113264" cy="521207"/>
              </a:xfrm>
              <a:prstGeom prst="roundRect">
                <a:avLst>
                  <a:gd name="adj" fmla="val 14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576071" y="4887467"/>
                <a:ext cx="347472" cy="347472"/>
              </a:xfrm>
              <a:prstGeom prst="ellipse">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76071" y="4887467"/>
                <a:ext cx="347472" cy="347472"/>
              </a:xfrm>
              <a:prstGeom prst="rect">
                <a:avLst/>
              </a:prstGeom>
              <a:noFill/>
            </p:spPr>
            <p:txBody>
              <a:bodyPr wrap="square" lIns="0" rIns="0" tIns="0" bIns="0" anchor="ctr">
                <a:spAutoFit/>
              </a:bodyPr>
              <a:lstStyle/>
              <a:p>
                <a:pPr algn="ctr"/>
                <a:r>
                  <a:rPr sz="1200" b="0" i="0">
                    <a:solidFill>
                      <a:srgbClr val="FFFFFF"/>
                    </a:solidFill>
                    <a:latin typeface="Segoe UI Black"/>
                  </a:rPr>
                  <a:t>6</a:t>
                </a:r>
              </a:p>
            </p:txBody>
          </p:sp>
          <p:sp>
            <p:nvSpPr>
              <p:cNvPr id="98" name="TextBox 97"/>
              <p:cNvSpPr txBox="1"/>
              <p:nvPr/>
            </p:nvSpPr>
            <p:spPr>
              <a:xfrm>
                <a:off x="1216151" y="4864607"/>
                <a:ext cx="1738336" cy="219456"/>
              </a:xfrm>
              <a:prstGeom prst="rect">
                <a:avLst/>
              </a:prstGeom>
              <a:noFill/>
            </p:spPr>
            <p:txBody>
              <a:bodyPr wrap="none" lIns="0" rIns="0" tIns="0" bIns="0" anchor="t">
                <a:spAutoFit/>
              </a:bodyPr>
              <a:lstStyle/>
              <a:p>
                <a:pPr algn="l"/>
                <a:r>
                  <a:rPr sz="1050" b="0" i="0">
                    <a:solidFill>
                      <a:srgbClr val="0B1A5C"/>
                    </a:solidFill>
                    <a:latin typeface="Segoe UI Semibold"/>
                  </a:rPr>
                  <a:t>Channels</a:t>
                </a:r>
              </a:p>
            </p:txBody>
          </p:sp>
          <p:sp>
            <p:nvSpPr>
              <p:cNvPr id="99" name="TextBox 98"/>
              <p:cNvSpPr txBox="1"/>
              <p:nvPr/>
            </p:nvSpPr>
            <p:spPr>
              <a:xfrm>
                <a:off x="1216151" y="5074919"/>
                <a:ext cx="1738336" cy="182880"/>
              </a:xfrm>
              <a:prstGeom prst="rect">
                <a:avLst/>
              </a:prstGeom>
              <a:noFill/>
            </p:spPr>
            <p:txBody>
              <a:bodyPr wrap="none" lIns="0" rIns="0" tIns="0" bIns="0" anchor="t">
                <a:spAutoFit/>
              </a:bodyPr>
              <a:lstStyle/>
              <a:p>
                <a:pPr algn="l"/>
                <a:r>
                  <a:rPr sz="850" b="0" i="0">
                    <a:solidFill>
                      <a:srgbClr val="6B7280"/>
                    </a:solidFill>
                    <a:latin typeface="Segoe UI"/>
                  </a:rPr>
                  <a:t>where the plan goes</a:t>
                </a:r>
              </a:p>
            </p:txBody>
          </p:sp>
          <p:sp>
            <p:nvSpPr>
              <p:cNvPr id="100" name="Rounded Rectangle 99"/>
              <p:cNvSpPr/>
              <p:nvPr/>
            </p:nvSpPr>
            <p:spPr>
              <a:xfrm>
                <a:off x="3064216" y="4864607"/>
                <a:ext cx="2766778"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3155656" y="4864607"/>
                <a:ext cx="2583898"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One‑Click: campaign kit · calendar · channels · English + Hindi copy · banners</a:t>
                </a:r>
              </a:p>
            </p:txBody>
          </p:sp>
          <p:sp>
            <p:nvSpPr>
              <p:cNvPr id="102" name="Rounded Rectangle 101"/>
              <p:cNvSpPr/>
              <p:nvPr/>
            </p:nvSpPr>
            <p:spPr>
              <a:xfrm>
                <a:off x="5904146" y="4864607"/>
                <a:ext cx="1973361"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5995586" y="4864607"/>
                <a:ext cx="1790481"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Promo Studio: plan · every check · sign‑off · live replans</a:t>
                </a:r>
              </a:p>
            </p:txBody>
          </p:sp>
          <p:sp>
            <p:nvSpPr>
              <p:cNvPr id="104" name="Rounded Rectangle 103"/>
              <p:cNvSpPr/>
              <p:nvPr/>
            </p:nvSpPr>
            <p:spPr>
              <a:xfrm>
                <a:off x="7950660" y="4864607"/>
                <a:ext cx="1556190"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8042100" y="4864607"/>
                <a:ext cx="1373310"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WhatsApp: replies via an n8n automation</a:t>
                </a:r>
              </a:p>
            </p:txBody>
          </p:sp>
          <p:sp>
            <p:nvSpPr>
              <p:cNvPr id="106" name="Rounded Rectangle 105"/>
              <p:cNvSpPr/>
              <p:nvPr/>
            </p:nvSpPr>
            <p:spPr>
              <a:xfrm>
                <a:off x="9580002" y="4864607"/>
                <a:ext cx="1493381" cy="393191"/>
              </a:xfrm>
              <a:prstGeom prst="roundRect">
                <a:avLst>
                  <a:gd name="adj" fmla="val 2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9671442" y="4864607"/>
                <a:ext cx="1310501" cy="393191"/>
              </a:xfrm>
              <a:prstGeom prst="rect">
                <a:avLst/>
              </a:prstGeom>
              <a:noFill/>
            </p:spPr>
            <p:txBody>
              <a:bodyPr wrap="square" lIns="0" rIns="0" tIns="0" bIns="0" anchor="ctr">
                <a:spAutoFit/>
              </a:bodyPr>
              <a:lstStyle/>
              <a:p>
                <a:pPr algn="ctr">
                  <a:lnSpc>
                    <a:spcPct val="95000"/>
                  </a:lnSpc>
                </a:pPr>
                <a:r>
                  <a:rPr sz="950" b="0" i="0">
                    <a:solidFill>
                      <a:srgbClr val="111827"/>
                    </a:solidFill>
                    <a:latin typeface="Segoe UI"/>
                  </a:rPr>
                  <a:t>Approved price feed (JSON) · exports</a:t>
                </a:r>
              </a:p>
            </p:txBody>
          </p:sp>
        </p:grpSp>
      </p:grpSp>
      <p:grpSp>
        <p:nvGrpSpPr>
          <p:cNvPr id="122" name="agent"/>
          <p:cNvGrpSpPr/>
          <p:nvPr/>
        </p:nvGrpSpPr>
        <p:grpSpPr>
          <a:xfrm>
            <a:off x="10588751" y="2459735"/>
            <a:ext cx="1773936" cy="2276856"/>
            <a:chOff x="10588751" y="2459735"/>
            <a:chExt cx="1773936" cy="2276856"/>
          </a:xfrm>
        </p:grpSpPr>
        <p:sp>
          <p:nvSpPr>
            <p:cNvPr id="109" name="Rounded Rectangle 108"/>
            <p:cNvSpPr/>
            <p:nvPr/>
          </p:nvSpPr>
          <p:spPr>
            <a:xfrm>
              <a:off x="11292840" y="2459735"/>
              <a:ext cx="365760" cy="2276856"/>
            </a:xfrm>
            <a:prstGeom prst="roundRect">
              <a:avLst>
                <a:gd name="adj" fmla="val 5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0" name="Picture 109" descr="Bot_white.png"/>
            <p:cNvPicPr>
              <a:picLocks noChangeAspect="1"/>
            </p:cNvPicPr>
            <p:nvPr/>
          </p:nvPicPr>
          <p:blipFill>
            <a:blip r:embed="rId3"/>
            <a:stretch>
              <a:fillRect/>
            </a:stretch>
          </p:blipFill>
          <p:spPr>
            <a:xfrm>
              <a:off x="11365992" y="2569463"/>
              <a:ext cx="219456" cy="219456"/>
            </a:xfrm>
            <a:prstGeom prst="rect">
              <a:avLst/>
            </a:prstGeom>
          </p:spPr>
        </p:pic>
        <p:sp>
          <p:nvSpPr>
            <p:cNvPr id="111" name="TextBox 110"/>
            <p:cNvSpPr txBox="1"/>
            <p:nvPr/>
          </p:nvSpPr>
          <p:spPr>
            <a:xfrm rot="16200000">
              <a:off x="10588751" y="3607307"/>
              <a:ext cx="1773936" cy="365760"/>
            </a:xfrm>
            <a:prstGeom prst="rect">
              <a:avLst/>
            </a:prstGeom>
            <a:noFill/>
          </p:spPr>
          <p:txBody>
            <a:bodyPr wrap="none" lIns="0" rIns="0" tIns="0" bIns="0" anchor="ctr">
              <a:spAutoFit/>
            </a:bodyPr>
            <a:lstStyle/>
            <a:p>
              <a:pPr algn="ctr"/>
              <a:r>
                <a:rPr sz="850" b="0" i="0">
                  <a:solidFill>
                    <a:srgbClr val="FFFFFF"/>
                  </a:solidFill>
                  <a:latin typeface="Segoe UI Semibold"/>
                </a:rPr>
                <a:t>AGENT ORCHESTRATOR · LAYERS 2–5</a:t>
              </a:r>
            </a:p>
          </p:txBody>
        </p:sp>
      </p:grpSp>
      <p:grpSp>
        <p:nvGrpSpPr>
          <p:cNvPr id="123" name="found"/>
          <p:cNvGrpSpPr/>
          <p:nvPr/>
        </p:nvGrpSpPr>
        <p:grpSpPr>
          <a:xfrm>
            <a:off x="548640" y="5413247"/>
            <a:ext cx="11109960" cy="841248"/>
            <a:chOff x="548640" y="5413247"/>
            <a:chExt cx="11109960" cy="841248"/>
          </a:xfrm>
        </p:grpSpPr>
        <p:sp>
          <p:nvSpPr>
            <p:cNvPr id="112" name="Rounded Rectangle 111"/>
            <p:cNvSpPr/>
            <p:nvPr/>
          </p:nvSpPr>
          <p:spPr>
            <a:xfrm>
              <a:off x="548640" y="5413247"/>
              <a:ext cx="11109960" cy="841248"/>
            </a:xfrm>
            <a:prstGeom prst="roundRect">
              <a:avLst>
                <a:gd name="adj" fmla="val 1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731520" y="5605271"/>
              <a:ext cx="457200" cy="457200"/>
            </a:xfrm>
            <a:prstGeom prst="ellipse">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Bot_white.png"/>
            <p:cNvPicPr>
              <a:picLocks noChangeAspect="1"/>
            </p:cNvPicPr>
            <p:nvPr/>
          </p:nvPicPr>
          <p:blipFill>
            <a:blip r:embed="rId3"/>
            <a:stretch>
              <a:fillRect/>
            </a:stretch>
          </p:blipFill>
          <p:spPr>
            <a:xfrm>
              <a:off x="832104" y="5705855"/>
              <a:ext cx="256032" cy="256032"/>
            </a:xfrm>
            <a:prstGeom prst="rect">
              <a:avLst/>
            </a:prstGeom>
          </p:spPr>
        </p:pic>
        <p:sp>
          <p:nvSpPr>
            <p:cNvPr id="115" name="Rectangle 114"/>
            <p:cNvSpPr/>
            <p:nvPr/>
          </p:nvSpPr>
          <p:spPr>
            <a:xfrm>
              <a:off x="7132320" y="5541263"/>
              <a:ext cx="10972" cy="585216"/>
            </a:xfrm>
            <a:prstGeom prst="rect">
              <a:avLst/>
            </a:prstGeom>
            <a:solidFill>
              <a:srgbClr val="2A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1371600" y="5504687"/>
              <a:ext cx="5715000" cy="182880"/>
            </a:xfrm>
            <a:prstGeom prst="rect">
              <a:avLst/>
            </a:prstGeom>
            <a:noFill/>
          </p:spPr>
          <p:txBody>
            <a:bodyPr wrap="square" lIns="0" rIns="0" tIns="0" bIns="0" anchor="t">
              <a:spAutoFit/>
            </a:bodyPr>
            <a:lstStyle/>
            <a:p>
              <a:pPr algn="l"/>
              <a:r>
                <a:rPr sz="900" b="0" i="0">
                  <a:solidFill>
                    <a:srgbClr val="F28A1A"/>
                  </a:solidFill>
                  <a:latin typeface="Segoe UI Semibold"/>
                </a:rPr>
                <a:t>AGENT ORCHESTRATOR · gpt-4.1-mini with function calling, across layers 2–5</a:t>
              </a:r>
            </a:p>
          </p:txBody>
        </p:sp>
        <p:sp>
          <p:nvSpPr>
            <p:cNvPr id="117" name="TextBox 116"/>
            <p:cNvSpPr txBox="1"/>
            <p:nvPr/>
          </p:nvSpPr>
          <p:spPr>
            <a:xfrm>
              <a:off x="1371600" y="5696711"/>
              <a:ext cx="5715000" cy="512064"/>
            </a:xfrm>
            <a:prstGeom prst="rect">
              <a:avLst/>
            </a:prstGeom>
            <a:noFill/>
          </p:spPr>
          <p:txBody>
            <a:bodyPr wrap="square" lIns="0" rIns="0" tIns="0" bIns="0" anchor="t">
              <a:spAutoFit/>
            </a:bodyPr>
            <a:lstStyle/>
            <a:p>
              <a:pPr algn="l">
                <a:lnSpc>
                  <a:spcPct val="95000"/>
                </a:lnSpc>
              </a:pPr>
              <a:r>
                <a:rPr sz="950" b="0" i="0">
                  <a:solidFill>
                    <a:srgbClr val="FFFFFF"/>
                  </a:solidFill>
                  <a:latin typeface="Segoe UI"/>
                </a:rPr>
                <a:t>Chooses the next tool and logs why · recovers (solver time-out → prune → split → fallback; model down → rules policy) · asks the manager when a brief contradicts itself · can never approve its own plan</a:t>
              </a:r>
            </a:p>
          </p:txBody>
        </p:sp>
        <p:sp>
          <p:nvSpPr>
            <p:cNvPr id="118" name="TextBox 117"/>
            <p:cNvSpPr txBox="1"/>
            <p:nvPr/>
          </p:nvSpPr>
          <p:spPr>
            <a:xfrm>
              <a:off x="7315200" y="5504687"/>
              <a:ext cx="4160520" cy="182880"/>
            </a:xfrm>
            <a:prstGeom prst="rect">
              <a:avLst/>
            </a:prstGeom>
            <a:noFill/>
          </p:spPr>
          <p:txBody>
            <a:bodyPr wrap="square" lIns="0" rIns="0" tIns="0" bIns="0" anchor="t">
              <a:spAutoFit/>
            </a:bodyPr>
            <a:lstStyle/>
            <a:p>
              <a:pPr algn="l"/>
              <a:r>
                <a:rPr sz="900" b="0" i="0">
                  <a:solidFill>
                    <a:srgbClr val="F28A1A"/>
                  </a:solidFill>
                  <a:latin typeface="Segoe UI Semibold"/>
                </a:rPr>
                <a:t>STACK</a:t>
              </a:r>
            </a:p>
          </p:txBody>
        </p:sp>
        <p:sp>
          <p:nvSpPr>
            <p:cNvPr id="119" name="TextBox 118"/>
            <p:cNvSpPr txBox="1"/>
            <p:nvPr/>
          </p:nvSpPr>
          <p:spPr>
            <a:xfrm>
              <a:off x="7315200" y="5696711"/>
              <a:ext cx="4160520" cy="512064"/>
            </a:xfrm>
            <a:prstGeom prst="rect">
              <a:avLst/>
            </a:prstGeom>
            <a:noFill/>
          </p:spPr>
          <p:txBody>
            <a:bodyPr wrap="square" lIns="0" rIns="0" tIns="0" bIns="0" anchor="t">
              <a:spAutoFit/>
            </a:bodyPr>
            <a:lstStyle/>
            <a:p>
              <a:pPr algn="l">
                <a:lnSpc>
                  <a:spcPct val="95000"/>
                </a:lnSpc>
              </a:pPr>
              <a:r>
                <a:rPr sz="950" b="0" i="0">
                  <a:solidFill>
                    <a:srgbClr val="FFFFFF"/>
                  </a:solidFill>
                  <a:latin typeface="Segoe UI"/>
                </a:rPr>
                <a:t>FastAPI · SQLAlchemy · PostgreSQL (SQLite on a laptop) · React · n8n for WhatsApp · OpenAI with a hard spend cap · works rules-only without a key</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600"/>
                                        <p:tgtEl>
                                          <p:spTgt spid="120"/>
                                        </p:tgtEl>
                                      </p:cBhvr>
                                    </p:animEffect>
                                    <p:anim calcmode="lin" valueType="num">
                                      <p:cBhvr>
                                        <p:cTn id="8" dur="600" fill="hold"/>
                                        <p:tgtEl>
                                          <p:spTgt spid="120"/>
                                        </p:tgtEl>
                                        <p:attrNameLst>
                                          <p:attrName>ppt_x</p:attrName>
                                        </p:attrNameLst>
                                      </p:cBhvr>
                                      <p:tavLst>
                                        <p:tav tm="0">
                                          <p:val>
                                            <p:strVal val="#ppt_x"/>
                                          </p:val>
                                        </p:tav>
                                        <p:tav tm="100000">
                                          <p:val>
                                            <p:strVal val="#ppt_x"/>
                                          </p:val>
                                        </p:tav>
                                      </p:tavLst>
                                    </p:anim>
                                    <p:anim calcmode="lin" valueType="num">
                                      <p:cBhvr>
                                        <p:cTn id="9" dur="600" decel="100000" fill="hold"/>
                                        <p:tgtEl>
                                          <p:spTgt spid="120"/>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600"/>
                                        <p:tgtEl>
                                          <p:spTgt spid="44"/>
                                        </p:tgtEl>
                                      </p:cBhvr>
                                    </p:animEffect>
                                    <p:anim calcmode="lin" valueType="num">
                                      <p:cBhvr>
                                        <p:cTn id="14" dur="600" fill="hold"/>
                                        <p:tgtEl>
                                          <p:spTgt spid="44"/>
                                        </p:tgtEl>
                                        <p:attrNameLst>
                                          <p:attrName>ppt_x</p:attrName>
                                        </p:attrNameLst>
                                      </p:cBhvr>
                                      <p:tavLst>
                                        <p:tav tm="0">
                                          <p:val>
                                            <p:strVal val="#ppt_x"/>
                                          </p:val>
                                        </p:tav>
                                        <p:tav tm="100000">
                                          <p:val>
                                            <p:strVal val="#ppt_x"/>
                                          </p:val>
                                        </p:tav>
                                      </p:tavLst>
                                    </p:anim>
                                    <p:anim calcmode="lin" valueType="num">
                                      <p:cBhvr>
                                        <p:cTn id="15" dur="600" decel="100000" fill="hold"/>
                                        <p:tgtEl>
                                          <p:spTgt spid="44"/>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600"/>
                                        <p:tgtEl>
                                          <p:spTgt spid="60"/>
                                        </p:tgtEl>
                                      </p:cBhvr>
                                    </p:animEffect>
                                    <p:anim calcmode="lin" valueType="num">
                                      <p:cBhvr>
                                        <p:cTn id="20" dur="600" fill="hold"/>
                                        <p:tgtEl>
                                          <p:spTgt spid="60"/>
                                        </p:tgtEl>
                                        <p:attrNameLst>
                                          <p:attrName>ppt_x</p:attrName>
                                        </p:attrNameLst>
                                      </p:cBhvr>
                                      <p:tavLst>
                                        <p:tav tm="0">
                                          <p:val>
                                            <p:strVal val="#ppt_x"/>
                                          </p:val>
                                        </p:tav>
                                        <p:tav tm="100000">
                                          <p:val>
                                            <p:strVal val="#ppt_x"/>
                                          </p:val>
                                        </p:tav>
                                      </p:tavLst>
                                    </p:anim>
                                    <p:anim calcmode="lin" valueType="num">
                                      <p:cBhvr>
                                        <p:cTn id="21" dur="600" decel="100000" fill="hold"/>
                                        <p:tgtEl>
                                          <p:spTgt spid="60"/>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80"/>
                                        </p:tgtEl>
                                        <p:attrNameLst>
                                          <p:attrName>style.visibility</p:attrName>
                                        </p:attrNameLst>
                                      </p:cBhvr>
                                      <p:to>
                                        <p:strVal val="visible"/>
                                      </p:to>
                                    </p:set>
                                    <p:animEffect transition="in" filter="fade">
                                      <p:cBhvr>
                                        <p:cTn id="25" dur="600"/>
                                        <p:tgtEl>
                                          <p:spTgt spid="80"/>
                                        </p:tgtEl>
                                      </p:cBhvr>
                                    </p:animEffect>
                                    <p:anim calcmode="lin" valueType="num">
                                      <p:cBhvr>
                                        <p:cTn id="26" dur="600" fill="hold"/>
                                        <p:tgtEl>
                                          <p:spTgt spid="80"/>
                                        </p:tgtEl>
                                        <p:attrNameLst>
                                          <p:attrName>ppt_x</p:attrName>
                                        </p:attrNameLst>
                                      </p:cBhvr>
                                      <p:tavLst>
                                        <p:tav tm="0">
                                          <p:val>
                                            <p:strVal val="#ppt_x"/>
                                          </p:val>
                                        </p:tav>
                                        <p:tav tm="100000">
                                          <p:val>
                                            <p:strVal val="#ppt_x"/>
                                          </p:val>
                                        </p:tav>
                                      </p:tavLst>
                                    </p:anim>
                                    <p:anim calcmode="lin" valueType="num">
                                      <p:cBhvr>
                                        <p:cTn id="27" dur="600" decel="100000" fill="hold"/>
                                        <p:tgtEl>
                                          <p:spTgt spid="80"/>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121"/>
                                        </p:tgtEl>
                                        <p:attrNameLst>
                                          <p:attrName>style.visibility</p:attrName>
                                        </p:attrNameLst>
                                      </p:cBhvr>
                                      <p:to>
                                        <p:strVal val="visible"/>
                                      </p:to>
                                    </p:set>
                                    <p:animEffect transition="in" filter="fade">
                                      <p:cBhvr>
                                        <p:cTn id="31" dur="600"/>
                                        <p:tgtEl>
                                          <p:spTgt spid="121"/>
                                        </p:tgtEl>
                                      </p:cBhvr>
                                    </p:animEffect>
                                    <p:anim calcmode="lin" valueType="num">
                                      <p:cBhvr>
                                        <p:cTn id="32" dur="600" fill="hold"/>
                                        <p:tgtEl>
                                          <p:spTgt spid="121"/>
                                        </p:tgtEl>
                                        <p:attrNameLst>
                                          <p:attrName>ppt_x</p:attrName>
                                        </p:attrNameLst>
                                      </p:cBhvr>
                                      <p:tavLst>
                                        <p:tav tm="0">
                                          <p:val>
                                            <p:strVal val="#ppt_x"/>
                                          </p:val>
                                        </p:tav>
                                        <p:tav tm="100000">
                                          <p:val>
                                            <p:strVal val="#ppt_x"/>
                                          </p:val>
                                        </p:tav>
                                      </p:tavLst>
                                    </p:anim>
                                    <p:anim calcmode="lin" valueType="num">
                                      <p:cBhvr>
                                        <p:cTn id="33" dur="600" decel="100000" fill="hold"/>
                                        <p:tgtEl>
                                          <p:spTgt spid="121"/>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122"/>
                                        </p:tgtEl>
                                        <p:attrNameLst>
                                          <p:attrName>style.visibility</p:attrName>
                                        </p:attrNameLst>
                                      </p:cBhvr>
                                      <p:to>
                                        <p:strVal val="visible"/>
                                      </p:to>
                                    </p:set>
                                    <p:animEffect transition="in" filter="fade">
                                      <p:cBhvr>
                                        <p:cTn id="37" dur="600"/>
                                        <p:tgtEl>
                                          <p:spTgt spid="122"/>
                                        </p:tgtEl>
                                      </p:cBhvr>
                                    </p:animEffect>
                                    <p:anim calcmode="lin" valueType="num">
                                      <p:cBhvr>
                                        <p:cTn id="38" dur="600" fill="hold"/>
                                        <p:tgtEl>
                                          <p:spTgt spid="122"/>
                                        </p:tgtEl>
                                        <p:attrNameLst>
                                          <p:attrName>ppt_x</p:attrName>
                                        </p:attrNameLst>
                                      </p:cBhvr>
                                      <p:tavLst>
                                        <p:tav tm="0">
                                          <p:val>
                                            <p:strVal val="#ppt_x"/>
                                          </p:val>
                                        </p:tav>
                                        <p:tav tm="100000">
                                          <p:val>
                                            <p:strVal val="#ppt_x"/>
                                          </p:val>
                                        </p:tav>
                                      </p:tavLst>
                                    </p:anim>
                                    <p:anim calcmode="lin" valueType="num">
                                      <p:cBhvr>
                                        <p:cTn id="39" dur="600" decel="100000" fill="hold"/>
                                        <p:tgtEl>
                                          <p:spTgt spid="122"/>
                                        </p:tgtEl>
                                        <p:attrNameLst>
                                          <p:attrName>ppt_y</p:attrName>
                                        </p:attrNameLst>
                                      </p:cBhvr>
                                      <p:tavLst>
                                        <p:tav tm="0">
                                          <p:val>
                                            <p:strVal val="#ppt_y+.06"/>
                                          </p:val>
                                        </p:tav>
                                        <p:tav tm="100000">
                                          <p:val>
                                            <p:strVal val="#ppt_y"/>
                                          </p:val>
                                        </p:tav>
                                      </p:tavLst>
                                    </p:anim>
                                  </p:childTnLst>
                                </p:cTn>
                              </p:par>
                            </p:childTnLst>
                          </p:cTn>
                        </p:par>
                        <p:par>
                          <p:cTn id="40" fill="hold">
                            <p:stCondLst>
                              <p:cond delay="0"/>
                            </p:stCondLst>
                            <p:childTnLst>
                              <p:par>
                                <p:cTn id="41" presetID="42" presetClass="entr" presetSubtype="0" fill="hold" nodeType="withEffect">
                                  <p:stCondLst>
                                    <p:cond delay="1090"/>
                                  </p:stCondLst>
                                  <p:childTnLst>
                                    <p:set>
                                      <p:cBhvr>
                                        <p:cTn id="42" dur="1" fill="hold">
                                          <p:stCondLst>
                                            <p:cond delay="0"/>
                                          </p:stCondLst>
                                        </p:cTn>
                                        <p:tgtEl>
                                          <p:spTgt spid="123"/>
                                        </p:tgtEl>
                                        <p:attrNameLst>
                                          <p:attrName>style.visibility</p:attrName>
                                        </p:attrNameLst>
                                      </p:cBhvr>
                                      <p:to>
                                        <p:strVal val="visible"/>
                                      </p:to>
                                    </p:set>
                                    <p:animEffect transition="in" filter="fade">
                                      <p:cBhvr>
                                        <p:cTn id="43" dur="600"/>
                                        <p:tgtEl>
                                          <p:spTgt spid="123"/>
                                        </p:tgtEl>
                                      </p:cBhvr>
                                    </p:animEffect>
                                    <p:anim calcmode="lin" valueType="num">
                                      <p:cBhvr>
                                        <p:cTn id="44" dur="600" fill="hold"/>
                                        <p:tgtEl>
                                          <p:spTgt spid="123"/>
                                        </p:tgtEl>
                                        <p:attrNameLst>
                                          <p:attrName>ppt_x</p:attrName>
                                        </p:attrNameLst>
                                      </p:cBhvr>
                                      <p:tavLst>
                                        <p:tav tm="0">
                                          <p:val>
                                            <p:strVal val="#ppt_x"/>
                                          </p:val>
                                        </p:tav>
                                        <p:tav tm="100000">
                                          <p:val>
                                            <p:strVal val="#ppt_x"/>
                                          </p:val>
                                        </p:tav>
                                      </p:tavLst>
                                    </p:anim>
                                    <p:anim calcmode="lin" valueType="num">
                                      <p:cBhvr>
                                        <p:cTn id="45" dur="600" decel="100000" fill="hold"/>
                                        <p:tgtEl>
                                          <p:spTgt spid="12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06</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rain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AI models &amp; technologies used</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Each model does </a:t>
            </a:r>
            <a:r>
              <a:rPr sz="3600" b="0" i="0">
                <a:solidFill>
                  <a:srgbClr val="F28A1A"/>
                </a:solidFill>
                <a:latin typeface="Segoe UI Black"/>
              </a:rPr>
              <a:t>one job</a:t>
            </a:r>
            <a:r>
              <a:rPr sz="3600" b="0" i="0">
                <a:solidFill>
                  <a:srgbClr val="0B1A5C"/>
                </a:solidFill>
                <a:latin typeface="Segoe UI Black"/>
              </a:rPr>
              <a:t> — and is measured at it</a:t>
            </a:r>
          </a:p>
        </p:txBody>
      </p:sp>
      <p:grpSp>
        <p:nvGrpSpPr>
          <p:cNvPr id="72" name="thead"/>
          <p:cNvGrpSpPr/>
          <p:nvPr/>
        </p:nvGrpSpPr>
        <p:grpSpPr>
          <a:xfrm>
            <a:off x="548640" y="1874519"/>
            <a:ext cx="11109960" cy="310896"/>
            <a:chOff x="548640" y="1874519"/>
            <a:chExt cx="11109960" cy="310896"/>
          </a:xfrm>
        </p:grpSpPr>
        <p:sp>
          <p:nvSpPr>
            <p:cNvPr id="12" name="Rounded Rectangle 11"/>
            <p:cNvSpPr/>
            <p:nvPr/>
          </p:nvSpPr>
          <p:spPr>
            <a:xfrm>
              <a:off x="548640" y="1874519"/>
              <a:ext cx="11109960" cy="310896"/>
            </a:xfrm>
            <a:prstGeom prst="roundRect">
              <a:avLst>
                <a:gd name="adj" fmla="val 20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1874519"/>
              <a:ext cx="1783080" cy="310896"/>
            </a:xfrm>
            <a:prstGeom prst="rect">
              <a:avLst/>
            </a:prstGeom>
            <a:noFill/>
          </p:spPr>
          <p:txBody>
            <a:bodyPr wrap="square" lIns="0" rIns="0" tIns="0" bIns="0" anchor="ctr">
              <a:spAutoFit/>
            </a:bodyPr>
            <a:lstStyle/>
            <a:p>
              <a:pPr algn="l"/>
              <a:r>
                <a:rPr sz="900" b="0" i="0">
                  <a:solidFill>
                    <a:srgbClr val="0B1A5C"/>
                  </a:solidFill>
                  <a:latin typeface="Segoe UI Semibold"/>
                </a:rPr>
                <a:t>Model / technology</a:t>
              </a:r>
            </a:p>
          </p:txBody>
        </p:sp>
        <p:sp>
          <p:nvSpPr>
            <p:cNvPr id="14" name="TextBox 13"/>
            <p:cNvSpPr txBox="1"/>
            <p:nvPr/>
          </p:nvSpPr>
          <p:spPr>
            <a:xfrm>
              <a:off x="2926080" y="1874519"/>
              <a:ext cx="4023359" cy="310896"/>
            </a:xfrm>
            <a:prstGeom prst="rect">
              <a:avLst/>
            </a:prstGeom>
            <a:noFill/>
          </p:spPr>
          <p:txBody>
            <a:bodyPr wrap="square" lIns="0" rIns="0" tIns="0" bIns="0" anchor="ctr">
              <a:spAutoFit/>
            </a:bodyPr>
            <a:lstStyle/>
            <a:p>
              <a:pPr algn="l"/>
              <a:r>
                <a:rPr sz="900" b="0" i="0">
                  <a:solidFill>
                    <a:srgbClr val="0B1A5C"/>
                  </a:solidFill>
                  <a:latin typeface="Segoe UI Semibold"/>
                </a:rPr>
                <a:t>What it does in ShubhLabh</a:t>
              </a:r>
            </a:p>
          </p:txBody>
        </p:sp>
        <p:sp>
          <p:nvSpPr>
            <p:cNvPr id="15" name="TextBox 14"/>
            <p:cNvSpPr txBox="1"/>
            <p:nvPr/>
          </p:nvSpPr>
          <p:spPr>
            <a:xfrm>
              <a:off x="7086600" y="1874519"/>
              <a:ext cx="2331719" cy="310896"/>
            </a:xfrm>
            <a:prstGeom prst="rect">
              <a:avLst/>
            </a:prstGeom>
            <a:noFill/>
          </p:spPr>
          <p:txBody>
            <a:bodyPr wrap="square" lIns="0" rIns="0" tIns="0" bIns="0" anchor="ctr">
              <a:spAutoFit/>
            </a:bodyPr>
            <a:lstStyle/>
            <a:p>
              <a:pPr algn="l"/>
              <a:r>
                <a:rPr sz="900" b="0" i="0">
                  <a:solidFill>
                    <a:srgbClr val="0B1A5C"/>
                  </a:solidFill>
                  <a:latin typeface="Segoe UI Semibold"/>
                </a:rPr>
                <a:t>Why this one</a:t>
              </a:r>
            </a:p>
          </p:txBody>
        </p:sp>
        <p:sp>
          <p:nvSpPr>
            <p:cNvPr id="16" name="TextBox 15"/>
            <p:cNvSpPr txBox="1"/>
            <p:nvPr/>
          </p:nvSpPr>
          <p:spPr>
            <a:xfrm>
              <a:off x="9555480" y="1874519"/>
              <a:ext cx="1965960" cy="310896"/>
            </a:xfrm>
            <a:prstGeom prst="rect">
              <a:avLst/>
            </a:prstGeom>
            <a:noFill/>
          </p:spPr>
          <p:txBody>
            <a:bodyPr wrap="square" lIns="0" rIns="0" tIns="0" bIns="0" anchor="ctr">
              <a:spAutoFit/>
            </a:bodyPr>
            <a:lstStyle/>
            <a:p>
              <a:pPr algn="l"/>
              <a:r>
                <a:rPr sz="900" b="0" i="0">
                  <a:solidFill>
                    <a:srgbClr val="138808"/>
                  </a:solidFill>
                  <a:latin typeface="Segoe UI Semibold"/>
                </a:rPr>
                <a:t>Measured</a:t>
              </a:r>
            </a:p>
          </p:txBody>
        </p:sp>
      </p:grpSp>
      <p:grpSp>
        <p:nvGrpSpPr>
          <p:cNvPr id="73" name="trows0"/>
          <p:cNvGrpSpPr/>
          <p:nvPr/>
        </p:nvGrpSpPr>
        <p:grpSpPr>
          <a:xfrm>
            <a:off x="548640" y="2231135"/>
            <a:ext cx="11109960" cy="1344168"/>
            <a:chOff x="548640" y="2231135"/>
            <a:chExt cx="11109960" cy="1344168"/>
          </a:xfrm>
        </p:grpSpPr>
        <p:sp>
          <p:nvSpPr>
            <p:cNvPr id="17" name="Rectangle 16"/>
            <p:cNvSpPr/>
            <p:nvPr/>
          </p:nvSpPr>
          <p:spPr>
            <a:xfrm>
              <a:off x="548640" y="2673705"/>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_navy.png"/>
            <p:cNvPicPr>
              <a:picLocks noChangeAspect="1"/>
            </p:cNvPicPr>
            <p:nvPr/>
          </p:nvPicPr>
          <p:blipFill>
            <a:blip r:embed="rId3"/>
            <a:stretch>
              <a:fillRect/>
            </a:stretch>
          </p:blipFill>
          <p:spPr>
            <a:xfrm>
              <a:off x="667512" y="2336291"/>
              <a:ext cx="237744" cy="237744"/>
            </a:xfrm>
            <a:prstGeom prst="rect">
              <a:avLst/>
            </a:prstGeom>
          </p:spPr>
        </p:pic>
        <p:sp>
          <p:nvSpPr>
            <p:cNvPr id="19" name="TextBox 18"/>
            <p:cNvSpPr txBox="1"/>
            <p:nvPr/>
          </p:nvSpPr>
          <p:spPr>
            <a:xfrm>
              <a:off x="1005840" y="2231135"/>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OpenAI gpt-4.1-mini</a:t>
              </a:r>
            </a:p>
          </p:txBody>
        </p:sp>
        <p:sp>
          <p:nvSpPr>
            <p:cNvPr id="20" name="TextBox 19"/>
            <p:cNvSpPr txBox="1"/>
            <p:nvPr/>
          </p:nvSpPr>
          <p:spPr>
            <a:xfrm>
              <a:off x="2926080" y="2231135"/>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Vision read of evidence (strict JSON, no tools) and targeted re-reads of doubtful fields; compiles briefs into constraints; agent tool choice; live-event triage; copy and explanations</a:t>
              </a:r>
            </a:p>
          </p:txBody>
        </p:sp>
        <p:sp>
          <p:nvSpPr>
            <p:cNvPr id="21" name="TextBox 20"/>
            <p:cNvSpPr txBox="1"/>
            <p:nvPr/>
          </p:nvSpPr>
          <p:spPr>
            <a:xfrm>
              <a:off x="7086600" y="2231135"/>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Fast and low-cost with function calling; every call logged; hard daily spend cap</a:t>
              </a:r>
            </a:p>
          </p:txBody>
        </p:sp>
        <p:sp>
          <p:nvSpPr>
            <p:cNvPr id="22" name="TextBox 21"/>
            <p:cNvSpPr txBox="1"/>
            <p:nvPr/>
          </p:nvSpPr>
          <p:spPr>
            <a:xfrm>
              <a:off x="9555480" y="2231135"/>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 $0.011 model cost per AI plan · 100% of auto-accepted fields correct on the 61‑file labelled set</a:t>
              </a:r>
            </a:p>
          </p:txBody>
        </p:sp>
        <p:sp>
          <p:nvSpPr>
            <p:cNvPr id="23" name="Rectangle 22"/>
            <p:cNvSpPr/>
            <p:nvPr/>
          </p:nvSpPr>
          <p:spPr>
            <a:xfrm>
              <a:off x="548640" y="2679191"/>
              <a:ext cx="11109960" cy="448056"/>
            </a:xfrm>
            <a:prstGeom prst="rect">
              <a:avLst/>
            </a:prstGeom>
            <a:solidFill>
              <a:srgbClr val="FAF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3121761"/>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neChart_navy.png"/>
            <p:cNvPicPr>
              <a:picLocks noChangeAspect="1"/>
            </p:cNvPicPr>
            <p:nvPr/>
          </p:nvPicPr>
          <p:blipFill>
            <a:blip r:embed="rId4"/>
            <a:stretch>
              <a:fillRect/>
            </a:stretch>
          </p:blipFill>
          <p:spPr>
            <a:xfrm>
              <a:off x="667512" y="2784348"/>
              <a:ext cx="237744" cy="237744"/>
            </a:xfrm>
            <a:prstGeom prst="rect">
              <a:avLst/>
            </a:prstGeom>
          </p:spPr>
        </p:pic>
        <p:sp>
          <p:nvSpPr>
            <p:cNvPr id="26" name="TextBox 25"/>
            <p:cNvSpPr txBox="1"/>
            <p:nvPr/>
          </p:nvSpPr>
          <p:spPr>
            <a:xfrm>
              <a:off x="1005840" y="2679191"/>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Chronos-2</a:t>
              </a:r>
            </a:p>
            <a:p>
              <a:pPr algn="l">
                <a:lnSpc>
                  <a:spcPct val="92000"/>
                </a:lnSpc>
              </a:pPr>
              <a:r>
                <a:rPr sz="800" b="0" i="0">
                  <a:solidFill>
                    <a:srgbClr val="6B7280"/>
                  </a:solidFill>
                  <a:latin typeface="Segoe UI"/>
                </a:rPr>
                <a:t>time-series foundation model (local CPU)</a:t>
              </a:r>
            </a:p>
          </p:txBody>
        </p:sp>
        <p:sp>
          <p:nvSpPr>
            <p:cNvPr id="27" name="TextBox 26"/>
            <p:cNvSpPr txBox="1"/>
            <p:nvPr/>
          </p:nvSpPr>
          <p:spPr>
            <a:xfrm>
              <a:off x="2926080" y="2679191"/>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Demand forecast per product × city with P10–P90 over a 14-day horizon; discount and promo activity as known covariates</a:t>
              </a:r>
            </a:p>
          </p:txBody>
        </p:sp>
        <p:sp>
          <p:nvSpPr>
            <p:cNvPr id="28" name="TextBox 27"/>
            <p:cNvSpPr txBox="1"/>
            <p:nvPr/>
          </p:nvSpPr>
          <p:spPr>
            <a:xfrm>
              <a:off x="7086600" y="2679191"/>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Zero-shot: no training on the store; runs on a CPU, no GPU</a:t>
              </a:r>
            </a:p>
          </p:txBody>
        </p:sp>
        <p:sp>
          <p:nvSpPr>
            <p:cNvPr id="29" name="TextBox 28"/>
            <p:cNvSpPr txBox="1"/>
            <p:nvPr/>
          </p:nvSpPr>
          <p:spPr>
            <a:xfrm>
              <a:off x="9555480" y="2679191"/>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WAPE 36.4% vs 40.0% seasonal naive · 600 real series</a:t>
              </a:r>
            </a:p>
          </p:txBody>
        </p:sp>
        <p:sp>
          <p:nvSpPr>
            <p:cNvPr id="30" name="Rectangle 29"/>
            <p:cNvSpPr/>
            <p:nvPr/>
          </p:nvSpPr>
          <p:spPr>
            <a:xfrm>
              <a:off x="548640" y="3569817"/>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ScanLine_navy.png"/>
            <p:cNvPicPr>
              <a:picLocks noChangeAspect="1"/>
            </p:cNvPicPr>
            <p:nvPr/>
          </p:nvPicPr>
          <p:blipFill>
            <a:blip r:embed="rId5"/>
            <a:stretch>
              <a:fillRect/>
            </a:stretch>
          </p:blipFill>
          <p:spPr>
            <a:xfrm>
              <a:off x="667512" y="3232403"/>
              <a:ext cx="237744" cy="237744"/>
            </a:xfrm>
            <a:prstGeom prst="rect">
              <a:avLst/>
            </a:prstGeom>
          </p:spPr>
        </p:pic>
        <p:sp>
          <p:nvSpPr>
            <p:cNvPr id="32" name="TextBox 31"/>
            <p:cNvSpPr txBox="1"/>
            <p:nvPr/>
          </p:nvSpPr>
          <p:spPr>
            <a:xfrm>
              <a:off x="1005840" y="3127247"/>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RapidOCR</a:t>
              </a:r>
            </a:p>
            <a:p>
              <a:pPr algn="l">
                <a:lnSpc>
                  <a:spcPct val="92000"/>
                </a:lnSpc>
              </a:pPr>
              <a:r>
                <a:rPr sz="800" b="0" i="0">
                  <a:solidFill>
                    <a:srgbClr val="6B7280"/>
                  </a:solidFill>
                  <a:latin typeface="Segoe UI"/>
                </a:rPr>
                <a:t>ONNX, local</a:t>
              </a:r>
            </a:p>
          </p:txBody>
        </p:sp>
        <p:sp>
          <p:nvSpPr>
            <p:cNvPr id="33" name="TextBox 32"/>
            <p:cNvSpPr txBox="1"/>
            <p:nvPr/>
          </p:nvSpPr>
          <p:spPr>
            <a:xfrm>
              <a:off x="2926080" y="3127247"/>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Second, independent read of every image and scan; locates each value on the page (boxes)</a:t>
              </a:r>
            </a:p>
          </p:txBody>
        </p:sp>
        <p:sp>
          <p:nvSpPr>
            <p:cNvPr id="34" name="TextBox 33"/>
            <p:cNvSpPr txBox="1"/>
            <p:nvPr/>
          </p:nvSpPr>
          <p:spPr>
            <a:xfrm>
              <a:off x="7086600" y="3127247"/>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Free and offline; the model read and the OCR read must agree before auto-accept</a:t>
              </a:r>
            </a:p>
          </p:txBody>
        </p:sp>
        <p:sp>
          <p:nvSpPr>
            <p:cNvPr id="35" name="TextBox 34"/>
            <p:cNvSpPr txBox="1"/>
            <p:nvPr/>
          </p:nvSpPr>
          <p:spPr>
            <a:xfrm>
              <a:off x="9555480" y="3127247"/>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Real store photos: 20 of 22 auto-accepted fields correct · offer prices 14 / 14</a:t>
              </a:r>
            </a:p>
          </p:txBody>
        </p:sp>
      </p:grpSp>
      <p:grpSp>
        <p:nvGrpSpPr>
          <p:cNvPr id="74" name="trows1"/>
          <p:cNvGrpSpPr/>
          <p:nvPr/>
        </p:nvGrpSpPr>
        <p:grpSpPr>
          <a:xfrm>
            <a:off x="548640" y="3575303"/>
            <a:ext cx="11109960" cy="1344169"/>
            <a:chOff x="548640" y="3575303"/>
            <a:chExt cx="11109960" cy="1344169"/>
          </a:xfrm>
        </p:grpSpPr>
        <p:sp>
          <p:nvSpPr>
            <p:cNvPr id="36" name="Rectangle 35"/>
            <p:cNvSpPr/>
            <p:nvPr/>
          </p:nvSpPr>
          <p:spPr>
            <a:xfrm>
              <a:off x="548640" y="3575303"/>
              <a:ext cx="11109960" cy="448056"/>
            </a:xfrm>
            <a:prstGeom prst="rect">
              <a:avLst/>
            </a:prstGeom>
            <a:solidFill>
              <a:srgbClr val="FAF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48640" y="4017873"/>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Target_navy.png"/>
            <p:cNvPicPr>
              <a:picLocks noChangeAspect="1"/>
            </p:cNvPicPr>
            <p:nvPr/>
          </p:nvPicPr>
          <p:blipFill>
            <a:blip r:embed="rId6"/>
            <a:stretch>
              <a:fillRect/>
            </a:stretch>
          </p:blipFill>
          <p:spPr>
            <a:xfrm>
              <a:off x="667512" y="3680459"/>
              <a:ext cx="237744" cy="237744"/>
            </a:xfrm>
            <a:prstGeom prst="rect">
              <a:avLst/>
            </a:prstGeom>
          </p:spPr>
        </p:pic>
        <p:sp>
          <p:nvSpPr>
            <p:cNvPr id="39" name="TextBox 38"/>
            <p:cNvSpPr txBox="1"/>
            <p:nvPr/>
          </p:nvSpPr>
          <p:spPr>
            <a:xfrm>
              <a:off x="1005840" y="3575303"/>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OR-Tools CP-SAT solver</a:t>
              </a:r>
            </a:p>
          </p:txBody>
        </p:sp>
        <p:sp>
          <p:nvSpPr>
            <p:cNvPr id="40" name="TextBox 39"/>
            <p:cNvSpPr txBox="1"/>
            <p:nvPr/>
          </p:nvSpPr>
          <p:spPr>
            <a:xfrm>
              <a:off x="2926080" y="3575303"/>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Chooses offers under budget, stock, margin floor, cannibalisation and city rules; recovery ladder hint → prune → split → fallback</a:t>
              </a:r>
            </a:p>
          </p:txBody>
        </p:sp>
        <p:sp>
          <p:nvSpPr>
            <p:cNvPr id="41" name="TextBox 40"/>
            <p:cNvSpPr txBox="1"/>
            <p:nvPr/>
          </p:nvSpPr>
          <p:spPr>
            <a:xfrm>
              <a:off x="7086600" y="3575303"/>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Exact optimisation, not a heuristic; every result re-validated independently of the model</a:t>
              </a:r>
            </a:p>
          </p:txBody>
        </p:sp>
        <p:sp>
          <p:nvSpPr>
            <p:cNvPr id="42" name="TextBox 41"/>
            <p:cNvSpPr txBox="1"/>
            <p:nvPr/>
          </p:nvSpPr>
          <p:spPr>
            <a:xfrm>
              <a:off x="9555480" y="3575303"/>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120 SKUs × 3 cities, 848 candidates: P95 1.34 s</a:t>
              </a:r>
            </a:p>
          </p:txBody>
        </p:sp>
        <p:sp>
          <p:nvSpPr>
            <p:cNvPr id="43" name="Rectangle 42"/>
            <p:cNvSpPr/>
            <p:nvPr/>
          </p:nvSpPr>
          <p:spPr>
            <a:xfrm>
              <a:off x="548640" y="4465929"/>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Repeat_navy.png"/>
            <p:cNvPicPr>
              <a:picLocks noChangeAspect="1"/>
            </p:cNvPicPr>
            <p:nvPr/>
          </p:nvPicPr>
          <p:blipFill>
            <a:blip r:embed="rId7"/>
            <a:stretch>
              <a:fillRect/>
            </a:stretch>
          </p:blipFill>
          <p:spPr>
            <a:xfrm>
              <a:off x="667512" y="4128515"/>
              <a:ext cx="237744" cy="237744"/>
            </a:xfrm>
            <a:prstGeom prst="rect">
              <a:avLst/>
            </a:prstGeom>
          </p:spPr>
        </p:pic>
        <p:sp>
          <p:nvSpPr>
            <p:cNvPr id="45" name="TextBox 44"/>
            <p:cNvSpPr txBox="1"/>
            <p:nvPr/>
          </p:nvSpPr>
          <p:spPr>
            <a:xfrm>
              <a:off x="1005840" y="4023359"/>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Monte Carlo risk check</a:t>
              </a:r>
            </a:p>
          </p:txBody>
        </p:sp>
        <p:sp>
          <p:nvSpPr>
            <p:cNvPr id="46" name="TextBox 45"/>
            <p:cNvSpPr txBox="1"/>
            <p:nvPr/>
          </p:nvSpPr>
          <p:spPr>
            <a:xfrm>
              <a:off x="2926080" y="4023359"/>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Runs plan, flat 10%, conservative and no-promotion on the same 200 scenarios; P10 / P50 / P90 and downside probability</a:t>
              </a:r>
            </a:p>
          </p:txBody>
        </p:sp>
        <p:sp>
          <p:nvSpPr>
            <p:cNvPr id="47" name="TextBox 46"/>
            <p:cNvSpPr txBox="1"/>
            <p:nvPr/>
          </p:nvSpPr>
          <p:spPr>
            <a:xfrm>
              <a:off x="7086600" y="4023359"/>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Independent of the solver; selection and reporting on separate scenario seeds</a:t>
              </a:r>
            </a:p>
          </p:txBody>
        </p:sp>
        <p:sp>
          <p:nvSpPr>
            <p:cNvPr id="48" name="TextBox 47"/>
            <p:cNvSpPr txBox="1"/>
            <p:nvPr/>
          </p:nvSpPr>
          <p:spPr>
            <a:xfrm>
              <a:off x="9555480" y="4023359"/>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Plan 2.0× a flat 10% off · at least ₹10,201 nine times in ten</a:t>
              </a:r>
            </a:p>
          </p:txBody>
        </p:sp>
        <p:sp>
          <p:nvSpPr>
            <p:cNvPr id="49" name="Rectangle 48"/>
            <p:cNvSpPr/>
            <p:nvPr/>
          </p:nvSpPr>
          <p:spPr>
            <a:xfrm>
              <a:off x="548640" y="4471416"/>
              <a:ext cx="11109960" cy="448056"/>
            </a:xfrm>
            <a:prstGeom prst="rect">
              <a:avLst/>
            </a:prstGeom>
            <a:solidFill>
              <a:srgbClr val="FAF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548640" y="4913985"/>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Database_navy.png"/>
            <p:cNvPicPr>
              <a:picLocks noChangeAspect="1"/>
            </p:cNvPicPr>
            <p:nvPr/>
          </p:nvPicPr>
          <p:blipFill>
            <a:blip r:embed="rId8"/>
            <a:stretch>
              <a:fillRect/>
            </a:stretch>
          </p:blipFill>
          <p:spPr>
            <a:xfrm>
              <a:off x="667512" y="4576572"/>
              <a:ext cx="237744" cy="237744"/>
            </a:xfrm>
            <a:prstGeom prst="rect">
              <a:avLst/>
            </a:prstGeom>
          </p:spPr>
        </p:pic>
        <p:sp>
          <p:nvSpPr>
            <p:cNvPr id="52" name="TextBox 51"/>
            <p:cNvSpPr txBox="1"/>
            <p:nvPr/>
          </p:nvSpPr>
          <p:spPr>
            <a:xfrm>
              <a:off x="1005840" y="4471416"/>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Price-response model</a:t>
              </a:r>
            </a:p>
          </p:txBody>
        </p:sp>
        <p:sp>
          <p:nvSpPr>
            <p:cNvPr id="53" name="TextBox 52"/>
            <p:cNvSpPr txBox="1"/>
            <p:nvPr/>
          </p:nvSpPr>
          <p:spPr>
            <a:xfrm>
              <a:off x="2926080" y="4471416"/>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Elasticity and promo-activity lift behind every candidate price and every forecast scenario</a:t>
              </a:r>
            </a:p>
          </p:txBody>
        </p:sp>
        <p:sp>
          <p:nvSpPr>
            <p:cNvPr id="54" name="TextBox 53"/>
            <p:cNvSpPr txBox="1"/>
            <p:nvPr/>
          </p:nvSpPr>
          <p:spPr>
            <a:xfrm>
              <a:off x="7086600" y="4471416"/>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Calibrated on real retail demand, not assumptions</a:t>
              </a:r>
            </a:p>
          </p:txBody>
        </p:sp>
        <p:sp>
          <p:nvSpPr>
            <p:cNvPr id="55" name="TextBox 54"/>
            <p:cNvSpPr txBox="1"/>
            <p:nvPr/>
          </p:nvSpPr>
          <p:spPr>
            <a:xfrm>
              <a:off x="9555480" y="4471416"/>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4.85M records · 898 stores · 18 cities · 62% smaller loss than flat 10% in a back‑test</a:t>
              </a:r>
            </a:p>
          </p:txBody>
        </p:sp>
      </p:grpSp>
      <p:grpSp>
        <p:nvGrpSpPr>
          <p:cNvPr id="75" name="trows2"/>
          <p:cNvGrpSpPr/>
          <p:nvPr/>
        </p:nvGrpSpPr>
        <p:grpSpPr>
          <a:xfrm>
            <a:off x="548640" y="4919471"/>
            <a:ext cx="11109960" cy="896112"/>
            <a:chOff x="548640" y="4919471"/>
            <a:chExt cx="11109960" cy="896112"/>
          </a:xfrm>
        </p:grpSpPr>
        <p:sp>
          <p:nvSpPr>
            <p:cNvPr id="56" name="Rectangle 55"/>
            <p:cNvSpPr/>
            <p:nvPr/>
          </p:nvSpPr>
          <p:spPr>
            <a:xfrm>
              <a:off x="548640" y="5362041"/>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Picture 56" descr="ShieldCheck_navy.png"/>
            <p:cNvPicPr>
              <a:picLocks noChangeAspect="1"/>
            </p:cNvPicPr>
            <p:nvPr/>
          </p:nvPicPr>
          <p:blipFill>
            <a:blip r:embed="rId9"/>
            <a:stretch>
              <a:fillRect/>
            </a:stretch>
          </p:blipFill>
          <p:spPr>
            <a:xfrm>
              <a:off x="667512" y="5024627"/>
              <a:ext cx="237744" cy="237744"/>
            </a:xfrm>
            <a:prstGeom prst="rect">
              <a:avLst/>
            </a:prstGeom>
          </p:spPr>
        </p:pic>
        <p:sp>
          <p:nvSpPr>
            <p:cNvPr id="58" name="TextBox 57"/>
            <p:cNvSpPr txBox="1"/>
            <p:nvPr/>
          </p:nvSpPr>
          <p:spPr>
            <a:xfrm>
              <a:off x="1005840" y="4919471"/>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ShubhLabh's Intelli AI</a:t>
              </a:r>
            </a:p>
            <a:p>
              <a:pPr algn="l">
                <a:lnSpc>
                  <a:spcPct val="92000"/>
                </a:lnSpc>
              </a:pPr>
              <a:r>
                <a:rPr sz="800" b="0" i="0">
                  <a:solidFill>
                    <a:srgbClr val="6B7280"/>
                  </a:solidFill>
                  <a:latin typeface="Segoe UI"/>
                </a:rPr>
                <a:t>verification layer</a:t>
              </a:r>
            </a:p>
          </p:txBody>
        </p:sp>
        <p:sp>
          <p:nvSpPr>
            <p:cNvPr id="59" name="TextBox 58"/>
            <p:cNvSpPr txBox="1"/>
            <p:nvPr/>
          </p:nvSpPr>
          <p:spPr>
            <a:xfrm>
              <a:off x="2926080" y="4919471"/>
              <a:ext cx="3995928" cy="448056"/>
            </a:xfrm>
            <a:prstGeom prst="rect">
              <a:avLst/>
            </a:prstGeom>
            <a:noFill/>
          </p:spPr>
          <p:txBody>
            <a:bodyPr wrap="square" lIns="0" rIns="0" tIns="0" bIns="0" anchor="ctr">
              <a:spAutoFit/>
            </a:bodyPr>
            <a:lstStyle/>
            <a:p>
              <a:pPr algn="l">
                <a:lnSpc>
                  <a:spcPct val="92000"/>
                </a:lnSpc>
              </a:pPr>
              <a:r>
                <a:rPr sz="700" b="0" i="0">
                  <a:solidFill>
                    <a:srgbClr val="4B5563"/>
                  </a:solidFill>
                  <a:latin typeface="Segoe UI"/>
                </a:rPr>
                <a:t>Our own in-house AI agent. In the background it re-checks every calculation on every offer: MRP, honest % off vs the 30-day low, margin, break-even and budget, plus copy lint and injection quarantine. It then gives a confidence score: a 90% chance of at least ₹X extra profit, from the 200-scenario risk check.</a:t>
              </a:r>
            </a:p>
          </p:txBody>
        </p:sp>
        <p:sp>
          <p:nvSpPr>
            <p:cNvPr id="60" name="TextBox 59"/>
            <p:cNvSpPr txBox="1"/>
            <p:nvPr/>
          </p:nvSpPr>
          <p:spPr>
            <a:xfrm>
              <a:off x="7086600" y="4919471"/>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Every published offer is verified by ShubhLabh's Intelli AI, with a confidence score</a:t>
              </a:r>
            </a:p>
          </p:txBody>
        </p:sp>
        <p:sp>
          <p:nvSpPr>
            <p:cNvPr id="61" name="TextBox 60"/>
            <p:cNvSpPr txBox="1"/>
            <p:nvPr/>
          </p:nvSpPr>
          <p:spPr>
            <a:xfrm>
              <a:off x="9555480" y="4919471"/>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190 / 190 red-team cases caught across 7 guards · 0 false alarms</a:t>
              </a:r>
            </a:p>
          </p:txBody>
        </p:sp>
        <p:sp>
          <p:nvSpPr>
            <p:cNvPr id="62" name="Rectangle 61"/>
            <p:cNvSpPr/>
            <p:nvPr/>
          </p:nvSpPr>
          <p:spPr>
            <a:xfrm>
              <a:off x="548640" y="5367527"/>
              <a:ext cx="11109960" cy="448056"/>
            </a:xfrm>
            <a:prstGeom prst="rect">
              <a:avLst/>
            </a:prstGeom>
            <a:solidFill>
              <a:srgbClr val="FAF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548640" y="5810097"/>
              <a:ext cx="1110996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Bot_navy.png"/>
            <p:cNvPicPr>
              <a:picLocks noChangeAspect="1"/>
            </p:cNvPicPr>
            <p:nvPr/>
          </p:nvPicPr>
          <p:blipFill>
            <a:blip r:embed="rId10"/>
            <a:stretch>
              <a:fillRect/>
            </a:stretch>
          </p:blipFill>
          <p:spPr>
            <a:xfrm>
              <a:off x="667512" y="5472683"/>
              <a:ext cx="237744" cy="237744"/>
            </a:xfrm>
            <a:prstGeom prst="rect">
              <a:avLst/>
            </a:prstGeom>
          </p:spPr>
        </p:pic>
        <p:sp>
          <p:nvSpPr>
            <p:cNvPr id="65" name="TextBox 64"/>
            <p:cNvSpPr txBox="1"/>
            <p:nvPr/>
          </p:nvSpPr>
          <p:spPr>
            <a:xfrm>
              <a:off x="1005840" y="5367527"/>
              <a:ext cx="1810512" cy="448056"/>
            </a:xfrm>
            <a:prstGeom prst="rect">
              <a:avLst/>
            </a:prstGeom>
            <a:noFill/>
          </p:spPr>
          <p:txBody>
            <a:bodyPr wrap="square" lIns="0" rIns="0" tIns="0" bIns="0" anchor="ctr">
              <a:spAutoFit/>
            </a:bodyPr>
            <a:lstStyle/>
            <a:p>
              <a:pPr algn="l">
                <a:lnSpc>
                  <a:spcPct val="92000"/>
                </a:lnSpc>
              </a:pPr>
              <a:r>
                <a:rPr sz="950" b="0" i="0">
                  <a:solidFill>
                    <a:srgbClr val="0B1A5C"/>
                  </a:solidFill>
                  <a:latin typeface="Segoe UI Semibold"/>
                </a:rPr>
                <a:t>Agentic orchestration</a:t>
              </a:r>
            </a:p>
          </p:txBody>
        </p:sp>
        <p:sp>
          <p:nvSpPr>
            <p:cNvPr id="66" name="TextBox 65"/>
            <p:cNvSpPr txBox="1"/>
            <p:nvPr/>
          </p:nvSpPr>
          <p:spPr>
            <a:xfrm>
              <a:off x="2926080" y="5367527"/>
              <a:ext cx="3995928"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Tool calls with strict schemas; picks the next tool and logs why; recovers from solver time-outs and model outages; asks a person when unsure</a:t>
              </a:r>
            </a:p>
          </p:txBody>
        </p:sp>
        <p:sp>
          <p:nvSpPr>
            <p:cNvPr id="67" name="TextBox 66"/>
            <p:cNvSpPr txBox="1"/>
            <p:nvPr/>
          </p:nvSpPr>
          <p:spPr>
            <a:xfrm>
              <a:off x="7086600" y="5367527"/>
              <a:ext cx="2304287" cy="448056"/>
            </a:xfrm>
            <a:prstGeom prst="rect">
              <a:avLst/>
            </a:prstGeom>
            <a:noFill/>
          </p:spPr>
          <p:txBody>
            <a:bodyPr wrap="square" lIns="0" rIns="0" tIns="0" bIns="0" anchor="ctr">
              <a:spAutoFit/>
            </a:bodyPr>
            <a:lstStyle/>
            <a:p>
              <a:pPr algn="l">
                <a:lnSpc>
                  <a:spcPct val="92000"/>
                </a:lnSpc>
              </a:pPr>
              <a:r>
                <a:rPr sz="850" b="0" i="0">
                  <a:solidFill>
                    <a:srgbClr val="4B5563"/>
                  </a:solidFill>
                  <a:latin typeface="Segoe UI"/>
                </a:rPr>
                <a:t>Powered by agentic AI, with a person approving every plan</a:t>
              </a:r>
            </a:p>
          </p:txBody>
        </p:sp>
        <p:sp>
          <p:nvSpPr>
            <p:cNvPr id="68" name="TextBox 67"/>
            <p:cNvSpPr txBox="1"/>
            <p:nvPr/>
          </p:nvSpPr>
          <p:spPr>
            <a:xfrm>
              <a:off x="9555480" y="5367527"/>
              <a:ext cx="2029968" cy="448056"/>
            </a:xfrm>
            <a:prstGeom prst="rect">
              <a:avLst/>
            </a:prstGeom>
            <a:noFill/>
          </p:spPr>
          <p:txBody>
            <a:bodyPr wrap="square" lIns="0" rIns="0" tIns="0" bIns="0" anchor="ctr">
              <a:spAutoFit/>
            </a:bodyPr>
            <a:lstStyle/>
            <a:p>
              <a:pPr algn="l">
                <a:lnSpc>
                  <a:spcPct val="92000"/>
                </a:lnSpc>
              </a:pPr>
              <a:r>
                <a:rPr sz="850" b="0" i="0">
                  <a:solidFill>
                    <a:srgbClr val="138808"/>
                  </a:solidFill>
                  <a:latin typeface="Segoe UI Semibold"/>
                </a:rPr>
                <a:t>Rules-only policy with no key · 784 automated tests</a:t>
              </a:r>
            </a:p>
          </p:txBody>
        </p:sp>
      </p:grpSp>
      <p:grpSp>
        <p:nvGrpSpPr>
          <p:cNvPr id="76" name="stack"/>
          <p:cNvGrpSpPr/>
          <p:nvPr/>
        </p:nvGrpSpPr>
        <p:grpSpPr>
          <a:xfrm>
            <a:off x="548640" y="5907023"/>
            <a:ext cx="11109960" cy="329184"/>
            <a:chOff x="548640" y="5907023"/>
            <a:chExt cx="11109960" cy="329184"/>
          </a:xfrm>
        </p:grpSpPr>
        <p:sp>
          <p:nvSpPr>
            <p:cNvPr id="69" name="Rounded Rectangle 68"/>
            <p:cNvSpPr/>
            <p:nvPr/>
          </p:nvSpPr>
          <p:spPr>
            <a:xfrm>
              <a:off x="548640" y="5907023"/>
              <a:ext cx="11109960" cy="329184"/>
            </a:xfrm>
            <a:prstGeom prst="roundRect">
              <a:avLst>
                <a:gd name="adj" fmla="val 5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777240" y="5907023"/>
              <a:ext cx="640080" cy="329184"/>
            </a:xfrm>
            <a:prstGeom prst="rect">
              <a:avLst/>
            </a:prstGeom>
            <a:noFill/>
          </p:spPr>
          <p:txBody>
            <a:bodyPr wrap="square" lIns="0" rIns="0" tIns="0" bIns="0" anchor="ctr">
              <a:spAutoFit/>
            </a:bodyPr>
            <a:lstStyle/>
            <a:p>
              <a:pPr algn="l"/>
              <a:r>
                <a:rPr sz="900" b="0" i="0">
                  <a:solidFill>
                    <a:srgbClr val="F28A1A"/>
                  </a:solidFill>
                  <a:latin typeface="Segoe UI Semibold"/>
                </a:rPr>
                <a:t>STACK</a:t>
              </a:r>
            </a:p>
          </p:txBody>
        </p:sp>
        <p:sp>
          <p:nvSpPr>
            <p:cNvPr id="71" name="TextBox 70"/>
            <p:cNvSpPr txBox="1"/>
            <p:nvPr/>
          </p:nvSpPr>
          <p:spPr>
            <a:xfrm>
              <a:off x="1463040" y="5907023"/>
              <a:ext cx="10012680" cy="329184"/>
            </a:xfrm>
            <a:prstGeom prst="rect">
              <a:avLst/>
            </a:prstGeom>
            <a:noFill/>
          </p:spPr>
          <p:txBody>
            <a:bodyPr wrap="none" lIns="0" rIns="0" tIns="0" bIns="0" anchor="ctr">
              <a:spAutoFit/>
            </a:bodyPr>
            <a:lstStyle/>
            <a:p>
              <a:pPr algn="l"/>
              <a:r>
                <a:rPr sz="950" b="0" i="0">
                  <a:solidFill>
                    <a:srgbClr val="FFFFFF"/>
                  </a:solidFill>
                  <a:latin typeface="Segoe UI"/>
                </a:rPr>
                <a:t>FastAPI · SQLAlchemy · PostgreSQL (SQLite on a laptop) · React + Vite · n8n automation for WhatsApp · NumPy · scikit-learn · pytest (784 tests) · Python</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600"/>
                                        <p:tgtEl>
                                          <p:spTgt spid="72"/>
                                        </p:tgtEl>
                                      </p:cBhvr>
                                    </p:animEffect>
                                    <p:anim calcmode="lin" valueType="num">
                                      <p:cBhvr>
                                        <p:cTn id="8" dur="600" fill="hold"/>
                                        <p:tgtEl>
                                          <p:spTgt spid="72"/>
                                        </p:tgtEl>
                                        <p:attrNameLst>
                                          <p:attrName>ppt_x</p:attrName>
                                        </p:attrNameLst>
                                      </p:cBhvr>
                                      <p:tavLst>
                                        <p:tav tm="0">
                                          <p:val>
                                            <p:strVal val="#ppt_x"/>
                                          </p:val>
                                        </p:tav>
                                        <p:tav tm="100000">
                                          <p:val>
                                            <p:strVal val="#ppt_x"/>
                                          </p:val>
                                        </p:tav>
                                      </p:tavLst>
                                    </p:anim>
                                    <p:anim calcmode="lin" valueType="num">
                                      <p:cBhvr>
                                        <p:cTn id="9" dur="600" decel="100000" fill="hold"/>
                                        <p:tgtEl>
                                          <p:spTgt spid="72"/>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73"/>
                                        </p:tgtEl>
                                        <p:attrNameLst>
                                          <p:attrName>style.visibility</p:attrName>
                                        </p:attrNameLst>
                                      </p:cBhvr>
                                      <p:to>
                                        <p:strVal val="visible"/>
                                      </p:to>
                                    </p:set>
                                    <p:animEffect transition="in" filter="fade">
                                      <p:cBhvr>
                                        <p:cTn id="13" dur="600"/>
                                        <p:tgtEl>
                                          <p:spTgt spid="73"/>
                                        </p:tgtEl>
                                      </p:cBhvr>
                                    </p:animEffect>
                                    <p:anim calcmode="lin" valueType="num">
                                      <p:cBhvr>
                                        <p:cTn id="14" dur="600" fill="hold"/>
                                        <p:tgtEl>
                                          <p:spTgt spid="73"/>
                                        </p:tgtEl>
                                        <p:attrNameLst>
                                          <p:attrName>ppt_x</p:attrName>
                                        </p:attrNameLst>
                                      </p:cBhvr>
                                      <p:tavLst>
                                        <p:tav tm="0">
                                          <p:val>
                                            <p:strVal val="#ppt_x"/>
                                          </p:val>
                                        </p:tav>
                                        <p:tav tm="100000">
                                          <p:val>
                                            <p:strVal val="#ppt_x"/>
                                          </p:val>
                                        </p:tav>
                                      </p:tavLst>
                                    </p:anim>
                                    <p:anim calcmode="lin" valueType="num">
                                      <p:cBhvr>
                                        <p:cTn id="15" dur="600" decel="100000" fill="hold"/>
                                        <p:tgtEl>
                                          <p:spTgt spid="73"/>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600"/>
                                        <p:tgtEl>
                                          <p:spTgt spid="74"/>
                                        </p:tgtEl>
                                      </p:cBhvr>
                                    </p:animEffect>
                                    <p:anim calcmode="lin" valueType="num">
                                      <p:cBhvr>
                                        <p:cTn id="20" dur="600" fill="hold"/>
                                        <p:tgtEl>
                                          <p:spTgt spid="74"/>
                                        </p:tgtEl>
                                        <p:attrNameLst>
                                          <p:attrName>ppt_x</p:attrName>
                                        </p:attrNameLst>
                                      </p:cBhvr>
                                      <p:tavLst>
                                        <p:tav tm="0">
                                          <p:val>
                                            <p:strVal val="#ppt_x"/>
                                          </p:val>
                                        </p:tav>
                                        <p:tav tm="100000">
                                          <p:val>
                                            <p:strVal val="#ppt_x"/>
                                          </p:val>
                                        </p:tav>
                                      </p:tavLst>
                                    </p:anim>
                                    <p:anim calcmode="lin" valueType="num">
                                      <p:cBhvr>
                                        <p:cTn id="21" dur="600" decel="100000" fill="hold"/>
                                        <p:tgtEl>
                                          <p:spTgt spid="74"/>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600"/>
                                        <p:tgtEl>
                                          <p:spTgt spid="75"/>
                                        </p:tgtEl>
                                      </p:cBhvr>
                                    </p:animEffect>
                                    <p:anim calcmode="lin" valueType="num">
                                      <p:cBhvr>
                                        <p:cTn id="26" dur="600" fill="hold"/>
                                        <p:tgtEl>
                                          <p:spTgt spid="75"/>
                                        </p:tgtEl>
                                        <p:attrNameLst>
                                          <p:attrName>ppt_x</p:attrName>
                                        </p:attrNameLst>
                                      </p:cBhvr>
                                      <p:tavLst>
                                        <p:tav tm="0">
                                          <p:val>
                                            <p:strVal val="#ppt_x"/>
                                          </p:val>
                                        </p:tav>
                                        <p:tav tm="100000">
                                          <p:val>
                                            <p:strVal val="#ppt_x"/>
                                          </p:val>
                                        </p:tav>
                                      </p:tavLst>
                                    </p:anim>
                                    <p:anim calcmode="lin" valueType="num">
                                      <p:cBhvr>
                                        <p:cTn id="27" dur="600" decel="100000" fill="hold"/>
                                        <p:tgtEl>
                                          <p:spTgt spid="75"/>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76"/>
                                        </p:tgtEl>
                                        <p:attrNameLst>
                                          <p:attrName>style.visibility</p:attrName>
                                        </p:attrNameLst>
                                      </p:cBhvr>
                                      <p:to>
                                        <p:strVal val="visible"/>
                                      </p:to>
                                    </p:set>
                                    <p:animEffect transition="in" filter="fade">
                                      <p:cBhvr>
                                        <p:cTn id="31" dur="600"/>
                                        <p:tgtEl>
                                          <p:spTgt spid="76"/>
                                        </p:tgtEl>
                                      </p:cBhvr>
                                    </p:animEffect>
                                    <p:anim calcmode="lin" valueType="num">
                                      <p:cBhvr>
                                        <p:cTn id="32" dur="600" fill="hold"/>
                                        <p:tgtEl>
                                          <p:spTgt spid="76"/>
                                        </p:tgtEl>
                                        <p:attrNameLst>
                                          <p:attrName>ppt_x</p:attrName>
                                        </p:attrNameLst>
                                      </p:cBhvr>
                                      <p:tavLst>
                                        <p:tav tm="0">
                                          <p:val>
                                            <p:strVal val="#ppt_x"/>
                                          </p:val>
                                        </p:tav>
                                        <p:tav tm="100000">
                                          <p:val>
                                            <p:strVal val="#ppt_x"/>
                                          </p:val>
                                        </p:tav>
                                      </p:tavLst>
                                    </p:anim>
                                    <p:anim calcmode="lin" valueType="num">
                                      <p:cBhvr>
                                        <p:cTn id="33" dur="600" decel="100000" fill="hold"/>
                                        <p:tgtEl>
                                          <p:spTgt spid="7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07</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and2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Product Demo</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One click. Full control. One </a:t>
            </a:r>
            <a:r>
              <a:rPr sz="3600" b="0" i="0">
                <a:solidFill>
                  <a:srgbClr val="138808"/>
                </a:solidFill>
                <a:latin typeface="Segoe UI Black"/>
              </a:rPr>
              <a:t>message</a:t>
            </a:r>
            <a:r>
              <a:rPr sz="3600" b="0" i="0">
                <a:solidFill>
                  <a:srgbClr val="0B1A5C"/>
                </a:solidFill>
                <a:latin typeface="Segoe UI Black"/>
              </a:rPr>
              <a:t>.</a:t>
            </a:r>
          </a:p>
        </p:txBody>
      </p:sp>
      <p:sp>
        <p:nvSpPr>
          <p:cNvPr id="12" name="Rounded Rectangle 11"/>
          <p:cNvSpPr/>
          <p:nvPr/>
        </p:nvSpPr>
        <p:spPr>
          <a:xfrm>
            <a:off x="9856086" y="411480"/>
            <a:ext cx="1802513" cy="384048"/>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imer_saffron.png"/>
          <p:cNvPicPr>
            <a:picLocks noChangeAspect="1"/>
          </p:cNvPicPr>
          <p:nvPr/>
        </p:nvPicPr>
        <p:blipFill>
          <a:blip r:embed="rId3"/>
          <a:stretch>
            <a:fillRect/>
          </a:stretch>
        </p:blipFill>
        <p:spPr>
          <a:xfrm>
            <a:off x="10002390" y="495970"/>
            <a:ext cx="215066" cy="215066"/>
          </a:xfrm>
          <a:prstGeom prst="rect">
            <a:avLst/>
          </a:prstGeom>
        </p:spPr>
      </p:pic>
      <p:sp>
        <p:nvSpPr>
          <p:cNvPr id="14" name="TextBox 13"/>
          <p:cNvSpPr txBox="1"/>
          <p:nvPr/>
        </p:nvSpPr>
        <p:spPr>
          <a:xfrm>
            <a:off x="10281465" y="411480"/>
            <a:ext cx="1278379" cy="384048"/>
          </a:xfrm>
          <a:prstGeom prst="rect">
            <a:avLst/>
          </a:prstGeom>
          <a:noFill/>
        </p:spPr>
        <p:txBody>
          <a:bodyPr wrap="none" lIns="0" rIns="0" tIns="0" bIns="0" anchor="ctr">
            <a:spAutoFit/>
          </a:bodyPr>
          <a:lstStyle/>
          <a:p>
            <a:pPr algn="l"/>
            <a:r>
              <a:rPr sz="1200" b="0" i="0">
                <a:solidFill>
                  <a:srgbClr val="0B1A5C"/>
                </a:solidFill>
                <a:latin typeface="Segoe UI Semibold"/>
              </a:rPr>
              <a:t>Under 2 minutes</a:t>
            </a:r>
          </a:p>
        </p:txBody>
      </p:sp>
      <p:sp>
        <p:nvSpPr>
          <p:cNvPr id="15" name="Rounded Rectangle 14"/>
          <p:cNvSpPr/>
          <p:nvPr/>
        </p:nvSpPr>
        <p:spPr>
          <a:xfrm>
            <a:off x="7078798" y="411480"/>
            <a:ext cx="2640128" cy="384048"/>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nk2_saffron.png"/>
          <p:cNvPicPr>
            <a:picLocks noChangeAspect="1"/>
          </p:cNvPicPr>
          <p:nvPr/>
        </p:nvPicPr>
        <p:blipFill>
          <a:blip r:embed="rId4"/>
          <a:stretch>
            <a:fillRect/>
          </a:stretch>
        </p:blipFill>
        <p:spPr>
          <a:xfrm>
            <a:off x="7225102" y="495970"/>
            <a:ext cx="215066" cy="215066"/>
          </a:xfrm>
          <a:prstGeom prst="rect">
            <a:avLst/>
          </a:prstGeom>
        </p:spPr>
      </p:pic>
      <p:sp>
        <p:nvSpPr>
          <p:cNvPr id="17" name="TextBox 16"/>
          <p:cNvSpPr txBox="1"/>
          <p:nvPr/>
        </p:nvSpPr>
        <p:spPr>
          <a:xfrm>
            <a:off x="7504176" y="411480"/>
            <a:ext cx="2115993" cy="384048"/>
          </a:xfrm>
          <a:prstGeom prst="rect">
            <a:avLst/>
          </a:prstGeom>
          <a:noFill/>
        </p:spPr>
        <p:txBody>
          <a:bodyPr wrap="none" lIns="0" rIns="0" tIns="0" bIns="0" anchor="ctr">
            <a:spAutoFit/>
          </a:bodyPr>
          <a:lstStyle/>
          <a:p>
            <a:pPr algn="l"/>
            <a:r>
              <a:rPr sz="1200" b="0" i="0">
                <a:solidFill>
                  <a:srgbClr val="0B1A5C"/>
                </a:solidFill>
                <a:latin typeface="Segoe UI Semibold"/>
              </a:rPr>
              <a:t>Live: </a:t>
            </a:r>
            <a:r>
              <a:rPr sz="1200" b="0" i="0">
                <a:solidFill>
                  <a:srgbClr val="F28A1A"/>
                </a:solidFill>
                <a:latin typeface="Segoe UI Semibold"/>
                <a:hlinkClick r:id="rId5">
                  <a:extLst>
                    <a:ext uri="{A12FA001-AC4F-418D-AE19-62706E023703}">
                      <ahyp:hlinkClr xmlns:ahyp="http://schemas.microsoft.com/office/drawing/2018/hyperlinkcolor" val="tx"/>
                    </a:ext>
                  </a:extLst>
                </a:hlinkClick>
              </a:rPr>
              <a:t>shubhlabh-ai.replit.app</a:t>
            </a:r>
          </a:p>
        </p:txBody>
      </p:sp>
      <p:grpSp>
        <p:nvGrpSpPr>
          <p:cNvPr id="67" name="steps"/>
          <p:cNvGrpSpPr/>
          <p:nvPr/>
        </p:nvGrpSpPr>
        <p:grpSpPr>
          <a:xfrm>
            <a:off x="548640" y="1874519"/>
            <a:ext cx="6355080" cy="603505"/>
            <a:chOff x="548640" y="1874519"/>
            <a:chExt cx="6355080" cy="603505"/>
          </a:xfrm>
        </p:grpSpPr>
        <p:sp>
          <p:nvSpPr>
            <p:cNvPr id="18" name="TextBox 17"/>
            <p:cNvSpPr txBox="1"/>
            <p:nvPr/>
          </p:nvSpPr>
          <p:spPr>
            <a:xfrm>
              <a:off x="548640" y="1874519"/>
              <a:ext cx="6355080" cy="201168"/>
            </a:xfrm>
            <a:prstGeom prst="rect">
              <a:avLst/>
            </a:prstGeom>
            <a:noFill/>
          </p:spPr>
          <p:txBody>
            <a:bodyPr wrap="square" lIns="0" rIns="0" tIns="0" bIns="0" anchor="t">
              <a:spAutoFit/>
            </a:bodyPr>
            <a:lstStyle/>
            <a:p>
              <a:pPr algn="l"/>
              <a:r>
                <a:rPr sz="900" b="0" i="0">
                  <a:solidFill>
                    <a:srgbClr val="F28A1A"/>
                  </a:solidFill>
                  <a:latin typeface="Segoe UI Semibold"/>
                </a:rPr>
                <a:t>ONE-CLICK DESIGNER · SPEED, FOR CHAINS</a:t>
              </a:r>
            </a:p>
          </p:txBody>
        </p:sp>
        <p:sp>
          <p:nvSpPr>
            <p:cNvPr id="19" name="Rounded Rectangle 18"/>
            <p:cNvSpPr/>
            <p:nvPr/>
          </p:nvSpPr>
          <p:spPr>
            <a:xfrm>
              <a:off x="548640" y="2130552"/>
              <a:ext cx="1255220" cy="347472"/>
            </a:xfrm>
            <a:prstGeom prst="roundRect">
              <a:avLst>
                <a:gd name="adj" fmla="val 50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lendarDays_saffron.png"/>
            <p:cNvPicPr>
              <a:picLocks noChangeAspect="1"/>
            </p:cNvPicPr>
            <p:nvPr/>
          </p:nvPicPr>
          <p:blipFill>
            <a:blip r:embed="rId6"/>
            <a:stretch>
              <a:fillRect/>
            </a:stretch>
          </p:blipFill>
          <p:spPr>
            <a:xfrm>
              <a:off x="659720" y="2203704"/>
              <a:ext cx="201168" cy="201168"/>
            </a:xfrm>
            <a:prstGeom prst="rect">
              <a:avLst/>
            </a:prstGeom>
          </p:spPr>
        </p:pic>
        <p:sp>
          <p:nvSpPr>
            <p:cNvPr id="21" name="TextBox 20"/>
            <p:cNvSpPr txBox="1"/>
            <p:nvPr/>
          </p:nvSpPr>
          <p:spPr>
            <a:xfrm>
              <a:off x="924896" y="2130552"/>
              <a:ext cx="813603" cy="347472"/>
            </a:xfrm>
            <a:prstGeom prst="rect">
              <a:avLst/>
            </a:prstGeom>
            <a:noFill/>
          </p:spPr>
          <p:txBody>
            <a:bodyPr wrap="none" lIns="0" rIns="0" tIns="0" bIns="0" anchor="ctr">
              <a:spAutoFit/>
            </a:bodyPr>
            <a:lstStyle/>
            <a:p>
              <a:pPr algn="l"/>
              <a:r>
                <a:rPr sz="950" b="0" i="0">
                  <a:solidFill>
                    <a:srgbClr val="0B1A5C"/>
                  </a:solidFill>
                  <a:latin typeface="Segoe UI Semibold"/>
                </a:rPr>
                <a:t>Pick a festival</a:t>
              </a:r>
            </a:p>
          </p:txBody>
        </p:sp>
        <p:pic>
          <p:nvPicPr>
            <p:cNvPr id="22" name="Picture 21" descr="ArrowRight_grey.png"/>
            <p:cNvPicPr>
              <a:picLocks noChangeAspect="1"/>
            </p:cNvPicPr>
            <p:nvPr/>
          </p:nvPicPr>
          <p:blipFill>
            <a:blip r:embed="rId7"/>
            <a:stretch>
              <a:fillRect/>
            </a:stretch>
          </p:blipFill>
          <p:spPr>
            <a:xfrm>
              <a:off x="1858724" y="2221992"/>
              <a:ext cx="164592" cy="164592"/>
            </a:xfrm>
            <a:prstGeom prst="rect">
              <a:avLst/>
            </a:prstGeom>
          </p:spPr>
        </p:pic>
        <p:sp>
          <p:nvSpPr>
            <p:cNvPr id="23" name="Rounded Rectangle 22"/>
            <p:cNvSpPr/>
            <p:nvPr/>
          </p:nvSpPr>
          <p:spPr>
            <a:xfrm>
              <a:off x="2078180" y="2130552"/>
              <a:ext cx="1451600" cy="347472"/>
            </a:xfrm>
            <a:prstGeom prst="roundRect">
              <a:avLst>
                <a:gd name="adj" fmla="val 50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eText_saffron.png"/>
            <p:cNvPicPr>
              <a:picLocks noChangeAspect="1"/>
            </p:cNvPicPr>
            <p:nvPr/>
          </p:nvPicPr>
          <p:blipFill>
            <a:blip r:embed="rId8"/>
            <a:stretch>
              <a:fillRect/>
            </a:stretch>
          </p:blipFill>
          <p:spPr>
            <a:xfrm>
              <a:off x="2189261" y="2203704"/>
              <a:ext cx="201168" cy="201168"/>
            </a:xfrm>
            <a:prstGeom prst="rect">
              <a:avLst/>
            </a:prstGeom>
          </p:spPr>
        </p:pic>
        <p:sp>
          <p:nvSpPr>
            <p:cNvPr id="25" name="TextBox 24"/>
            <p:cNvSpPr txBox="1"/>
            <p:nvPr/>
          </p:nvSpPr>
          <p:spPr>
            <a:xfrm>
              <a:off x="2454437" y="2130552"/>
              <a:ext cx="1009983" cy="347472"/>
            </a:xfrm>
            <a:prstGeom prst="rect">
              <a:avLst/>
            </a:prstGeom>
            <a:noFill/>
          </p:spPr>
          <p:txBody>
            <a:bodyPr wrap="none" lIns="0" rIns="0" tIns="0" bIns="0" anchor="ctr">
              <a:spAutoFit/>
            </a:bodyPr>
            <a:lstStyle/>
            <a:p>
              <a:pPr algn="l"/>
              <a:r>
                <a:rPr sz="950" b="0" i="0">
                  <a:solidFill>
                    <a:srgbClr val="0B1A5C"/>
                  </a:solidFill>
                  <a:latin typeface="Segoe UI Semibold"/>
                </a:rPr>
                <a:t>Drop in anything</a:t>
              </a:r>
            </a:p>
          </p:txBody>
        </p:sp>
        <p:pic>
          <p:nvPicPr>
            <p:cNvPr id="26" name="Picture 25" descr="ArrowRight_grey.png"/>
            <p:cNvPicPr>
              <a:picLocks noChangeAspect="1"/>
            </p:cNvPicPr>
            <p:nvPr/>
          </p:nvPicPr>
          <p:blipFill>
            <a:blip r:embed="rId7"/>
            <a:stretch>
              <a:fillRect/>
            </a:stretch>
          </p:blipFill>
          <p:spPr>
            <a:xfrm>
              <a:off x="3584645" y="2221992"/>
              <a:ext cx="164592" cy="164592"/>
            </a:xfrm>
            <a:prstGeom prst="rect">
              <a:avLst/>
            </a:prstGeom>
          </p:spPr>
        </p:pic>
        <p:sp>
          <p:nvSpPr>
            <p:cNvPr id="27" name="Rounded Rectangle 26"/>
            <p:cNvSpPr/>
            <p:nvPr/>
          </p:nvSpPr>
          <p:spPr>
            <a:xfrm>
              <a:off x="3804101" y="2130552"/>
              <a:ext cx="1208177" cy="347472"/>
            </a:xfrm>
            <a:prstGeom prst="roundRect">
              <a:avLst>
                <a:gd name="adj" fmla="val 50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Wand2_saffron.png"/>
            <p:cNvPicPr>
              <a:picLocks noChangeAspect="1"/>
            </p:cNvPicPr>
            <p:nvPr/>
          </p:nvPicPr>
          <p:blipFill>
            <a:blip r:embed="rId2"/>
            <a:stretch>
              <a:fillRect/>
            </a:stretch>
          </p:blipFill>
          <p:spPr>
            <a:xfrm>
              <a:off x="3915182" y="2203704"/>
              <a:ext cx="201168" cy="201168"/>
            </a:xfrm>
            <a:prstGeom prst="rect">
              <a:avLst/>
            </a:prstGeom>
          </p:spPr>
        </p:pic>
        <p:sp>
          <p:nvSpPr>
            <p:cNvPr id="29" name="TextBox 28"/>
            <p:cNvSpPr txBox="1"/>
            <p:nvPr/>
          </p:nvSpPr>
          <p:spPr>
            <a:xfrm>
              <a:off x="4180358" y="2130552"/>
              <a:ext cx="766560" cy="347472"/>
            </a:xfrm>
            <a:prstGeom prst="rect">
              <a:avLst/>
            </a:prstGeom>
            <a:noFill/>
          </p:spPr>
          <p:txBody>
            <a:bodyPr wrap="none" lIns="0" rIns="0" tIns="0" bIns="0" anchor="ctr">
              <a:spAutoFit/>
            </a:bodyPr>
            <a:lstStyle/>
            <a:p>
              <a:pPr algn="l"/>
              <a:r>
                <a:rPr sz="950" b="0" i="0">
                  <a:solidFill>
                    <a:srgbClr val="0B1A5C"/>
                  </a:solidFill>
                  <a:latin typeface="Segoe UI Semibold"/>
                </a:rPr>
                <a:t>Press Design</a:t>
              </a:r>
            </a:p>
          </p:txBody>
        </p:sp>
        <p:pic>
          <p:nvPicPr>
            <p:cNvPr id="30" name="Picture 29" descr="ArrowRight_grey.png"/>
            <p:cNvPicPr>
              <a:picLocks noChangeAspect="1"/>
            </p:cNvPicPr>
            <p:nvPr/>
          </p:nvPicPr>
          <p:blipFill>
            <a:blip r:embed="rId7"/>
            <a:stretch>
              <a:fillRect/>
            </a:stretch>
          </p:blipFill>
          <p:spPr>
            <a:xfrm>
              <a:off x="5067142" y="2221992"/>
              <a:ext cx="164592" cy="164592"/>
            </a:xfrm>
            <a:prstGeom prst="rect">
              <a:avLst/>
            </a:prstGeom>
          </p:spPr>
        </p:pic>
        <p:sp>
          <p:nvSpPr>
            <p:cNvPr id="31" name="Rounded Rectangle 30"/>
            <p:cNvSpPr/>
            <p:nvPr/>
          </p:nvSpPr>
          <p:spPr>
            <a:xfrm>
              <a:off x="5286598" y="2130552"/>
              <a:ext cx="1617121" cy="347472"/>
            </a:xfrm>
            <a:prstGeom prst="roundRect">
              <a:avLst>
                <a:gd name="adj" fmla="val 50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BadgeCheck_saffron.png"/>
            <p:cNvPicPr>
              <a:picLocks noChangeAspect="1"/>
            </p:cNvPicPr>
            <p:nvPr/>
          </p:nvPicPr>
          <p:blipFill>
            <a:blip r:embed="rId9"/>
            <a:stretch>
              <a:fillRect/>
            </a:stretch>
          </p:blipFill>
          <p:spPr>
            <a:xfrm>
              <a:off x="5397679" y="2203704"/>
              <a:ext cx="201168" cy="201168"/>
            </a:xfrm>
            <a:prstGeom prst="rect">
              <a:avLst/>
            </a:prstGeom>
          </p:spPr>
        </p:pic>
        <p:sp>
          <p:nvSpPr>
            <p:cNvPr id="33" name="TextBox 32"/>
            <p:cNvSpPr txBox="1"/>
            <p:nvPr/>
          </p:nvSpPr>
          <p:spPr>
            <a:xfrm>
              <a:off x="5662855" y="2130552"/>
              <a:ext cx="1175503" cy="347472"/>
            </a:xfrm>
            <a:prstGeom prst="rect">
              <a:avLst/>
            </a:prstGeom>
            <a:noFill/>
          </p:spPr>
          <p:txBody>
            <a:bodyPr wrap="none" lIns="0" rIns="0" tIns="0" bIns="0" anchor="ctr">
              <a:spAutoFit/>
            </a:bodyPr>
            <a:lstStyle/>
            <a:p>
              <a:pPr algn="l"/>
              <a:r>
                <a:rPr sz="950" b="0" i="0">
                  <a:solidFill>
                    <a:srgbClr val="0B1A5C"/>
                  </a:solidFill>
                  <a:latin typeface="Segoe UI Semibold"/>
                </a:rPr>
                <a:t>Verified kit · &lt;2 min</a:t>
              </a:r>
            </a:p>
          </p:txBody>
        </p:sp>
      </p:grpSp>
      <p:grpSp>
        <p:nvGrpSpPr>
          <p:cNvPr id="68" name="kit"/>
          <p:cNvGrpSpPr/>
          <p:nvPr/>
        </p:nvGrpSpPr>
        <p:grpSpPr>
          <a:xfrm>
            <a:off x="548640" y="2606040"/>
            <a:ext cx="6355080" cy="3172967"/>
            <a:chOff x="548640" y="2606040"/>
            <a:chExt cx="6355080" cy="3172967"/>
          </a:xfrm>
        </p:grpSpPr>
        <p:pic>
          <p:nvPicPr>
            <p:cNvPr id="34" name="Picture 33" descr="04_campaign_ready.png"/>
            <p:cNvPicPr>
              <a:picLocks noChangeAspect="1"/>
            </p:cNvPicPr>
            <p:nvPr/>
          </p:nvPicPr>
          <p:blipFill>
            <a:blip r:embed="rId10"/>
            <a:srcRect l="14125" t="10800" r="14125" b="31200"/>
            <a:stretch>
              <a:fillRect/>
            </a:stretch>
          </p:blipFill>
          <p:spPr>
            <a:xfrm>
              <a:off x="548640" y="2606040"/>
              <a:ext cx="4814641" cy="2432484"/>
            </a:xfrm>
            <a:prstGeom prst="rect">
              <a:avLst/>
            </a:prstGeom>
            <a:ln w="9525">
              <a:solidFill>
                <a:srgbClr val="E5E7EB"/>
              </a:solidFill>
            </a:ln>
            <a:effectLst>
              <a:outerShdw blurRad="355600" dist="101600" dir="5400000" algn="t" rotWithShape="0">
                <a:srgbClr val="0B1A5C">
                  <a:alpha val="18000"/>
                </a:srgbClr>
              </a:outerShdw>
            </a:effectLst>
          </p:spPr>
        </p:pic>
        <p:sp>
          <p:nvSpPr>
            <p:cNvPr id="35" name="TextBox 34"/>
            <p:cNvSpPr txBox="1"/>
            <p:nvPr/>
          </p:nvSpPr>
          <p:spPr>
            <a:xfrm>
              <a:off x="548640" y="5111676"/>
              <a:ext cx="6355080" cy="332798"/>
            </a:xfrm>
            <a:prstGeom prst="rect">
              <a:avLst/>
            </a:prstGeom>
            <a:noFill/>
          </p:spPr>
          <p:txBody>
            <a:bodyPr wrap="square" lIns="0" rIns="0" tIns="0" bIns="0" anchor="t">
              <a:spAutoFit/>
            </a:bodyPr>
            <a:lstStyle/>
            <a:p>
              <a:pPr algn="l">
                <a:lnSpc>
                  <a:spcPct val="98000"/>
                </a:lnSpc>
              </a:pPr>
              <a:r>
                <a:rPr sz="950" b="0" i="1">
                  <a:solidFill>
                    <a:srgbClr val="6B7280"/>
                  </a:solidFill>
                  <a:latin typeface="Segoe UI"/>
                </a:rPr>
                <a:t>Dhanteras &amp; Diwali · Delhi · Mumbai · Bengaluru · +₹12,820 extra profit · 2.0× a flat 10% off · 40 offers verified by ShubhLabh's Intelli AI · 300 of 300 checks passed · estimated on ShubhLabh's reference store data (rules-only run)</a:t>
              </a:r>
            </a:p>
          </p:txBody>
        </p:sp>
        <p:sp>
          <p:nvSpPr>
            <p:cNvPr id="36" name="TextBox 35"/>
            <p:cNvSpPr txBox="1"/>
            <p:nvPr/>
          </p:nvSpPr>
          <p:spPr>
            <a:xfrm>
              <a:off x="548640" y="5462762"/>
              <a:ext cx="6355080" cy="316245"/>
            </a:xfrm>
            <a:prstGeom prst="rect">
              <a:avLst/>
            </a:prstGeom>
            <a:noFill/>
          </p:spPr>
          <p:txBody>
            <a:bodyPr wrap="square" lIns="0" rIns="0" tIns="0" bIns="0" anchor="t">
              <a:spAutoFit/>
            </a:bodyPr>
            <a:lstStyle/>
            <a:p>
              <a:pPr algn="l">
                <a:lnSpc>
                  <a:spcPct val="98000"/>
                </a:lnSpc>
              </a:pPr>
              <a:r>
                <a:rPr sz="900" b="0" i="0">
                  <a:solidFill>
                    <a:srgbClr val="6B7280"/>
                  </a:solidFill>
                  <a:latin typeface="Segoe UI"/>
                </a:rPr>
                <a:t>Zero training: a guided tour on the first visit and three How-to guides with ~70-second Hinglish videos. The full walkthrough video is in the submission.</a:t>
              </a:r>
            </a:p>
          </p:txBody>
        </p:sp>
      </p:grpSp>
      <p:grpSp>
        <p:nvGrpSpPr>
          <p:cNvPr id="69" name="studio"/>
          <p:cNvGrpSpPr/>
          <p:nvPr/>
        </p:nvGrpSpPr>
        <p:grpSpPr>
          <a:xfrm>
            <a:off x="548640" y="5888736"/>
            <a:ext cx="6355080" cy="365760"/>
            <a:chOff x="548640" y="5888736"/>
            <a:chExt cx="6355080" cy="365760"/>
          </a:xfrm>
        </p:grpSpPr>
        <p:sp>
          <p:nvSpPr>
            <p:cNvPr id="37" name="Rounded Rectangle 36"/>
            <p:cNvSpPr/>
            <p:nvPr/>
          </p:nvSpPr>
          <p:spPr>
            <a:xfrm>
              <a:off x="548640" y="5888736"/>
              <a:ext cx="6355080" cy="365760"/>
            </a:xfrm>
            <a:prstGeom prst="roundRect">
              <a:avLst>
                <a:gd name="adj" fmla="val 5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ayers_saffron.png"/>
            <p:cNvPicPr>
              <a:picLocks noChangeAspect="1"/>
            </p:cNvPicPr>
            <p:nvPr/>
          </p:nvPicPr>
          <p:blipFill>
            <a:blip r:embed="rId11"/>
            <a:stretch>
              <a:fillRect/>
            </a:stretch>
          </p:blipFill>
          <p:spPr>
            <a:xfrm>
              <a:off x="713232" y="5971031"/>
              <a:ext cx="201168" cy="201168"/>
            </a:xfrm>
            <a:prstGeom prst="rect">
              <a:avLst/>
            </a:prstGeom>
          </p:spPr>
        </p:pic>
        <p:sp>
          <p:nvSpPr>
            <p:cNvPr id="39" name="TextBox 38"/>
            <p:cNvSpPr txBox="1"/>
            <p:nvPr/>
          </p:nvSpPr>
          <p:spPr>
            <a:xfrm>
              <a:off x="1005840" y="5888736"/>
              <a:ext cx="5806440" cy="365760"/>
            </a:xfrm>
            <a:prstGeom prst="rect">
              <a:avLst/>
            </a:prstGeom>
            <a:noFill/>
          </p:spPr>
          <p:txBody>
            <a:bodyPr wrap="none" lIns="0" rIns="0" tIns="0" bIns="0" anchor="ctr">
              <a:spAutoFit/>
            </a:bodyPr>
            <a:lstStyle/>
            <a:p>
              <a:pPr algn="l"/>
              <a:r>
                <a:rPr sz="1050" b="0" i="0">
                  <a:solidFill>
                    <a:srgbClr val="0B1A5C"/>
                  </a:solidFill>
                  <a:latin typeface="Segoe UI Semibold"/>
                </a:rPr>
                <a:t>Full control in Promo Studio</a:t>
              </a:r>
              <a:r>
                <a:rPr sz="1050" b="0" i="0">
                  <a:solidFill>
                    <a:srgbClr val="4B5563"/>
                  </a:solidFill>
                  <a:latin typeface="Segoe UI"/>
                </a:rPr>
                <a:t>  →  next slide: brief, evidence, agent run, plan &amp; approve, live ops, ask</a:t>
              </a:r>
            </a:p>
          </p:txBody>
        </p:sp>
      </p:grpSp>
      <p:grpSp>
        <p:nvGrpSpPr>
          <p:cNvPr id="56" name="door2"/>
          <p:cNvGrpSpPr/>
          <p:nvPr/>
        </p:nvGrpSpPr>
        <p:grpSpPr>
          <a:xfrm>
            <a:off x="7178040" y="1874519"/>
            <a:ext cx="4480560" cy="4379976"/>
            <a:chOff x="7178040" y="1874519"/>
            <a:chExt cx="4480560" cy="4379976"/>
          </a:xfrm>
        </p:grpSpPr>
        <p:sp>
          <p:nvSpPr>
            <p:cNvPr id="40" name="Rounded Rectangle 39"/>
            <p:cNvSpPr/>
            <p:nvPr/>
          </p:nvSpPr>
          <p:spPr>
            <a:xfrm>
              <a:off x="7178040" y="1874519"/>
              <a:ext cx="4480560" cy="4379976"/>
            </a:xfrm>
            <a:prstGeom prst="roundRect">
              <a:avLst>
                <a:gd name="adj" fmla="val 5000"/>
              </a:avLst>
            </a:prstGeom>
            <a:solidFill>
              <a:srgbClr val="0B1A5C"/>
            </a:solidFill>
            <a:ln>
              <a:noFill/>
            </a:ln>
            <a:effectLst>
              <a:outerShdw blurRad="279400" dist="50800" dir="5400000" algn="t" rotWithShape="0">
                <a:srgbClr val="0B1A5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397496" y="2084831"/>
              <a:ext cx="91440" cy="91440"/>
            </a:xfrm>
            <a:prstGeom prst="ellipse">
              <a:avLst/>
            </a:prstGeom>
            <a:solidFill>
              <a:srgbClr val="25D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62088" y="2020824"/>
              <a:ext cx="3840480" cy="219456"/>
            </a:xfrm>
            <a:prstGeom prst="rect">
              <a:avLst/>
            </a:prstGeom>
            <a:noFill/>
          </p:spPr>
          <p:txBody>
            <a:bodyPr wrap="square" lIns="0" rIns="0" tIns="0" bIns="0" anchor="t">
              <a:spAutoFit/>
            </a:bodyPr>
            <a:lstStyle/>
            <a:p>
              <a:pPr algn="l"/>
              <a:r>
                <a:rPr sz="900" b="0" i="0">
                  <a:solidFill>
                    <a:srgbClr val="F28A1A"/>
                  </a:solidFill>
                  <a:latin typeface="Segoe UI Semibold"/>
                </a:rPr>
                <a:t>SHUBHLABH ON WHATSAPP · LIVE</a:t>
              </a:r>
            </a:p>
          </p:txBody>
        </p:sp>
        <p:pic>
          <p:nvPicPr>
            <p:cNvPr id="43" name="Picture 42" descr="16b_whatsapp_offer.png"/>
            <p:cNvPicPr>
              <a:picLocks noChangeAspect="1"/>
            </p:cNvPicPr>
            <p:nvPr/>
          </p:nvPicPr>
          <p:blipFill>
            <a:blip r:embed="rId12"/>
            <a:stretch>
              <a:fillRect/>
            </a:stretch>
          </p:blipFill>
          <p:spPr>
            <a:xfrm>
              <a:off x="7379208" y="2331720"/>
              <a:ext cx="1874519" cy="2553095"/>
            </a:xfrm>
            <a:prstGeom prst="rect">
              <a:avLst/>
            </a:prstGeom>
            <a:effectLst>
              <a:outerShdw blurRad="355600" dist="101600" dir="5400000" algn="t" rotWithShape="0">
                <a:srgbClr val="0B1A5C">
                  <a:alpha val="30000"/>
                </a:srgbClr>
              </a:outerShdw>
            </a:effectLst>
          </p:spPr>
        </p:pic>
        <p:sp>
          <p:nvSpPr>
            <p:cNvPr id="44" name="TextBox 43"/>
            <p:cNvSpPr txBox="1"/>
            <p:nvPr/>
          </p:nvSpPr>
          <p:spPr>
            <a:xfrm>
              <a:off x="7287768" y="4939680"/>
              <a:ext cx="2057400" cy="256032"/>
            </a:xfrm>
            <a:prstGeom prst="rect">
              <a:avLst/>
            </a:prstGeom>
            <a:noFill/>
          </p:spPr>
          <p:txBody>
            <a:bodyPr wrap="square" lIns="0" rIns="0" tIns="0" bIns="0" anchor="t">
              <a:spAutoFit/>
            </a:bodyPr>
            <a:lstStyle/>
            <a:p>
              <a:pPr algn="ctr">
                <a:lnSpc>
                  <a:spcPct val="95000"/>
                </a:lnSpc>
              </a:pPr>
              <a:r>
                <a:rPr sz="800" b="0" i="0">
                  <a:solidFill>
                    <a:srgbClr val="C7CCE8"/>
                  </a:solidFill>
                  <a:latin typeface="Segoe UI"/>
                </a:rPr>
                <a:t>Offer check: MRP · honest % off · margin · break-even</a:t>
              </a:r>
            </a:p>
          </p:txBody>
        </p:sp>
        <p:sp>
          <p:nvSpPr>
            <p:cNvPr id="45" name="Oval 44"/>
            <p:cNvSpPr/>
            <p:nvPr/>
          </p:nvSpPr>
          <p:spPr>
            <a:xfrm>
              <a:off x="9473184" y="2340863"/>
              <a:ext cx="219456" cy="219456"/>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73184" y="2340863"/>
              <a:ext cx="219456" cy="219456"/>
            </a:xfrm>
            <a:prstGeom prst="rect">
              <a:avLst/>
            </a:prstGeom>
            <a:noFill/>
          </p:spPr>
          <p:txBody>
            <a:bodyPr wrap="square" lIns="0" rIns="0" tIns="0" bIns="0" anchor="ctr">
              <a:spAutoFit/>
            </a:bodyPr>
            <a:lstStyle/>
            <a:p>
              <a:pPr algn="ctr"/>
              <a:r>
                <a:rPr sz="900" b="0" i="0">
                  <a:solidFill>
                    <a:srgbClr val="FFFFFF"/>
                  </a:solidFill>
                  <a:latin typeface="Segoe UI Black"/>
                </a:rPr>
                <a:t>1</a:t>
              </a:r>
            </a:p>
          </p:txBody>
        </p:sp>
        <p:sp>
          <p:nvSpPr>
            <p:cNvPr id="47" name="TextBox 46"/>
            <p:cNvSpPr txBox="1"/>
            <p:nvPr/>
          </p:nvSpPr>
          <p:spPr>
            <a:xfrm>
              <a:off x="9802368" y="2331720"/>
              <a:ext cx="1673351" cy="323170"/>
            </a:xfrm>
            <a:prstGeom prst="rect">
              <a:avLst/>
            </a:prstGeom>
            <a:noFill/>
          </p:spPr>
          <p:txBody>
            <a:bodyPr wrap="square" lIns="0" rIns="0" tIns="0" bIns="0" anchor="t">
              <a:spAutoFit/>
            </a:bodyPr>
            <a:lstStyle/>
            <a:p>
              <a:pPr algn="l">
                <a:lnSpc>
                  <a:spcPct val="95000"/>
                </a:lnSpc>
              </a:pPr>
              <a:r>
                <a:rPr sz="950" b="0" i="0">
                  <a:solidFill>
                    <a:srgbClr val="FFFFFF"/>
                  </a:solidFill>
                  <a:latin typeface="Segoe UI Semibold"/>
                </a:rPr>
                <a:t>Message +1 415 523 8886</a:t>
              </a:r>
              <a:r>
                <a:rPr sz="950" b="0" i="0">
                  <a:solidFill>
                    <a:srgbClr val="C7CCE8"/>
                  </a:solidFill>
                  <a:latin typeface="Segoe UI"/>
                </a:rPr>
                <a:t> — or scan the QR</a:t>
              </a:r>
            </a:p>
          </p:txBody>
        </p:sp>
        <p:sp>
          <p:nvSpPr>
            <p:cNvPr id="48" name="Oval 47"/>
            <p:cNvSpPr/>
            <p:nvPr/>
          </p:nvSpPr>
          <p:spPr>
            <a:xfrm>
              <a:off x="9473184" y="2755474"/>
              <a:ext cx="219456" cy="219456"/>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73184" y="2755474"/>
              <a:ext cx="219456" cy="219456"/>
            </a:xfrm>
            <a:prstGeom prst="rect">
              <a:avLst/>
            </a:prstGeom>
            <a:noFill/>
          </p:spPr>
          <p:txBody>
            <a:bodyPr wrap="square" lIns="0" rIns="0" tIns="0" bIns="0" anchor="ctr">
              <a:spAutoFit/>
            </a:bodyPr>
            <a:lstStyle/>
            <a:p>
              <a:pPr algn="ctr"/>
              <a:r>
                <a:rPr sz="900" b="0" i="0">
                  <a:solidFill>
                    <a:srgbClr val="FFFFFF"/>
                  </a:solidFill>
                  <a:latin typeface="Segoe UI Black"/>
                </a:rPr>
                <a:t>2</a:t>
              </a:r>
            </a:p>
          </p:txBody>
        </p:sp>
        <p:sp>
          <p:nvSpPr>
            <p:cNvPr id="50" name="TextBox 49"/>
            <p:cNvSpPr txBox="1"/>
            <p:nvPr/>
          </p:nvSpPr>
          <p:spPr>
            <a:xfrm>
              <a:off x="9802368" y="2746330"/>
              <a:ext cx="1673351" cy="475611"/>
            </a:xfrm>
            <a:prstGeom prst="rect">
              <a:avLst/>
            </a:prstGeom>
            <a:noFill/>
          </p:spPr>
          <p:txBody>
            <a:bodyPr wrap="square" lIns="0" rIns="0" tIns="0" bIns="0" anchor="t">
              <a:spAutoFit/>
            </a:bodyPr>
            <a:lstStyle/>
            <a:p>
              <a:pPr algn="l">
                <a:lnSpc>
                  <a:spcPct val="95000"/>
                </a:lnSpc>
              </a:pPr>
              <a:r>
                <a:rPr sz="950" b="0" i="0">
                  <a:solidFill>
                    <a:srgbClr val="FFFFFF"/>
                  </a:solidFill>
                  <a:latin typeface="Segoe UI Semibold"/>
                </a:rPr>
                <a:t>Send “join bright-blanket”</a:t>
              </a:r>
              <a:r>
                <a:rPr sz="950" b="0" i="0">
                  <a:solidFill>
                    <a:srgbClr val="C7CCE8"/>
                  </a:solidFill>
                  <a:latin typeface="Segoe UI"/>
                </a:rPr>
                <a:t> — typed in for you by the Open WhatsApp button</a:t>
              </a:r>
            </a:p>
          </p:txBody>
        </p:sp>
        <p:sp>
          <p:nvSpPr>
            <p:cNvPr id="51" name="Oval 50"/>
            <p:cNvSpPr/>
            <p:nvPr/>
          </p:nvSpPr>
          <p:spPr>
            <a:xfrm>
              <a:off x="9473184" y="3322526"/>
              <a:ext cx="219456" cy="219456"/>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73184" y="3322526"/>
              <a:ext cx="219456" cy="219456"/>
            </a:xfrm>
            <a:prstGeom prst="rect">
              <a:avLst/>
            </a:prstGeom>
            <a:noFill/>
          </p:spPr>
          <p:txBody>
            <a:bodyPr wrap="square" lIns="0" rIns="0" tIns="0" bIns="0" anchor="ctr">
              <a:spAutoFit/>
            </a:bodyPr>
            <a:lstStyle/>
            <a:p>
              <a:pPr algn="ctr"/>
              <a:r>
                <a:rPr sz="900" b="0" i="0">
                  <a:solidFill>
                    <a:srgbClr val="FFFFFF"/>
                  </a:solidFill>
                  <a:latin typeface="Segoe UI Black"/>
                </a:rPr>
                <a:t>3</a:t>
              </a:r>
            </a:p>
          </p:txBody>
        </p:sp>
        <p:sp>
          <p:nvSpPr>
            <p:cNvPr id="53" name="TextBox 52"/>
            <p:cNvSpPr txBox="1"/>
            <p:nvPr/>
          </p:nvSpPr>
          <p:spPr>
            <a:xfrm>
              <a:off x="9802368" y="3313382"/>
              <a:ext cx="1673351" cy="323170"/>
            </a:xfrm>
            <a:prstGeom prst="rect">
              <a:avLst/>
            </a:prstGeom>
            <a:noFill/>
          </p:spPr>
          <p:txBody>
            <a:bodyPr wrap="square" lIns="0" rIns="0" tIns="0" bIns="0" anchor="t">
              <a:spAutoFit/>
            </a:bodyPr>
            <a:lstStyle/>
            <a:p>
              <a:pPr algn="l">
                <a:lnSpc>
                  <a:spcPct val="95000"/>
                </a:lnSpc>
              </a:pPr>
              <a:r>
                <a:rPr sz="950" b="0" i="0">
                  <a:solidFill>
                    <a:srgbClr val="FFFFFF"/>
                  </a:solidFill>
                  <a:latin typeface="Segoe UI Semibold"/>
                </a:rPr>
                <a:t>Then send an offer, a festival or a price-tag photo</a:t>
              </a:r>
            </a:p>
          </p:txBody>
        </p:sp>
        <p:pic>
          <p:nvPicPr>
            <p:cNvPr id="54" name="Picture 53" descr="17_whatsapp_qr.png"/>
            <p:cNvPicPr>
              <a:picLocks noChangeAspect="1"/>
            </p:cNvPicPr>
            <p:nvPr/>
          </p:nvPicPr>
          <p:blipFill>
            <a:blip r:embed="rId13"/>
            <a:srcRect l="63851" t="24743" r="23337" b="48487"/>
            <a:stretch>
              <a:fillRect/>
            </a:stretch>
          </p:blipFill>
          <p:spPr>
            <a:xfrm>
              <a:off x="9473184" y="3764568"/>
              <a:ext cx="1051560" cy="1051834"/>
            </a:xfrm>
            <a:prstGeom prst="rect">
              <a:avLst/>
            </a:prstGeom>
            <a:effectLst>
              <a:outerShdw blurRad="355600" dist="101600" dir="5400000" algn="t" rotWithShape="0">
                <a:srgbClr val="0B1A5C">
                  <a:alpha val="30000"/>
                </a:srgbClr>
              </a:outerShdw>
            </a:effectLst>
          </p:spPr>
        </p:pic>
        <p:sp>
          <p:nvSpPr>
            <p:cNvPr id="55" name="TextBox 54"/>
            <p:cNvSpPr txBox="1"/>
            <p:nvPr/>
          </p:nvSpPr>
          <p:spPr>
            <a:xfrm>
              <a:off x="9473184" y="4871267"/>
              <a:ext cx="2002535" cy="384048"/>
            </a:xfrm>
            <a:prstGeom prst="rect">
              <a:avLst/>
            </a:prstGeom>
            <a:noFill/>
          </p:spPr>
          <p:txBody>
            <a:bodyPr wrap="square" lIns="0" rIns="0" tIns="0" bIns="0" anchor="t">
              <a:spAutoFit/>
            </a:bodyPr>
            <a:lstStyle/>
            <a:p>
              <a:pPr algn="l">
                <a:lnSpc>
                  <a:spcPct val="98000"/>
                </a:lnSpc>
              </a:pPr>
              <a:r>
                <a:rPr sz="950" b="0" i="0">
                  <a:solidFill>
                    <a:srgbClr val="FFFFFF"/>
                  </a:solidFill>
                  <a:latin typeface="Segoe UI Semibold"/>
                </a:rPr>
                <a:t>Scan to try it now</a:t>
              </a:r>
            </a:p>
            <a:p>
              <a:pPr algn="l">
                <a:lnSpc>
                  <a:spcPct val="98000"/>
                </a:lnSpc>
              </a:pPr>
              <a:r>
                <a:rPr sz="850" b="0" i="0">
                  <a:solidFill>
                    <a:srgbClr val="C7CCE8"/>
                  </a:solidFill>
                  <a:latin typeface="Segoe UI"/>
                </a:rPr>
                <a:t>You don't need the website.</a:t>
              </a:r>
            </a:p>
          </p:txBody>
        </p:sp>
      </p:grpSp>
      <p:grpSp>
        <p:nvGrpSpPr>
          <p:cNvPr id="70" name="chips"/>
          <p:cNvGrpSpPr/>
          <p:nvPr/>
        </p:nvGrpSpPr>
        <p:grpSpPr>
          <a:xfrm>
            <a:off x="7379208" y="5237027"/>
            <a:ext cx="3631394" cy="768096"/>
            <a:chOff x="7379208" y="5237027"/>
            <a:chExt cx="3631394" cy="768096"/>
          </a:xfrm>
        </p:grpSpPr>
        <p:sp>
          <p:nvSpPr>
            <p:cNvPr id="57" name="Rounded Rectangle 56"/>
            <p:cNvSpPr/>
            <p:nvPr/>
          </p:nvSpPr>
          <p:spPr>
            <a:xfrm>
              <a:off x="7379208" y="5237027"/>
              <a:ext cx="1170365" cy="219456"/>
            </a:xfrm>
            <a:prstGeom prst="roundRect">
              <a:avLst>
                <a:gd name="adj" fmla="val 50000"/>
              </a:avLst>
            </a:prstGeom>
            <a:solidFill>
              <a:srgbClr val="16267A"/>
            </a:solidFill>
            <a:ln w="6350">
              <a:solidFill>
                <a:srgbClr val="3A4A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488936" y="5237027"/>
              <a:ext cx="994801" cy="219456"/>
            </a:xfrm>
            <a:prstGeom prst="rect">
              <a:avLst/>
            </a:prstGeom>
            <a:noFill/>
          </p:spPr>
          <p:txBody>
            <a:bodyPr wrap="none" lIns="0" rIns="0" tIns="0" bIns="0" anchor="ctr">
              <a:spAutoFit/>
            </a:bodyPr>
            <a:lstStyle/>
            <a:p>
              <a:pPr algn="ctr"/>
              <a:r>
                <a:rPr sz="850" b="0" i="0">
                  <a:solidFill>
                    <a:srgbClr val="FFFFFF"/>
                  </a:solidFill>
                  <a:latin typeface="Segoe UI Semibold"/>
                </a:rPr>
                <a:t>English or Hinglish</a:t>
              </a:r>
            </a:p>
          </p:txBody>
        </p:sp>
        <p:sp>
          <p:nvSpPr>
            <p:cNvPr id="59" name="Rounded Rectangle 58"/>
            <p:cNvSpPr/>
            <p:nvPr/>
          </p:nvSpPr>
          <p:spPr>
            <a:xfrm>
              <a:off x="8622725" y="5237027"/>
              <a:ext cx="1077183" cy="219456"/>
            </a:xfrm>
            <a:prstGeom prst="roundRect">
              <a:avLst>
                <a:gd name="adj" fmla="val 50000"/>
              </a:avLst>
            </a:prstGeom>
            <a:solidFill>
              <a:srgbClr val="16267A"/>
            </a:solidFill>
            <a:ln w="6350">
              <a:solidFill>
                <a:srgbClr val="3A4A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32453" y="5237027"/>
              <a:ext cx="901618" cy="219456"/>
            </a:xfrm>
            <a:prstGeom prst="rect">
              <a:avLst/>
            </a:prstGeom>
            <a:noFill/>
          </p:spPr>
          <p:txBody>
            <a:bodyPr wrap="none" lIns="0" rIns="0" tIns="0" bIns="0" anchor="ctr">
              <a:spAutoFit/>
            </a:bodyPr>
            <a:lstStyle/>
            <a:p>
              <a:pPr algn="ctr"/>
              <a:r>
                <a:rPr sz="850" b="0" i="0">
                  <a:solidFill>
                    <a:srgbClr val="FFFFFF"/>
                  </a:solidFill>
                  <a:latin typeface="Segoe UI Semibold"/>
                </a:rPr>
                <a:t>No app, no login</a:t>
              </a:r>
            </a:p>
          </p:txBody>
        </p:sp>
        <p:sp>
          <p:nvSpPr>
            <p:cNvPr id="61" name="Rounded Rectangle 60"/>
            <p:cNvSpPr/>
            <p:nvPr/>
          </p:nvSpPr>
          <p:spPr>
            <a:xfrm>
              <a:off x="7379208" y="5511347"/>
              <a:ext cx="1690131" cy="219456"/>
            </a:xfrm>
            <a:prstGeom prst="roundRect">
              <a:avLst>
                <a:gd name="adj" fmla="val 50000"/>
              </a:avLst>
            </a:prstGeom>
            <a:solidFill>
              <a:srgbClr val="16267A"/>
            </a:solidFill>
            <a:ln w="6350">
              <a:solidFill>
                <a:srgbClr val="3A4A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488936" y="5511347"/>
              <a:ext cx="1514566" cy="219456"/>
            </a:xfrm>
            <a:prstGeom prst="rect">
              <a:avLst/>
            </a:prstGeom>
            <a:noFill/>
          </p:spPr>
          <p:txBody>
            <a:bodyPr wrap="none" lIns="0" rIns="0" tIns="0" bIns="0" anchor="ctr">
              <a:spAutoFit/>
            </a:bodyPr>
            <a:lstStyle/>
            <a:p>
              <a:pPr algn="ctr"/>
              <a:r>
                <a:rPr sz="850" b="0" i="0">
                  <a:solidFill>
                    <a:srgbClr val="FFFFFF"/>
                  </a:solidFill>
                  <a:latin typeface="Segoe UI Semibold"/>
                </a:rPr>
                <a:t>Phone numbers never stored</a:t>
              </a:r>
            </a:p>
          </p:txBody>
        </p:sp>
        <p:sp>
          <p:nvSpPr>
            <p:cNvPr id="63" name="Rounded Rectangle 62"/>
            <p:cNvSpPr/>
            <p:nvPr/>
          </p:nvSpPr>
          <p:spPr>
            <a:xfrm>
              <a:off x="9142491" y="5511347"/>
              <a:ext cx="1868111" cy="219456"/>
            </a:xfrm>
            <a:prstGeom prst="roundRect">
              <a:avLst>
                <a:gd name="adj" fmla="val 50000"/>
              </a:avLst>
            </a:prstGeom>
            <a:solidFill>
              <a:srgbClr val="16267A"/>
            </a:solidFill>
            <a:ln w="6350">
              <a:solidFill>
                <a:srgbClr val="3A4A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252219" y="5511347"/>
              <a:ext cx="1692546" cy="219456"/>
            </a:xfrm>
            <a:prstGeom prst="rect">
              <a:avLst/>
            </a:prstGeom>
            <a:noFill/>
          </p:spPr>
          <p:txBody>
            <a:bodyPr wrap="none" lIns="0" rIns="0" tIns="0" bIns="0" anchor="ctr">
              <a:spAutoFit/>
            </a:bodyPr>
            <a:lstStyle/>
            <a:p>
              <a:pPr algn="ctr"/>
              <a:r>
                <a:rPr sz="850" b="0" i="0">
                  <a:solidFill>
                    <a:srgbClr val="FFFFFF"/>
                  </a:solidFill>
                  <a:latin typeface="Segoe UI Semibold"/>
                </a:rPr>
                <a:t>Hidden instructions quarantined</a:t>
              </a:r>
            </a:p>
          </p:txBody>
        </p:sp>
        <p:sp>
          <p:nvSpPr>
            <p:cNvPr id="65" name="Rounded Rectangle 64"/>
            <p:cNvSpPr/>
            <p:nvPr/>
          </p:nvSpPr>
          <p:spPr>
            <a:xfrm>
              <a:off x="7379208" y="5785667"/>
              <a:ext cx="2160525" cy="219456"/>
            </a:xfrm>
            <a:prstGeom prst="roundRect">
              <a:avLst>
                <a:gd name="adj" fmla="val 50000"/>
              </a:avLst>
            </a:prstGeom>
            <a:solidFill>
              <a:srgbClr val="16267A"/>
            </a:solidFill>
            <a:ln w="6350">
              <a:solidFill>
                <a:srgbClr val="3A4A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488936" y="5785667"/>
              <a:ext cx="1984961" cy="219456"/>
            </a:xfrm>
            <a:prstGeom prst="rect">
              <a:avLst/>
            </a:prstGeom>
            <a:noFill/>
          </p:spPr>
          <p:txBody>
            <a:bodyPr wrap="none" lIns="0" rIns="0" tIns="0" bIns="0" anchor="ctr">
              <a:spAutoFit/>
            </a:bodyPr>
            <a:lstStyle/>
            <a:p>
              <a:pPr algn="ctr"/>
              <a:r>
                <a:rPr sz="850" b="0" i="0">
                  <a:solidFill>
                    <a:srgbClr val="FFFFFF"/>
                  </a:solidFill>
                  <a:latin typeface="Segoe UI Semibold"/>
                </a:rPr>
                <a:t>Only ever replies, never messages first</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600"/>
                                        <p:tgtEl>
                                          <p:spTgt spid="67"/>
                                        </p:tgtEl>
                                      </p:cBhvr>
                                    </p:animEffect>
                                    <p:anim calcmode="lin" valueType="num">
                                      <p:cBhvr>
                                        <p:cTn id="8" dur="600" fill="hold"/>
                                        <p:tgtEl>
                                          <p:spTgt spid="67"/>
                                        </p:tgtEl>
                                        <p:attrNameLst>
                                          <p:attrName>ppt_x</p:attrName>
                                        </p:attrNameLst>
                                      </p:cBhvr>
                                      <p:tavLst>
                                        <p:tav tm="0">
                                          <p:val>
                                            <p:strVal val="#ppt_x"/>
                                          </p:val>
                                        </p:tav>
                                        <p:tav tm="100000">
                                          <p:val>
                                            <p:strVal val="#ppt_x"/>
                                          </p:val>
                                        </p:tav>
                                      </p:tavLst>
                                    </p:anim>
                                    <p:anim calcmode="lin" valueType="num">
                                      <p:cBhvr>
                                        <p:cTn id="9" dur="600" decel="100000" fill="hold"/>
                                        <p:tgtEl>
                                          <p:spTgt spid="67"/>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600"/>
                                        <p:tgtEl>
                                          <p:spTgt spid="68"/>
                                        </p:tgtEl>
                                      </p:cBhvr>
                                    </p:animEffect>
                                    <p:anim calcmode="lin" valueType="num">
                                      <p:cBhvr>
                                        <p:cTn id="14" dur="600" fill="hold"/>
                                        <p:tgtEl>
                                          <p:spTgt spid="68"/>
                                        </p:tgtEl>
                                        <p:attrNameLst>
                                          <p:attrName>ppt_x</p:attrName>
                                        </p:attrNameLst>
                                      </p:cBhvr>
                                      <p:tavLst>
                                        <p:tav tm="0">
                                          <p:val>
                                            <p:strVal val="#ppt_x"/>
                                          </p:val>
                                        </p:tav>
                                        <p:tav tm="100000">
                                          <p:val>
                                            <p:strVal val="#ppt_x"/>
                                          </p:val>
                                        </p:tav>
                                      </p:tavLst>
                                    </p:anim>
                                    <p:anim calcmode="lin" valueType="num">
                                      <p:cBhvr>
                                        <p:cTn id="15" dur="600" decel="100000" fill="hold"/>
                                        <p:tgtEl>
                                          <p:spTgt spid="68"/>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69"/>
                                        </p:tgtEl>
                                        <p:attrNameLst>
                                          <p:attrName>style.visibility</p:attrName>
                                        </p:attrNameLst>
                                      </p:cBhvr>
                                      <p:to>
                                        <p:strVal val="visible"/>
                                      </p:to>
                                    </p:set>
                                    <p:animEffect transition="in" filter="fade">
                                      <p:cBhvr>
                                        <p:cTn id="19" dur="600"/>
                                        <p:tgtEl>
                                          <p:spTgt spid="69"/>
                                        </p:tgtEl>
                                      </p:cBhvr>
                                    </p:animEffect>
                                    <p:anim calcmode="lin" valueType="num">
                                      <p:cBhvr>
                                        <p:cTn id="20" dur="600" fill="hold"/>
                                        <p:tgtEl>
                                          <p:spTgt spid="69"/>
                                        </p:tgtEl>
                                        <p:attrNameLst>
                                          <p:attrName>ppt_x</p:attrName>
                                        </p:attrNameLst>
                                      </p:cBhvr>
                                      <p:tavLst>
                                        <p:tav tm="0">
                                          <p:val>
                                            <p:strVal val="#ppt_x"/>
                                          </p:val>
                                        </p:tav>
                                        <p:tav tm="100000">
                                          <p:val>
                                            <p:strVal val="#ppt_x"/>
                                          </p:val>
                                        </p:tav>
                                      </p:tavLst>
                                    </p:anim>
                                    <p:anim calcmode="lin" valueType="num">
                                      <p:cBhvr>
                                        <p:cTn id="21" dur="600" decel="100000" fill="hold"/>
                                        <p:tgtEl>
                                          <p:spTgt spid="69"/>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600"/>
                                        <p:tgtEl>
                                          <p:spTgt spid="56"/>
                                        </p:tgtEl>
                                      </p:cBhvr>
                                    </p:animEffect>
                                    <p:anim calcmode="lin" valueType="num">
                                      <p:cBhvr>
                                        <p:cTn id="26" dur="600" fill="hold"/>
                                        <p:tgtEl>
                                          <p:spTgt spid="56"/>
                                        </p:tgtEl>
                                        <p:attrNameLst>
                                          <p:attrName>ppt_x</p:attrName>
                                        </p:attrNameLst>
                                      </p:cBhvr>
                                      <p:tavLst>
                                        <p:tav tm="0">
                                          <p:val>
                                            <p:strVal val="#ppt_x"/>
                                          </p:val>
                                        </p:tav>
                                        <p:tav tm="100000">
                                          <p:val>
                                            <p:strVal val="#ppt_x"/>
                                          </p:val>
                                        </p:tav>
                                      </p:tavLst>
                                    </p:anim>
                                    <p:anim calcmode="lin" valueType="num">
                                      <p:cBhvr>
                                        <p:cTn id="27" dur="600" decel="100000" fill="hold"/>
                                        <p:tgtEl>
                                          <p:spTgt spid="56"/>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600"/>
                                        <p:tgtEl>
                                          <p:spTgt spid="70"/>
                                        </p:tgtEl>
                                      </p:cBhvr>
                                    </p:animEffect>
                                    <p:anim calcmode="lin" valueType="num">
                                      <p:cBhvr>
                                        <p:cTn id="32" dur="600" fill="hold"/>
                                        <p:tgtEl>
                                          <p:spTgt spid="70"/>
                                        </p:tgtEl>
                                        <p:attrNameLst>
                                          <p:attrName>ppt_x</p:attrName>
                                        </p:attrNameLst>
                                      </p:cBhvr>
                                      <p:tavLst>
                                        <p:tav tm="0">
                                          <p:val>
                                            <p:strVal val="#ppt_x"/>
                                          </p:val>
                                        </p:tav>
                                        <p:tav tm="100000">
                                          <p:val>
                                            <p:strVal val="#ppt_x"/>
                                          </p:val>
                                        </p:tav>
                                      </p:tavLst>
                                    </p:anim>
                                    <p:anim calcmode="lin" valueType="num">
                                      <p:cBhvr>
                                        <p:cTn id="33" dur="600" decel="100000" fill="hold"/>
                                        <p:tgtEl>
                                          <p:spTgt spid="7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08</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yers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Promo Studio · for category &amp; promo managers</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Promo Studio: </a:t>
            </a:r>
            <a:r>
              <a:rPr sz="3600" b="0" i="0">
                <a:solidFill>
                  <a:srgbClr val="138808"/>
                </a:solidFill>
                <a:latin typeface="Segoe UI Black"/>
              </a:rPr>
              <a:t>full control</a:t>
            </a:r>
            <a:r>
              <a:rPr sz="3600" b="0" i="0">
                <a:solidFill>
                  <a:srgbClr val="0B1A5C"/>
                </a:solidFill>
                <a:latin typeface="Segoe UI Black"/>
              </a:rPr>
              <a:t>, every step verified</a:t>
            </a:r>
          </a:p>
        </p:txBody>
      </p:sp>
      <p:grpSp>
        <p:nvGrpSpPr>
          <p:cNvPr id="35" name="ps0"/>
          <p:cNvGrpSpPr/>
          <p:nvPr/>
        </p:nvGrpSpPr>
        <p:grpSpPr>
          <a:xfrm>
            <a:off x="548640" y="1874519"/>
            <a:ext cx="3581400" cy="2107692"/>
            <a:chOff x="548640" y="1874519"/>
            <a:chExt cx="3581400" cy="2107692"/>
          </a:xfrm>
        </p:grpSpPr>
        <p:sp>
          <p:nvSpPr>
            <p:cNvPr id="12" name="Rounded Rectangle 11"/>
            <p:cNvSpPr/>
            <p:nvPr/>
          </p:nvSpPr>
          <p:spPr>
            <a:xfrm>
              <a:off x="548640" y="1874519"/>
              <a:ext cx="3581400" cy="2107692"/>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94944" y="1993391"/>
              <a:ext cx="274320" cy="274320"/>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93391"/>
              <a:ext cx="274320" cy="274320"/>
            </a:xfrm>
            <a:prstGeom prst="rect">
              <a:avLst/>
            </a:prstGeom>
            <a:noFill/>
          </p:spPr>
          <p:txBody>
            <a:bodyPr wrap="square" lIns="0" rIns="0" tIns="0" bIns="0" anchor="ctr">
              <a:spAutoFit/>
            </a:bodyPr>
            <a:lstStyle/>
            <a:p>
              <a:pPr algn="ctr"/>
              <a:r>
                <a:rPr sz="1100" b="0" i="0">
                  <a:solidFill>
                    <a:srgbClr val="FFFFFF"/>
                  </a:solidFill>
                  <a:latin typeface="Segoe UI Black"/>
                </a:rPr>
                <a:t>1</a:t>
              </a:r>
            </a:p>
          </p:txBody>
        </p:sp>
        <p:sp>
          <p:nvSpPr>
            <p:cNvPr id="15" name="TextBox 14"/>
            <p:cNvSpPr txBox="1"/>
            <p:nvPr/>
          </p:nvSpPr>
          <p:spPr>
            <a:xfrm>
              <a:off x="1060704" y="1975103"/>
              <a:ext cx="2941320" cy="310896"/>
            </a:xfrm>
            <a:prstGeom prst="rect">
              <a:avLst/>
            </a:prstGeom>
            <a:noFill/>
          </p:spPr>
          <p:txBody>
            <a:bodyPr wrap="none" lIns="0" rIns="0" tIns="0" bIns="0" anchor="ctr">
              <a:spAutoFit/>
            </a:bodyPr>
            <a:lstStyle/>
            <a:p>
              <a:pPr algn="l"/>
              <a:r>
                <a:rPr sz="1300" b="0" i="0">
                  <a:solidFill>
                    <a:srgbClr val="0B1A5C"/>
                  </a:solidFill>
                  <a:latin typeface="Segoe UI Semibold"/>
                </a:rPr>
                <a:t>Brief</a:t>
              </a:r>
            </a:p>
          </p:txBody>
        </p:sp>
        <p:sp>
          <p:nvSpPr>
            <p:cNvPr id="16" name="Rounded Rectangle 15"/>
            <p:cNvSpPr/>
            <p:nvPr/>
          </p:nvSpPr>
          <p:spPr>
            <a:xfrm>
              <a:off x="694944" y="2368296"/>
              <a:ext cx="3288792" cy="965812"/>
            </a:xfrm>
            <a:prstGeom prst="roundRect">
              <a:avLst>
                <a:gd name="adj" fmla="val 6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2414015"/>
              <a:ext cx="3032760" cy="164592"/>
            </a:xfrm>
            <a:prstGeom prst="rect">
              <a:avLst/>
            </a:prstGeom>
            <a:noFill/>
          </p:spPr>
          <p:txBody>
            <a:bodyPr wrap="square" lIns="0" rIns="0" tIns="0" bIns="0" anchor="t">
              <a:spAutoFit/>
            </a:bodyPr>
            <a:lstStyle/>
            <a:p>
              <a:pPr algn="l"/>
              <a:r>
                <a:rPr sz="800" b="0" i="0">
                  <a:solidFill>
                    <a:srgbClr val="F28A1A"/>
                  </a:solidFill>
                  <a:latin typeface="Segoe UI Semibold"/>
                </a:rPr>
                <a:t>YOUR WORDS → EXACT CONSTRAINTS</a:t>
              </a:r>
            </a:p>
          </p:txBody>
        </p:sp>
        <p:sp>
          <p:nvSpPr>
            <p:cNvPr id="18" name="Rounded Rectangle 17"/>
            <p:cNvSpPr/>
            <p:nvPr/>
          </p:nvSpPr>
          <p:spPr>
            <a:xfrm>
              <a:off x="822959" y="2606039"/>
              <a:ext cx="588817"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2606039"/>
              <a:ext cx="413252" cy="201168"/>
            </a:xfrm>
            <a:prstGeom prst="rect">
              <a:avLst/>
            </a:prstGeom>
            <a:noFill/>
          </p:spPr>
          <p:txBody>
            <a:bodyPr wrap="none" lIns="0" rIns="0" tIns="0" bIns="0" anchor="ctr">
              <a:spAutoFit/>
            </a:bodyPr>
            <a:lstStyle/>
            <a:p>
              <a:pPr algn="ctr"/>
              <a:r>
                <a:rPr sz="850" b="0" i="0">
                  <a:solidFill>
                    <a:srgbClr val="0B1A5C"/>
                  </a:solidFill>
                  <a:latin typeface="Segoe UI Semibold"/>
                </a:rPr>
                <a:t>Budget</a:t>
              </a:r>
            </a:p>
          </p:txBody>
        </p:sp>
        <p:sp>
          <p:nvSpPr>
            <p:cNvPr id="20" name="Rounded Rectangle 19"/>
            <p:cNvSpPr/>
            <p:nvPr/>
          </p:nvSpPr>
          <p:spPr>
            <a:xfrm>
              <a:off x="1484929" y="2606039"/>
              <a:ext cx="878469"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594657" y="2606039"/>
              <a:ext cx="702904" cy="201168"/>
            </a:xfrm>
            <a:prstGeom prst="rect">
              <a:avLst/>
            </a:prstGeom>
            <a:noFill/>
          </p:spPr>
          <p:txBody>
            <a:bodyPr wrap="none" lIns="0" rIns="0" tIns="0" bIns="0" anchor="ctr">
              <a:spAutoFit/>
            </a:bodyPr>
            <a:lstStyle/>
            <a:p>
              <a:pPr algn="ctr"/>
              <a:r>
                <a:rPr sz="850" b="0" i="0">
                  <a:solidFill>
                    <a:srgbClr val="0B1A5C"/>
                  </a:solidFill>
                  <a:latin typeface="Segoe UI Semibold"/>
                </a:rPr>
                <a:t>Discount cap</a:t>
              </a:r>
            </a:p>
          </p:txBody>
        </p:sp>
        <p:sp>
          <p:nvSpPr>
            <p:cNvPr id="22" name="Rounded Rectangle 21"/>
            <p:cNvSpPr/>
            <p:nvPr/>
          </p:nvSpPr>
          <p:spPr>
            <a:xfrm>
              <a:off x="2436550" y="2606039"/>
              <a:ext cx="859927"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546278" y="2606039"/>
              <a:ext cx="684362" cy="201168"/>
            </a:xfrm>
            <a:prstGeom prst="rect">
              <a:avLst/>
            </a:prstGeom>
            <a:noFill/>
          </p:spPr>
          <p:txBody>
            <a:bodyPr wrap="none" lIns="0" rIns="0" tIns="0" bIns="0" anchor="ctr">
              <a:spAutoFit/>
            </a:bodyPr>
            <a:lstStyle/>
            <a:p>
              <a:pPr algn="ctr"/>
              <a:r>
                <a:rPr sz="850" b="0" i="0">
                  <a:solidFill>
                    <a:srgbClr val="0B1A5C"/>
                  </a:solidFill>
                  <a:latin typeface="Segoe UI Semibold"/>
                </a:rPr>
                <a:t>Margin floor</a:t>
              </a:r>
            </a:p>
          </p:txBody>
        </p:sp>
        <p:sp>
          <p:nvSpPr>
            <p:cNvPr id="24" name="Rounded Rectangle 23"/>
            <p:cNvSpPr/>
            <p:nvPr/>
          </p:nvSpPr>
          <p:spPr>
            <a:xfrm>
              <a:off x="822959" y="2852927"/>
              <a:ext cx="495635"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2852927"/>
              <a:ext cx="320070" cy="201168"/>
            </a:xfrm>
            <a:prstGeom prst="rect">
              <a:avLst/>
            </a:prstGeom>
            <a:noFill/>
          </p:spPr>
          <p:txBody>
            <a:bodyPr wrap="none" lIns="0" rIns="0" tIns="0" bIns="0" anchor="ctr">
              <a:spAutoFit/>
            </a:bodyPr>
            <a:lstStyle/>
            <a:p>
              <a:pPr algn="ctr"/>
              <a:r>
                <a:rPr sz="850" b="0" i="0">
                  <a:solidFill>
                    <a:srgbClr val="0B1A5C"/>
                  </a:solidFill>
                  <a:latin typeface="Segoe UI Semibold"/>
                </a:rPr>
                <a:t>Cities</a:t>
              </a:r>
            </a:p>
          </p:txBody>
        </p:sp>
        <p:sp>
          <p:nvSpPr>
            <p:cNvPr id="26" name="Rounded Rectangle 25"/>
            <p:cNvSpPr/>
            <p:nvPr/>
          </p:nvSpPr>
          <p:spPr>
            <a:xfrm>
              <a:off x="1391747" y="2852927"/>
              <a:ext cx="760578"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501475" y="2852927"/>
              <a:ext cx="585014" cy="201168"/>
            </a:xfrm>
            <a:prstGeom prst="rect">
              <a:avLst/>
            </a:prstGeom>
            <a:noFill/>
          </p:spPr>
          <p:txBody>
            <a:bodyPr wrap="none" lIns="0" rIns="0" tIns="0" bIns="0" anchor="ctr">
              <a:spAutoFit/>
            </a:bodyPr>
            <a:lstStyle/>
            <a:p>
              <a:pPr algn="ctr"/>
              <a:r>
                <a:rPr sz="850" b="0" i="0">
                  <a:solidFill>
                    <a:srgbClr val="0B1A5C"/>
                  </a:solidFill>
                  <a:latin typeface="Segoe UI Semibold"/>
                </a:rPr>
                <a:t>Categories</a:t>
              </a:r>
            </a:p>
          </p:txBody>
        </p:sp>
        <p:sp>
          <p:nvSpPr>
            <p:cNvPr id="28" name="Rounded Rectangle 27"/>
            <p:cNvSpPr/>
            <p:nvPr/>
          </p:nvSpPr>
          <p:spPr>
            <a:xfrm>
              <a:off x="2225478" y="2852927"/>
              <a:ext cx="849840"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335206" y="2852927"/>
              <a:ext cx="674276" cy="201168"/>
            </a:xfrm>
            <a:prstGeom prst="rect">
              <a:avLst/>
            </a:prstGeom>
            <a:noFill/>
          </p:spPr>
          <p:txBody>
            <a:bodyPr wrap="none" lIns="0" rIns="0" tIns="0" bIns="0" anchor="ctr">
              <a:spAutoFit/>
            </a:bodyPr>
            <a:lstStyle/>
            <a:p>
              <a:pPr algn="ctr"/>
              <a:r>
                <a:rPr sz="850" b="0" i="0">
                  <a:solidFill>
                    <a:srgbClr val="0B1A5C"/>
                  </a:solidFill>
                  <a:latin typeface="Segoe UI Semibold"/>
                </a:rPr>
                <a:t>Mechanisms</a:t>
              </a:r>
            </a:p>
          </p:txBody>
        </p:sp>
        <p:sp>
          <p:nvSpPr>
            <p:cNvPr id="30" name="Rounded Rectangle 29"/>
            <p:cNvSpPr/>
            <p:nvPr/>
          </p:nvSpPr>
          <p:spPr>
            <a:xfrm>
              <a:off x="3148471" y="2852927"/>
              <a:ext cx="463638" cy="201168"/>
            </a:xfrm>
            <a:prstGeom prst="roundRect">
              <a:avLst>
                <a:gd name="adj" fmla="val 50000"/>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258199" y="2852927"/>
              <a:ext cx="288074" cy="201168"/>
            </a:xfrm>
            <a:prstGeom prst="rect">
              <a:avLst/>
            </a:prstGeom>
            <a:noFill/>
          </p:spPr>
          <p:txBody>
            <a:bodyPr wrap="none" lIns="0" rIns="0" tIns="0" bIns="0" anchor="ctr">
              <a:spAutoFit/>
            </a:bodyPr>
            <a:lstStyle/>
            <a:p>
              <a:pPr algn="ctr"/>
              <a:r>
                <a:rPr sz="850" b="0" i="0">
                  <a:solidFill>
                    <a:srgbClr val="0B1A5C"/>
                  </a:solidFill>
                  <a:latin typeface="Segoe UI Semibold"/>
                </a:rPr>
                <a:t>Days</a:t>
              </a:r>
            </a:p>
          </p:txBody>
        </p:sp>
        <p:pic>
          <p:nvPicPr>
            <p:cNvPr id="32" name="Picture 31" descr="CheckCircle2_green.png"/>
            <p:cNvPicPr>
              <a:picLocks noChangeAspect="1"/>
            </p:cNvPicPr>
            <p:nvPr/>
          </p:nvPicPr>
          <p:blipFill>
            <a:blip r:embed="rId3"/>
            <a:stretch>
              <a:fillRect/>
            </a:stretch>
          </p:blipFill>
          <p:spPr>
            <a:xfrm>
              <a:off x="822959" y="3108960"/>
              <a:ext cx="164592" cy="164592"/>
            </a:xfrm>
            <a:prstGeom prst="rect">
              <a:avLst/>
            </a:prstGeom>
          </p:spPr>
        </p:pic>
        <p:sp>
          <p:nvSpPr>
            <p:cNvPr id="33" name="TextBox 32"/>
            <p:cNvSpPr txBox="1"/>
            <p:nvPr/>
          </p:nvSpPr>
          <p:spPr>
            <a:xfrm>
              <a:off x="1033271" y="3090672"/>
              <a:ext cx="2831592" cy="201168"/>
            </a:xfrm>
            <a:prstGeom prst="rect">
              <a:avLst/>
            </a:prstGeom>
            <a:noFill/>
          </p:spPr>
          <p:txBody>
            <a:bodyPr wrap="square" lIns="0" rIns="0" tIns="0" bIns="0" anchor="t">
              <a:spAutoFit/>
            </a:bodyPr>
            <a:lstStyle/>
            <a:p>
              <a:pPr algn="l"/>
              <a:r>
                <a:rPr sz="850" b="0" i="0">
                  <a:solidFill>
                    <a:srgbClr val="138808"/>
                  </a:solidFill>
                  <a:latin typeface="Segoe UI Semibold"/>
                </a:rPr>
                <a:t>Read back to you before anything runs</a:t>
              </a:r>
            </a:p>
          </p:txBody>
        </p:sp>
        <p:sp>
          <p:nvSpPr>
            <p:cNvPr id="34" name="TextBox 33"/>
            <p:cNvSpPr txBox="1"/>
            <p:nvPr/>
          </p:nvSpPr>
          <p:spPr>
            <a:xfrm>
              <a:off x="694944" y="3425548"/>
              <a:ext cx="3288792" cy="465223"/>
            </a:xfrm>
            <a:prstGeom prst="rect">
              <a:avLst/>
            </a:prstGeom>
            <a:noFill/>
          </p:spPr>
          <p:txBody>
            <a:bodyPr wrap="square" lIns="0" rIns="0" tIns="0" bIns="0" anchor="t">
              <a:spAutoFit/>
            </a:bodyPr>
            <a:lstStyle/>
            <a:p>
              <a:pPr algn="l">
                <a:lnSpc>
                  <a:spcPct val="98000"/>
                </a:lnSpc>
              </a:pPr>
              <a:r>
                <a:rPr sz="900" b="0" i="0">
                  <a:solidFill>
                    <a:srgbClr val="4B5563"/>
                  </a:solidFill>
                  <a:latin typeface="Segoe UI"/>
                </a:rPr>
                <a:t>Write it in plain English or Hinglish. It is compiled into exact constraints and read back to you before anything runs.</a:t>
              </a:r>
            </a:p>
          </p:txBody>
        </p:sp>
      </p:grpSp>
      <p:grpSp>
        <p:nvGrpSpPr>
          <p:cNvPr id="42" name="ps1"/>
          <p:cNvGrpSpPr/>
          <p:nvPr/>
        </p:nvGrpSpPr>
        <p:grpSpPr>
          <a:xfrm>
            <a:off x="4312919" y="1874519"/>
            <a:ext cx="3581400" cy="2107692"/>
            <a:chOff x="4312919" y="1874519"/>
            <a:chExt cx="3581400" cy="2107692"/>
          </a:xfrm>
        </p:grpSpPr>
        <p:sp>
          <p:nvSpPr>
            <p:cNvPr id="36" name="Rounded Rectangle 35"/>
            <p:cNvSpPr/>
            <p:nvPr/>
          </p:nvSpPr>
          <p:spPr>
            <a:xfrm>
              <a:off x="4312919" y="1874519"/>
              <a:ext cx="3581400" cy="2107692"/>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4459223" y="1993391"/>
              <a:ext cx="274320" cy="274320"/>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59223" y="1993391"/>
              <a:ext cx="274320" cy="274320"/>
            </a:xfrm>
            <a:prstGeom prst="rect">
              <a:avLst/>
            </a:prstGeom>
            <a:noFill/>
          </p:spPr>
          <p:txBody>
            <a:bodyPr wrap="square" lIns="0" rIns="0" tIns="0" bIns="0" anchor="ctr">
              <a:spAutoFit/>
            </a:bodyPr>
            <a:lstStyle/>
            <a:p>
              <a:pPr algn="ctr"/>
              <a:r>
                <a:rPr sz="1100" b="0" i="0">
                  <a:solidFill>
                    <a:srgbClr val="FFFFFF"/>
                  </a:solidFill>
                  <a:latin typeface="Segoe UI Black"/>
                </a:rPr>
                <a:t>2</a:t>
              </a:r>
            </a:p>
          </p:txBody>
        </p:sp>
        <p:sp>
          <p:nvSpPr>
            <p:cNvPr id="39" name="TextBox 38"/>
            <p:cNvSpPr txBox="1"/>
            <p:nvPr/>
          </p:nvSpPr>
          <p:spPr>
            <a:xfrm>
              <a:off x="4824983" y="1975103"/>
              <a:ext cx="2941320" cy="310896"/>
            </a:xfrm>
            <a:prstGeom prst="rect">
              <a:avLst/>
            </a:prstGeom>
            <a:noFill/>
          </p:spPr>
          <p:txBody>
            <a:bodyPr wrap="none" lIns="0" rIns="0" tIns="0" bIns="0" anchor="ctr">
              <a:spAutoFit/>
            </a:bodyPr>
            <a:lstStyle/>
            <a:p>
              <a:pPr algn="l"/>
              <a:r>
                <a:rPr sz="1300" b="0" i="0">
                  <a:solidFill>
                    <a:srgbClr val="0B1A5C"/>
                  </a:solidFill>
                  <a:latin typeface="Segoe UI Semibold"/>
                </a:rPr>
                <a:t>Evidence</a:t>
              </a:r>
            </a:p>
          </p:txBody>
        </p:sp>
        <p:pic>
          <p:nvPicPr>
            <p:cNvPr id="40" name="Picture 39" descr="10_evidence_shelf_tag.png"/>
            <p:cNvPicPr>
              <a:picLocks noChangeAspect="1"/>
            </p:cNvPicPr>
            <p:nvPr/>
          </p:nvPicPr>
          <p:blipFill>
            <a:blip r:embed="rId4"/>
            <a:srcRect l="11500" r="11500" t="45910" b="17910"/>
            <a:stretch>
              <a:fillRect/>
            </a:stretch>
          </p:blipFill>
          <p:spPr>
            <a:xfrm>
              <a:off x="4459223" y="2368296"/>
              <a:ext cx="3288792" cy="965812"/>
            </a:xfrm>
            <a:prstGeom prst="rect">
              <a:avLst/>
            </a:prstGeom>
            <a:ln w="25400">
              <a:solidFill>
                <a:srgbClr val="E5E7EB"/>
              </a:solidFill>
            </a:ln>
          </p:spPr>
        </p:pic>
        <p:sp>
          <p:nvSpPr>
            <p:cNvPr id="41" name="TextBox 40"/>
            <p:cNvSpPr txBox="1"/>
            <p:nvPr/>
          </p:nvSpPr>
          <p:spPr>
            <a:xfrm>
              <a:off x="4459223" y="3425548"/>
              <a:ext cx="3288792" cy="465223"/>
            </a:xfrm>
            <a:prstGeom prst="rect">
              <a:avLst/>
            </a:prstGeom>
            <a:noFill/>
          </p:spPr>
          <p:txBody>
            <a:bodyPr wrap="square" lIns="0" rIns="0" tIns="0" bIns="0" anchor="t">
              <a:spAutoFit/>
            </a:bodyPr>
            <a:lstStyle/>
            <a:p>
              <a:pPr algn="l">
                <a:lnSpc>
                  <a:spcPct val="98000"/>
                </a:lnSpc>
              </a:pPr>
              <a:r>
                <a:rPr sz="900" b="0" i="0">
                  <a:solidFill>
                    <a:srgbClr val="4B5563"/>
                  </a:solidFill>
                  <a:latin typeface="Segoe UI"/>
                </a:rPr>
                <a:t>Shelf photos, flyers, app screenshots, PDFs, CSVs. Two reads must agree, with a box on every value read; doubtful fields go to a person; hidden instructions quarantined.</a:t>
              </a:r>
            </a:p>
          </p:txBody>
        </p:sp>
      </p:grpSp>
      <p:grpSp>
        <p:nvGrpSpPr>
          <p:cNvPr id="49" name="ps2"/>
          <p:cNvGrpSpPr/>
          <p:nvPr/>
        </p:nvGrpSpPr>
        <p:grpSpPr>
          <a:xfrm>
            <a:off x="8077199" y="1874519"/>
            <a:ext cx="3581400" cy="2107692"/>
            <a:chOff x="8077199" y="1874519"/>
            <a:chExt cx="3581400" cy="2107692"/>
          </a:xfrm>
        </p:grpSpPr>
        <p:sp>
          <p:nvSpPr>
            <p:cNvPr id="43" name="Rounded Rectangle 42"/>
            <p:cNvSpPr/>
            <p:nvPr/>
          </p:nvSpPr>
          <p:spPr>
            <a:xfrm>
              <a:off x="8077199" y="1874519"/>
              <a:ext cx="3581400" cy="2107692"/>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8223503" y="1993391"/>
              <a:ext cx="274320" cy="274320"/>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3503" y="1993391"/>
              <a:ext cx="274320" cy="274320"/>
            </a:xfrm>
            <a:prstGeom prst="rect">
              <a:avLst/>
            </a:prstGeom>
            <a:noFill/>
          </p:spPr>
          <p:txBody>
            <a:bodyPr wrap="square" lIns="0" rIns="0" tIns="0" bIns="0" anchor="ctr">
              <a:spAutoFit/>
            </a:bodyPr>
            <a:lstStyle/>
            <a:p>
              <a:pPr algn="ctr"/>
              <a:r>
                <a:rPr sz="1100" b="0" i="0">
                  <a:solidFill>
                    <a:srgbClr val="FFFFFF"/>
                  </a:solidFill>
                  <a:latin typeface="Segoe UI Black"/>
                </a:rPr>
                <a:t>3</a:t>
              </a:r>
            </a:p>
          </p:txBody>
        </p:sp>
        <p:sp>
          <p:nvSpPr>
            <p:cNvPr id="46" name="TextBox 45"/>
            <p:cNvSpPr txBox="1"/>
            <p:nvPr/>
          </p:nvSpPr>
          <p:spPr>
            <a:xfrm>
              <a:off x="8589264" y="1975103"/>
              <a:ext cx="2941320" cy="310896"/>
            </a:xfrm>
            <a:prstGeom prst="rect">
              <a:avLst/>
            </a:prstGeom>
            <a:noFill/>
          </p:spPr>
          <p:txBody>
            <a:bodyPr wrap="none" lIns="0" rIns="0" tIns="0" bIns="0" anchor="ctr">
              <a:spAutoFit/>
            </a:bodyPr>
            <a:lstStyle/>
            <a:p>
              <a:pPr algn="l"/>
              <a:r>
                <a:rPr sz="1300" b="0" i="0">
                  <a:solidFill>
                    <a:srgbClr val="0B1A5C"/>
                  </a:solidFill>
                  <a:latin typeface="Segoe UI Semibold"/>
                </a:rPr>
                <a:t>Agent run</a:t>
              </a:r>
            </a:p>
          </p:txBody>
        </p:sp>
        <p:pic>
          <p:nvPicPr>
            <p:cNvPr id="47" name="Picture 46" descr="07_agent_trace.png"/>
            <p:cNvPicPr>
              <a:picLocks noChangeAspect="1"/>
            </p:cNvPicPr>
            <p:nvPr/>
          </p:nvPicPr>
          <p:blipFill>
            <a:blip r:embed="rId5"/>
            <a:srcRect l="11500" r="11500" t="50910" b="12910"/>
            <a:stretch>
              <a:fillRect/>
            </a:stretch>
          </p:blipFill>
          <p:spPr>
            <a:xfrm>
              <a:off x="8223503" y="2368296"/>
              <a:ext cx="3288792" cy="965812"/>
            </a:xfrm>
            <a:prstGeom prst="rect">
              <a:avLst/>
            </a:prstGeom>
            <a:ln w="25400">
              <a:solidFill>
                <a:srgbClr val="E5E7EB"/>
              </a:solidFill>
            </a:ln>
          </p:spPr>
        </p:pic>
        <p:sp>
          <p:nvSpPr>
            <p:cNvPr id="48" name="TextBox 47"/>
            <p:cNvSpPr txBox="1"/>
            <p:nvPr/>
          </p:nvSpPr>
          <p:spPr>
            <a:xfrm>
              <a:off x="8223503" y="3425548"/>
              <a:ext cx="3288792" cy="465223"/>
            </a:xfrm>
            <a:prstGeom prst="rect">
              <a:avLst/>
            </a:prstGeom>
            <a:noFill/>
          </p:spPr>
          <p:txBody>
            <a:bodyPr wrap="square" lIns="0" rIns="0" tIns="0" bIns="0" anchor="t">
              <a:spAutoFit/>
            </a:bodyPr>
            <a:lstStyle/>
            <a:p>
              <a:pPr algn="l">
                <a:lnSpc>
                  <a:spcPct val="98000"/>
                </a:lnSpc>
              </a:pPr>
              <a:r>
                <a:rPr sz="900" b="0" i="0">
                  <a:solidFill>
                    <a:srgbClr val="4B5563"/>
                  </a:solidFill>
                  <a:latin typeface="Segoe UI"/>
                </a:rPr>
                <a:t>Watch the agent work step by step, with every tool call, decision and recovery logged.</a:t>
              </a:r>
            </a:p>
          </p:txBody>
        </p:sp>
      </p:grpSp>
      <p:grpSp>
        <p:nvGrpSpPr>
          <p:cNvPr id="56" name="ps3"/>
          <p:cNvGrpSpPr/>
          <p:nvPr/>
        </p:nvGrpSpPr>
        <p:grpSpPr>
          <a:xfrm>
            <a:off x="548640" y="4146804"/>
            <a:ext cx="3581400" cy="2107692"/>
            <a:chOff x="548640" y="4146804"/>
            <a:chExt cx="3581400" cy="2107692"/>
          </a:xfrm>
        </p:grpSpPr>
        <p:sp>
          <p:nvSpPr>
            <p:cNvPr id="50" name="Rounded Rectangle 49"/>
            <p:cNvSpPr/>
            <p:nvPr/>
          </p:nvSpPr>
          <p:spPr>
            <a:xfrm>
              <a:off x="548640" y="4146804"/>
              <a:ext cx="3581400" cy="2107692"/>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694944" y="4265676"/>
              <a:ext cx="274320" cy="274320"/>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944" y="4265676"/>
              <a:ext cx="274320" cy="274320"/>
            </a:xfrm>
            <a:prstGeom prst="rect">
              <a:avLst/>
            </a:prstGeom>
            <a:noFill/>
          </p:spPr>
          <p:txBody>
            <a:bodyPr wrap="square" lIns="0" rIns="0" tIns="0" bIns="0" anchor="ctr">
              <a:spAutoFit/>
            </a:bodyPr>
            <a:lstStyle/>
            <a:p>
              <a:pPr algn="ctr"/>
              <a:r>
                <a:rPr sz="1100" b="0" i="0">
                  <a:solidFill>
                    <a:srgbClr val="FFFFFF"/>
                  </a:solidFill>
                  <a:latin typeface="Segoe UI Black"/>
                </a:rPr>
                <a:t>4</a:t>
              </a:r>
            </a:p>
          </p:txBody>
        </p:sp>
        <p:sp>
          <p:nvSpPr>
            <p:cNvPr id="53" name="TextBox 52"/>
            <p:cNvSpPr txBox="1"/>
            <p:nvPr/>
          </p:nvSpPr>
          <p:spPr>
            <a:xfrm>
              <a:off x="1060704" y="4247388"/>
              <a:ext cx="2941320" cy="310896"/>
            </a:xfrm>
            <a:prstGeom prst="rect">
              <a:avLst/>
            </a:prstGeom>
            <a:noFill/>
          </p:spPr>
          <p:txBody>
            <a:bodyPr wrap="none" lIns="0" rIns="0" tIns="0" bIns="0" anchor="ctr">
              <a:spAutoFit/>
            </a:bodyPr>
            <a:lstStyle/>
            <a:p>
              <a:pPr algn="l"/>
              <a:r>
                <a:rPr sz="1300" b="0" i="0">
                  <a:solidFill>
                    <a:srgbClr val="0B1A5C"/>
                  </a:solidFill>
                  <a:latin typeface="Segoe UI Semibold"/>
                </a:rPr>
                <a:t>Plan &amp; approve</a:t>
              </a:r>
            </a:p>
          </p:txBody>
        </p:sp>
        <p:pic>
          <p:nvPicPr>
            <p:cNvPr id="54" name="Picture 53" descr="09_plan_certificate.png"/>
            <p:cNvPicPr>
              <a:picLocks noChangeAspect="1"/>
            </p:cNvPicPr>
            <p:nvPr/>
          </p:nvPicPr>
          <p:blipFill>
            <a:blip r:embed="rId6"/>
            <a:srcRect l="11500" r="11500" t="29910" b="33910"/>
            <a:stretch>
              <a:fillRect/>
            </a:stretch>
          </p:blipFill>
          <p:spPr>
            <a:xfrm>
              <a:off x="694944" y="4640580"/>
              <a:ext cx="3288792" cy="965812"/>
            </a:xfrm>
            <a:prstGeom prst="rect">
              <a:avLst/>
            </a:prstGeom>
            <a:ln w="25400">
              <a:solidFill>
                <a:srgbClr val="E5E7EB"/>
              </a:solidFill>
            </a:ln>
          </p:spPr>
        </p:pic>
        <p:sp>
          <p:nvSpPr>
            <p:cNvPr id="55" name="TextBox 54"/>
            <p:cNvSpPr txBox="1"/>
            <p:nvPr/>
          </p:nvSpPr>
          <p:spPr>
            <a:xfrm>
              <a:off x="694944" y="5697832"/>
              <a:ext cx="3288792" cy="465223"/>
            </a:xfrm>
            <a:prstGeom prst="rect">
              <a:avLst/>
            </a:prstGeom>
            <a:noFill/>
          </p:spPr>
          <p:txBody>
            <a:bodyPr wrap="square" lIns="0" rIns="0" tIns="0" bIns="0" anchor="t">
              <a:spAutoFit/>
            </a:bodyPr>
            <a:lstStyle/>
            <a:p>
              <a:pPr algn="l">
                <a:lnSpc>
                  <a:spcPct val="98000"/>
                </a:lnSpc>
              </a:pPr>
              <a:r>
                <a:rPr sz="900" b="0" i="0">
                  <a:solidFill>
                    <a:srgbClr val="4B5563"/>
                  </a:solidFill>
                  <a:latin typeface="Segoe UI"/>
                </a:rPr>
                <a:t>Offers by city and segment. Open each offer's checks, verified by ShubhLabh's Intelli AI. Senior sign-off tiers; nothing goes live without approval.</a:t>
              </a:r>
            </a:p>
          </p:txBody>
        </p:sp>
      </p:grpSp>
      <p:grpSp>
        <p:nvGrpSpPr>
          <p:cNvPr id="63" name="ps4"/>
          <p:cNvGrpSpPr/>
          <p:nvPr/>
        </p:nvGrpSpPr>
        <p:grpSpPr>
          <a:xfrm>
            <a:off x="4312919" y="4146804"/>
            <a:ext cx="3581400" cy="2107692"/>
            <a:chOff x="4312919" y="4146804"/>
            <a:chExt cx="3581400" cy="2107692"/>
          </a:xfrm>
        </p:grpSpPr>
        <p:sp>
          <p:nvSpPr>
            <p:cNvPr id="57" name="Rounded Rectangle 56"/>
            <p:cNvSpPr/>
            <p:nvPr/>
          </p:nvSpPr>
          <p:spPr>
            <a:xfrm>
              <a:off x="4312919" y="4146804"/>
              <a:ext cx="3581400" cy="2107692"/>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459223" y="4265676"/>
              <a:ext cx="274320" cy="274320"/>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59223" y="4265676"/>
              <a:ext cx="274320" cy="274320"/>
            </a:xfrm>
            <a:prstGeom prst="rect">
              <a:avLst/>
            </a:prstGeom>
            <a:noFill/>
          </p:spPr>
          <p:txBody>
            <a:bodyPr wrap="square" lIns="0" rIns="0" tIns="0" bIns="0" anchor="ctr">
              <a:spAutoFit/>
            </a:bodyPr>
            <a:lstStyle/>
            <a:p>
              <a:pPr algn="ctr"/>
              <a:r>
                <a:rPr sz="1100" b="0" i="0">
                  <a:solidFill>
                    <a:srgbClr val="FFFFFF"/>
                  </a:solidFill>
                  <a:latin typeface="Segoe UI Black"/>
                </a:rPr>
                <a:t>5</a:t>
              </a:r>
            </a:p>
          </p:txBody>
        </p:sp>
        <p:sp>
          <p:nvSpPr>
            <p:cNvPr id="60" name="TextBox 59"/>
            <p:cNvSpPr txBox="1"/>
            <p:nvPr/>
          </p:nvSpPr>
          <p:spPr>
            <a:xfrm>
              <a:off x="4824983" y="4247388"/>
              <a:ext cx="2941320" cy="310896"/>
            </a:xfrm>
            <a:prstGeom prst="rect">
              <a:avLst/>
            </a:prstGeom>
            <a:noFill/>
          </p:spPr>
          <p:txBody>
            <a:bodyPr wrap="none" lIns="0" rIns="0" tIns="0" bIns="0" anchor="ctr">
              <a:spAutoFit/>
            </a:bodyPr>
            <a:lstStyle/>
            <a:p>
              <a:pPr algn="l"/>
              <a:r>
                <a:rPr sz="1300" b="0" i="0">
                  <a:solidFill>
                    <a:srgbClr val="0B1A5C"/>
                  </a:solidFill>
                  <a:latin typeface="Segoe UI Semibold"/>
                </a:rPr>
                <a:t>Live ops</a:t>
              </a:r>
            </a:p>
          </p:txBody>
        </p:sp>
        <p:pic>
          <p:nvPicPr>
            <p:cNvPr id="61" name="Picture 60" descr="12_live_budget_cut.png"/>
            <p:cNvPicPr>
              <a:picLocks noChangeAspect="1"/>
            </p:cNvPicPr>
            <p:nvPr/>
          </p:nvPicPr>
          <p:blipFill>
            <a:blip r:embed="rId7"/>
            <a:srcRect l="11500" r="11500" t="39910" b="23910"/>
            <a:stretch>
              <a:fillRect/>
            </a:stretch>
          </p:blipFill>
          <p:spPr>
            <a:xfrm>
              <a:off x="4459223" y="4640580"/>
              <a:ext cx="3288792" cy="965812"/>
            </a:xfrm>
            <a:prstGeom prst="rect">
              <a:avLst/>
            </a:prstGeom>
            <a:ln w="25400">
              <a:solidFill>
                <a:srgbClr val="E5E7EB"/>
              </a:solidFill>
            </a:ln>
          </p:spPr>
        </p:pic>
        <p:sp>
          <p:nvSpPr>
            <p:cNvPr id="62" name="TextBox 61"/>
            <p:cNvSpPr txBox="1"/>
            <p:nvPr/>
          </p:nvSpPr>
          <p:spPr>
            <a:xfrm>
              <a:off x="4459223" y="5697832"/>
              <a:ext cx="3288792" cy="465223"/>
            </a:xfrm>
            <a:prstGeom prst="rect">
              <a:avLst/>
            </a:prstGeom>
            <a:noFill/>
          </p:spPr>
          <p:txBody>
            <a:bodyPr wrap="square" lIns="0" rIns="0" tIns="0" bIns="0" anchor="t">
              <a:spAutoFit/>
            </a:bodyPr>
            <a:lstStyle/>
            <a:p>
              <a:pPr algn="l">
                <a:lnSpc>
                  <a:spcPct val="98000"/>
                </a:lnSpc>
              </a:pPr>
              <a:r>
                <a:rPr sz="900" b="0" i="0">
                  <a:solidFill>
                    <a:srgbClr val="4B5563"/>
                  </a:solidFill>
                  <a:latin typeface="Segoe UI"/>
                </a:rPr>
                <a:t>Competitor undercut, stock drop or HQ budget cut → replan with a diff, then approve.</a:t>
              </a:r>
            </a:p>
          </p:txBody>
        </p:sp>
      </p:grpSp>
      <p:grpSp>
        <p:nvGrpSpPr>
          <p:cNvPr id="70" name="ps5"/>
          <p:cNvGrpSpPr/>
          <p:nvPr/>
        </p:nvGrpSpPr>
        <p:grpSpPr>
          <a:xfrm>
            <a:off x="8077199" y="4146804"/>
            <a:ext cx="3581400" cy="2107692"/>
            <a:chOff x="8077199" y="4146804"/>
            <a:chExt cx="3581400" cy="2107692"/>
          </a:xfrm>
        </p:grpSpPr>
        <p:sp>
          <p:nvSpPr>
            <p:cNvPr id="64" name="Rounded Rectangle 63"/>
            <p:cNvSpPr/>
            <p:nvPr/>
          </p:nvSpPr>
          <p:spPr>
            <a:xfrm>
              <a:off x="8077199" y="4146804"/>
              <a:ext cx="3581400" cy="2107692"/>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8223503" y="4265676"/>
              <a:ext cx="274320" cy="274320"/>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23503" y="4265676"/>
              <a:ext cx="274320" cy="274320"/>
            </a:xfrm>
            <a:prstGeom prst="rect">
              <a:avLst/>
            </a:prstGeom>
            <a:noFill/>
          </p:spPr>
          <p:txBody>
            <a:bodyPr wrap="square" lIns="0" rIns="0" tIns="0" bIns="0" anchor="ctr">
              <a:spAutoFit/>
            </a:bodyPr>
            <a:lstStyle/>
            <a:p>
              <a:pPr algn="ctr"/>
              <a:r>
                <a:rPr sz="1100" b="0" i="0">
                  <a:solidFill>
                    <a:srgbClr val="FFFFFF"/>
                  </a:solidFill>
                  <a:latin typeface="Segoe UI Black"/>
                </a:rPr>
                <a:t>6</a:t>
              </a:r>
            </a:p>
          </p:txBody>
        </p:sp>
        <p:sp>
          <p:nvSpPr>
            <p:cNvPr id="67" name="TextBox 66"/>
            <p:cNvSpPr txBox="1"/>
            <p:nvPr/>
          </p:nvSpPr>
          <p:spPr>
            <a:xfrm>
              <a:off x="8589264" y="4247388"/>
              <a:ext cx="2941320" cy="310896"/>
            </a:xfrm>
            <a:prstGeom prst="rect">
              <a:avLst/>
            </a:prstGeom>
            <a:noFill/>
          </p:spPr>
          <p:txBody>
            <a:bodyPr wrap="none" lIns="0" rIns="0" tIns="0" bIns="0" anchor="ctr">
              <a:spAutoFit/>
            </a:bodyPr>
            <a:lstStyle/>
            <a:p>
              <a:pPr algn="l"/>
              <a:r>
                <a:rPr sz="1300" b="0" i="0">
                  <a:solidFill>
                    <a:srgbClr val="0B1A5C"/>
                  </a:solidFill>
                  <a:latin typeface="Segoe UI Semibold"/>
                </a:rPr>
                <a:t>Ask</a:t>
              </a:r>
            </a:p>
          </p:txBody>
        </p:sp>
        <p:pic>
          <p:nvPicPr>
            <p:cNvPr id="68" name="Picture 67" descr="15_ask.png"/>
            <p:cNvPicPr>
              <a:picLocks noChangeAspect="1"/>
            </p:cNvPicPr>
            <p:nvPr/>
          </p:nvPicPr>
          <p:blipFill>
            <a:blip r:embed="rId8"/>
            <a:srcRect l="11500" r="11500" t="33910" b="29910"/>
            <a:stretch>
              <a:fillRect/>
            </a:stretch>
          </p:blipFill>
          <p:spPr>
            <a:xfrm>
              <a:off x="8223503" y="4640580"/>
              <a:ext cx="3288792" cy="965812"/>
            </a:xfrm>
            <a:prstGeom prst="rect">
              <a:avLst/>
            </a:prstGeom>
            <a:ln w="25400">
              <a:solidFill>
                <a:srgbClr val="E5E7EB"/>
              </a:solidFill>
            </a:ln>
          </p:spPr>
        </p:pic>
        <p:sp>
          <p:nvSpPr>
            <p:cNvPr id="69" name="TextBox 68"/>
            <p:cNvSpPr txBox="1"/>
            <p:nvPr/>
          </p:nvSpPr>
          <p:spPr>
            <a:xfrm>
              <a:off x="8223503" y="5697832"/>
              <a:ext cx="3288792" cy="465223"/>
            </a:xfrm>
            <a:prstGeom prst="rect">
              <a:avLst/>
            </a:prstGeom>
            <a:noFill/>
          </p:spPr>
          <p:txBody>
            <a:bodyPr wrap="square" lIns="0" rIns="0" tIns="0" bIns="0" anchor="t">
              <a:spAutoFit/>
            </a:bodyPr>
            <a:lstStyle/>
            <a:p>
              <a:pPr algn="l">
                <a:lnSpc>
                  <a:spcPct val="98000"/>
                </a:lnSpc>
              </a:pPr>
              <a:r>
                <a:rPr sz="900" b="0" i="0">
                  <a:solidFill>
                    <a:srgbClr val="4B5563"/>
                  </a:solidFill>
                  <a:latin typeface="Segoe UI"/>
                </a:rPr>
                <a:t>What-ifs in plain words: cut the budget, cap the discount, drop a category, skip a city, with before and after.</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600"/>
                                        <p:tgtEl>
                                          <p:spTgt spid="35"/>
                                        </p:tgtEl>
                                      </p:cBhvr>
                                    </p:animEffect>
                                    <p:anim calcmode="lin" valueType="num">
                                      <p:cBhvr>
                                        <p:cTn id="8" dur="600" fill="hold"/>
                                        <p:tgtEl>
                                          <p:spTgt spid="35"/>
                                        </p:tgtEl>
                                        <p:attrNameLst>
                                          <p:attrName>ppt_x</p:attrName>
                                        </p:attrNameLst>
                                      </p:cBhvr>
                                      <p:tavLst>
                                        <p:tav tm="0">
                                          <p:val>
                                            <p:strVal val="#ppt_x"/>
                                          </p:val>
                                        </p:tav>
                                        <p:tav tm="100000">
                                          <p:val>
                                            <p:strVal val="#ppt_x"/>
                                          </p:val>
                                        </p:tav>
                                      </p:tavLst>
                                    </p:anim>
                                    <p:anim calcmode="lin" valueType="num">
                                      <p:cBhvr>
                                        <p:cTn id="9" dur="600" decel="100000" fill="hold"/>
                                        <p:tgtEl>
                                          <p:spTgt spid="35"/>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600"/>
                                        <p:tgtEl>
                                          <p:spTgt spid="42"/>
                                        </p:tgtEl>
                                      </p:cBhvr>
                                    </p:animEffect>
                                    <p:anim calcmode="lin" valueType="num">
                                      <p:cBhvr>
                                        <p:cTn id="14" dur="600" fill="hold"/>
                                        <p:tgtEl>
                                          <p:spTgt spid="42"/>
                                        </p:tgtEl>
                                        <p:attrNameLst>
                                          <p:attrName>ppt_x</p:attrName>
                                        </p:attrNameLst>
                                      </p:cBhvr>
                                      <p:tavLst>
                                        <p:tav tm="0">
                                          <p:val>
                                            <p:strVal val="#ppt_x"/>
                                          </p:val>
                                        </p:tav>
                                        <p:tav tm="100000">
                                          <p:val>
                                            <p:strVal val="#ppt_x"/>
                                          </p:val>
                                        </p:tav>
                                      </p:tavLst>
                                    </p:anim>
                                    <p:anim calcmode="lin" valueType="num">
                                      <p:cBhvr>
                                        <p:cTn id="15" dur="600" decel="100000" fill="hold"/>
                                        <p:tgtEl>
                                          <p:spTgt spid="42"/>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600"/>
                                        <p:tgtEl>
                                          <p:spTgt spid="49"/>
                                        </p:tgtEl>
                                      </p:cBhvr>
                                    </p:animEffect>
                                    <p:anim calcmode="lin" valueType="num">
                                      <p:cBhvr>
                                        <p:cTn id="20" dur="600" fill="hold"/>
                                        <p:tgtEl>
                                          <p:spTgt spid="49"/>
                                        </p:tgtEl>
                                        <p:attrNameLst>
                                          <p:attrName>ppt_x</p:attrName>
                                        </p:attrNameLst>
                                      </p:cBhvr>
                                      <p:tavLst>
                                        <p:tav tm="0">
                                          <p:val>
                                            <p:strVal val="#ppt_x"/>
                                          </p:val>
                                        </p:tav>
                                        <p:tav tm="100000">
                                          <p:val>
                                            <p:strVal val="#ppt_x"/>
                                          </p:val>
                                        </p:tav>
                                      </p:tavLst>
                                    </p:anim>
                                    <p:anim calcmode="lin" valueType="num">
                                      <p:cBhvr>
                                        <p:cTn id="21" dur="600" decel="100000" fill="hold"/>
                                        <p:tgtEl>
                                          <p:spTgt spid="49"/>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600"/>
                                        <p:tgtEl>
                                          <p:spTgt spid="56"/>
                                        </p:tgtEl>
                                      </p:cBhvr>
                                    </p:animEffect>
                                    <p:anim calcmode="lin" valueType="num">
                                      <p:cBhvr>
                                        <p:cTn id="26" dur="600" fill="hold"/>
                                        <p:tgtEl>
                                          <p:spTgt spid="56"/>
                                        </p:tgtEl>
                                        <p:attrNameLst>
                                          <p:attrName>ppt_x</p:attrName>
                                        </p:attrNameLst>
                                      </p:cBhvr>
                                      <p:tavLst>
                                        <p:tav tm="0">
                                          <p:val>
                                            <p:strVal val="#ppt_x"/>
                                          </p:val>
                                        </p:tav>
                                        <p:tav tm="100000">
                                          <p:val>
                                            <p:strVal val="#ppt_x"/>
                                          </p:val>
                                        </p:tav>
                                      </p:tavLst>
                                    </p:anim>
                                    <p:anim calcmode="lin" valueType="num">
                                      <p:cBhvr>
                                        <p:cTn id="27" dur="600" decel="100000" fill="hold"/>
                                        <p:tgtEl>
                                          <p:spTgt spid="56"/>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600"/>
                                        <p:tgtEl>
                                          <p:spTgt spid="63"/>
                                        </p:tgtEl>
                                      </p:cBhvr>
                                    </p:animEffect>
                                    <p:anim calcmode="lin" valueType="num">
                                      <p:cBhvr>
                                        <p:cTn id="32" dur="600" fill="hold"/>
                                        <p:tgtEl>
                                          <p:spTgt spid="63"/>
                                        </p:tgtEl>
                                        <p:attrNameLst>
                                          <p:attrName>ppt_x</p:attrName>
                                        </p:attrNameLst>
                                      </p:cBhvr>
                                      <p:tavLst>
                                        <p:tav tm="0">
                                          <p:val>
                                            <p:strVal val="#ppt_x"/>
                                          </p:val>
                                        </p:tav>
                                        <p:tav tm="100000">
                                          <p:val>
                                            <p:strVal val="#ppt_x"/>
                                          </p:val>
                                        </p:tav>
                                      </p:tavLst>
                                    </p:anim>
                                    <p:anim calcmode="lin" valueType="num">
                                      <p:cBhvr>
                                        <p:cTn id="33" dur="600" decel="100000" fill="hold"/>
                                        <p:tgtEl>
                                          <p:spTgt spid="63"/>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600"/>
                                        <p:tgtEl>
                                          <p:spTgt spid="70"/>
                                        </p:tgtEl>
                                      </p:cBhvr>
                                    </p:animEffect>
                                    <p:anim calcmode="lin" valueType="num">
                                      <p:cBhvr>
                                        <p:cTn id="38" dur="600" fill="hold"/>
                                        <p:tgtEl>
                                          <p:spTgt spid="70"/>
                                        </p:tgtEl>
                                        <p:attrNameLst>
                                          <p:attrName>ppt_x</p:attrName>
                                        </p:attrNameLst>
                                      </p:cBhvr>
                                      <p:tavLst>
                                        <p:tav tm="0">
                                          <p:val>
                                            <p:strVal val="#ppt_x"/>
                                          </p:val>
                                        </p:tav>
                                        <p:tav tm="100000">
                                          <p:val>
                                            <p:strVal val="#ppt_x"/>
                                          </p:val>
                                        </p:tav>
                                      </p:tavLst>
                                    </p:anim>
                                    <p:anim calcmode="lin" valueType="num">
                                      <p:cBhvr>
                                        <p:cTn id="39" dur="600" decel="100000" fill="hold"/>
                                        <p:tgtEl>
                                          <p:spTgt spid="7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09</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Zap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What we do differently</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Built for </a:t>
            </a:r>
            <a:r>
              <a:rPr sz="3600" b="0" i="0">
                <a:solidFill>
                  <a:srgbClr val="F28A1A"/>
                </a:solidFill>
                <a:latin typeface="Segoe UI Black"/>
              </a:rPr>
              <a:t>Indian retail</a:t>
            </a:r>
            <a:r>
              <a:rPr sz="3600" b="0" i="0">
                <a:solidFill>
                  <a:srgbClr val="0B1A5C"/>
                </a:solidFill>
                <a:latin typeface="Segoe UI Black"/>
              </a:rPr>
              <a:t>, not adapted to it</a:t>
            </a:r>
          </a:p>
        </p:txBody>
      </p:sp>
      <p:sp>
        <p:nvSpPr>
          <p:cNvPr id="12" name="Rounded Rectangle 11"/>
          <p:cNvSpPr/>
          <p:nvPr/>
        </p:nvSpPr>
        <p:spPr>
          <a:xfrm>
            <a:off x="548640" y="1874519"/>
            <a:ext cx="11109960" cy="676656"/>
          </a:xfrm>
          <a:prstGeom prst="roundRect">
            <a:avLst>
              <a:gd name="adj" fmla="val 6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1874519"/>
            <a:ext cx="2377440" cy="676656"/>
          </a:xfrm>
          <a:prstGeom prst="rect">
            <a:avLst/>
          </a:prstGeom>
          <a:noFill/>
        </p:spPr>
        <p:txBody>
          <a:bodyPr wrap="square" lIns="0" rIns="0" tIns="0" bIns="0" anchor="ctr">
            <a:spAutoFit/>
          </a:bodyPr>
          <a:lstStyle/>
          <a:p>
            <a:pPr algn="l"/>
            <a:r>
              <a:rPr sz="1100" b="0" i="0">
                <a:solidFill>
                  <a:srgbClr val="6B7280"/>
                </a:solidFill>
                <a:latin typeface="Segoe UI Semibold"/>
              </a:rPr>
              <a:t>Solution</a:t>
            </a:r>
          </a:p>
        </p:txBody>
      </p:sp>
      <p:sp>
        <p:nvSpPr>
          <p:cNvPr id="14" name="TextBox 13"/>
          <p:cNvSpPr txBox="1"/>
          <p:nvPr/>
        </p:nvSpPr>
        <p:spPr>
          <a:xfrm>
            <a:off x="3520440" y="1874519"/>
            <a:ext cx="1356360" cy="676656"/>
          </a:xfrm>
          <a:prstGeom prst="rect">
            <a:avLst/>
          </a:prstGeom>
          <a:noFill/>
        </p:spPr>
        <p:txBody>
          <a:bodyPr wrap="square" lIns="0" rIns="0" tIns="0" bIns="0" anchor="ctr">
            <a:spAutoFit/>
          </a:bodyPr>
          <a:lstStyle/>
          <a:p>
            <a:pPr algn="ctr">
              <a:lnSpc>
                <a:spcPct val="90000"/>
              </a:lnSpc>
            </a:pPr>
            <a:r>
              <a:rPr sz="950" b="0" i="0">
                <a:solidFill>
                  <a:srgbClr val="0B1A5C"/>
                </a:solidFill>
                <a:latin typeface="Segoe UI Semibold"/>
              </a:rPr>
              <a:t>Indian festival</a:t>
            </a:r>
            <a:br/>
            <a:r>
              <a:rPr sz="950" b="0" i="0">
                <a:solidFill>
                  <a:srgbClr val="0B1A5C"/>
                </a:solidFill>
                <a:latin typeface="Segoe UI Semibold"/>
              </a:rPr>
              <a:t>templates</a:t>
            </a:r>
          </a:p>
        </p:txBody>
      </p:sp>
      <p:sp>
        <p:nvSpPr>
          <p:cNvPr id="15" name="TextBox 14"/>
          <p:cNvSpPr txBox="1"/>
          <p:nvPr/>
        </p:nvSpPr>
        <p:spPr>
          <a:xfrm>
            <a:off x="4876800" y="1874519"/>
            <a:ext cx="1356360" cy="676656"/>
          </a:xfrm>
          <a:prstGeom prst="rect">
            <a:avLst/>
          </a:prstGeom>
          <a:noFill/>
        </p:spPr>
        <p:txBody>
          <a:bodyPr wrap="square" lIns="0" rIns="0" tIns="0" bIns="0" anchor="ctr">
            <a:spAutoFit/>
          </a:bodyPr>
          <a:lstStyle/>
          <a:p>
            <a:pPr algn="ctr">
              <a:lnSpc>
                <a:spcPct val="90000"/>
              </a:lnSpc>
            </a:pPr>
            <a:r>
              <a:rPr sz="950" b="0" i="0">
                <a:solidFill>
                  <a:srgbClr val="0B1A5C"/>
                </a:solidFill>
                <a:latin typeface="Segoe UI Semibold"/>
              </a:rPr>
              <a:t>Reads WhatsApp</a:t>
            </a:r>
            <a:br/>
            <a:r>
              <a:rPr sz="950" b="0" i="0">
                <a:solidFill>
                  <a:srgbClr val="0B1A5C"/>
                </a:solidFill>
                <a:latin typeface="Segoe UI Semibold"/>
              </a:rPr>
              <a:t>&amp; shelf photos</a:t>
            </a:r>
          </a:p>
        </p:txBody>
      </p:sp>
      <p:sp>
        <p:nvSpPr>
          <p:cNvPr id="16" name="TextBox 15"/>
          <p:cNvSpPr txBox="1"/>
          <p:nvPr/>
        </p:nvSpPr>
        <p:spPr>
          <a:xfrm>
            <a:off x="6233160" y="1874519"/>
            <a:ext cx="1356360" cy="676656"/>
          </a:xfrm>
          <a:prstGeom prst="rect">
            <a:avLst/>
          </a:prstGeom>
          <a:noFill/>
        </p:spPr>
        <p:txBody>
          <a:bodyPr wrap="square" lIns="0" rIns="0" tIns="0" bIns="0" anchor="ctr">
            <a:spAutoFit/>
          </a:bodyPr>
          <a:lstStyle/>
          <a:p>
            <a:pPr algn="ctr">
              <a:lnSpc>
                <a:spcPct val="90000"/>
              </a:lnSpc>
            </a:pPr>
            <a:r>
              <a:rPr sz="950" b="0" i="0">
                <a:solidFill>
                  <a:srgbClr val="0B1A5C"/>
                </a:solidFill>
                <a:latin typeface="Segoe UI Semibold"/>
              </a:rPr>
              <a:t>Every offer</a:t>
            </a:r>
            <a:br/>
            <a:r>
              <a:rPr sz="950" b="0" i="0">
                <a:solidFill>
                  <a:srgbClr val="0B1A5C"/>
                </a:solidFill>
                <a:latin typeface="Segoe UI Semibold"/>
              </a:rPr>
              <a:t>verified</a:t>
            </a:r>
            <a:br/>
            <a:r>
              <a:rPr sz="950" b="0" i="0">
                <a:solidFill>
                  <a:srgbClr val="0B1A5C"/>
                </a:solidFill>
                <a:latin typeface="Segoe UI Semibold"/>
              </a:rPr>
              <a:t>(MRP · 30-day low)</a:t>
            </a:r>
          </a:p>
        </p:txBody>
      </p:sp>
      <p:sp>
        <p:nvSpPr>
          <p:cNvPr id="17" name="TextBox 16"/>
          <p:cNvSpPr txBox="1"/>
          <p:nvPr/>
        </p:nvSpPr>
        <p:spPr>
          <a:xfrm>
            <a:off x="7589520" y="1874519"/>
            <a:ext cx="1356360" cy="676656"/>
          </a:xfrm>
          <a:prstGeom prst="rect">
            <a:avLst/>
          </a:prstGeom>
          <a:noFill/>
        </p:spPr>
        <p:txBody>
          <a:bodyPr wrap="square" lIns="0" rIns="0" tIns="0" bIns="0" anchor="ctr">
            <a:spAutoFit/>
          </a:bodyPr>
          <a:lstStyle/>
          <a:p>
            <a:pPr algn="ctr">
              <a:lnSpc>
                <a:spcPct val="90000"/>
              </a:lnSpc>
            </a:pPr>
            <a:r>
              <a:rPr sz="950" b="0" i="0">
                <a:solidFill>
                  <a:srgbClr val="0B1A5C"/>
                </a:solidFill>
                <a:latin typeface="Segoe UI Semibold"/>
              </a:rPr>
              <a:t>One-click</a:t>
            </a:r>
            <a:br/>
            <a:r>
              <a:rPr sz="950" b="0" i="0">
                <a:solidFill>
                  <a:srgbClr val="0B1A5C"/>
                </a:solidFill>
                <a:latin typeface="Segoe UI Semibold"/>
              </a:rPr>
              <a:t>campaign</a:t>
            </a:r>
          </a:p>
        </p:txBody>
      </p:sp>
      <p:sp>
        <p:nvSpPr>
          <p:cNvPr id="18" name="TextBox 17"/>
          <p:cNvSpPr txBox="1"/>
          <p:nvPr/>
        </p:nvSpPr>
        <p:spPr>
          <a:xfrm>
            <a:off x="8945880" y="1874519"/>
            <a:ext cx="1356360" cy="676656"/>
          </a:xfrm>
          <a:prstGeom prst="rect">
            <a:avLst/>
          </a:prstGeom>
          <a:noFill/>
        </p:spPr>
        <p:txBody>
          <a:bodyPr wrap="square" lIns="0" rIns="0" tIns="0" bIns="0" anchor="ctr">
            <a:spAutoFit/>
          </a:bodyPr>
          <a:lstStyle/>
          <a:p>
            <a:pPr algn="ctr">
              <a:lnSpc>
                <a:spcPct val="90000"/>
              </a:lnSpc>
            </a:pPr>
            <a:r>
              <a:rPr sz="950" b="0" i="0">
                <a:solidFill>
                  <a:srgbClr val="0B1A5C"/>
                </a:solidFill>
                <a:latin typeface="Segoe UI Semibold"/>
              </a:rPr>
              <a:t>Hindi /</a:t>
            </a:r>
            <a:br/>
            <a:r>
              <a:rPr sz="950" b="0" i="0">
                <a:solidFill>
                  <a:srgbClr val="0B1A5C"/>
                </a:solidFill>
                <a:latin typeface="Segoe UI Semibold"/>
              </a:rPr>
              <a:t>Hinglish</a:t>
            </a:r>
          </a:p>
        </p:txBody>
      </p:sp>
      <p:sp>
        <p:nvSpPr>
          <p:cNvPr id="19" name="TextBox 18"/>
          <p:cNvSpPr txBox="1"/>
          <p:nvPr/>
        </p:nvSpPr>
        <p:spPr>
          <a:xfrm>
            <a:off x="10302240" y="1874519"/>
            <a:ext cx="1356360" cy="676656"/>
          </a:xfrm>
          <a:prstGeom prst="rect">
            <a:avLst/>
          </a:prstGeom>
          <a:noFill/>
        </p:spPr>
        <p:txBody>
          <a:bodyPr wrap="square" lIns="0" rIns="0" tIns="0" bIns="0" anchor="ctr">
            <a:spAutoFit/>
          </a:bodyPr>
          <a:lstStyle/>
          <a:p>
            <a:pPr algn="ctr">
              <a:lnSpc>
                <a:spcPct val="90000"/>
              </a:lnSpc>
            </a:pPr>
            <a:r>
              <a:rPr sz="950" b="0" i="0">
                <a:solidFill>
                  <a:srgbClr val="0B1A5C"/>
                </a:solidFill>
                <a:latin typeface="Segoe UI Semibold"/>
              </a:rPr>
              <a:t>Works for a</a:t>
            </a:r>
            <a:br/>
            <a:r>
              <a:rPr sz="950" b="0" i="0">
                <a:solidFill>
                  <a:srgbClr val="0B1A5C"/>
                </a:solidFill>
                <a:latin typeface="Segoe UI Semibold"/>
              </a:rPr>
              <a:t>kirana on</a:t>
            </a:r>
            <a:br/>
            <a:r>
              <a:rPr sz="950" b="0" i="0">
                <a:solidFill>
                  <a:srgbClr val="0B1A5C"/>
                </a:solidFill>
                <a:latin typeface="Segoe UI Semibold"/>
              </a:rPr>
              <a:t>WhatsApp</a:t>
            </a:r>
          </a:p>
        </p:txBody>
      </p:sp>
      <p:grpSp>
        <p:nvGrpSpPr>
          <p:cNvPr id="29" name="crow0"/>
          <p:cNvGrpSpPr/>
          <p:nvPr/>
        </p:nvGrpSpPr>
        <p:grpSpPr>
          <a:xfrm>
            <a:off x="548640" y="2606039"/>
            <a:ext cx="11109960" cy="411481"/>
            <a:chOff x="548640" y="2606039"/>
            <a:chExt cx="11109960" cy="411481"/>
          </a:xfrm>
        </p:grpSpPr>
        <p:sp>
          <p:nvSpPr>
            <p:cNvPr id="20" name="Rectangle 19"/>
            <p:cNvSpPr/>
            <p:nvPr/>
          </p:nvSpPr>
          <p:spPr>
            <a:xfrm>
              <a:off x="548640" y="3008376"/>
              <a:ext cx="1110996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2606039"/>
              <a:ext cx="2788920" cy="228600"/>
            </a:xfrm>
            <a:prstGeom prst="rect">
              <a:avLst/>
            </a:prstGeom>
            <a:noFill/>
          </p:spPr>
          <p:txBody>
            <a:bodyPr wrap="square" lIns="0" rIns="0" tIns="0" bIns="0" anchor="t">
              <a:spAutoFit/>
            </a:bodyPr>
            <a:lstStyle/>
            <a:p>
              <a:pPr algn="l"/>
              <a:r>
                <a:rPr sz="1150" b="0" i="0">
                  <a:solidFill>
                    <a:srgbClr val="111827"/>
                  </a:solidFill>
                  <a:latin typeface="Segoe UI Semibold"/>
                </a:rPr>
                <a:t>Enterprise promo suites</a:t>
              </a:r>
            </a:p>
          </p:txBody>
        </p:sp>
        <p:sp>
          <p:nvSpPr>
            <p:cNvPr id="22" name="TextBox 21"/>
            <p:cNvSpPr txBox="1"/>
            <p:nvPr/>
          </p:nvSpPr>
          <p:spPr>
            <a:xfrm>
              <a:off x="731520" y="2807208"/>
              <a:ext cx="2743200" cy="182880"/>
            </a:xfrm>
            <a:prstGeom prst="rect">
              <a:avLst/>
            </a:prstGeom>
            <a:noFill/>
          </p:spPr>
          <p:txBody>
            <a:bodyPr wrap="square" lIns="0" rIns="0" tIns="0" bIns="0" anchor="t">
              <a:spAutoFit/>
            </a:bodyPr>
            <a:lstStyle/>
            <a:p>
              <a:pPr algn="l"/>
              <a:r>
                <a:rPr sz="900" b="0" i="0">
                  <a:solidFill>
                    <a:srgbClr val="6B7280"/>
                  </a:solidFill>
                  <a:latin typeface="Segoe UI"/>
                </a:rPr>
                <a:t>Global, ₹-crore licences</a:t>
              </a:r>
            </a:p>
          </p:txBody>
        </p:sp>
        <p:pic>
          <p:nvPicPr>
            <p:cNvPr id="23" name="Picture 22" descr="MinusCircle_saffron.png"/>
            <p:cNvPicPr>
              <a:picLocks noChangeAspect="1"/>
            </p:cNvPicPr>
            <p:nvPr/>
          </p:nvPicPr>
          <p:blipFill>
            <a:blip r:embed="rId3"/>
            <a:stretch>
              <a:fillRect/>
            </a:stretch>
          </p:blipFill>
          <p:spPr>
            <a:xfrm>
              <a:off x="4070604" y="2670048"/>
              <a:ext cx="256032" cy="256032"/>
            </a:xfrm>
            <a:prstGeom prst="rect">
              <a:avLst/>
            </a:prstGeom>
          </p:spPr>
        </p:pic>
        <p:pic>
          <p:nvPicPr>
            <p:cNvPr id="24" name="Picture 23" descr="XCircle_grey.png"/>
            <p:cNvPicPr>
              <a:picLocks noChangeAspect="1"/>
            </p:cNvPicPr>
            <p:nvPr/>
          </p:nvPicPr>
          <p:blipFill>
            <a:blip r:embed="rId4"/>
            <a:stretch>
              <a:fillRect/>
            </a:stretch>
          </p:blipFill>
          <p:spPr>
            <a:xfrm>
              <a:off x="5426964" y="2670048"/>
              <a:ext cx="256032" cy="256032"/>
            </a:xfrm>
            <a:prstGeom prst="rect">
              <a:avLst/>
            </a:prstGeom>
          </p:spPr>
        </p:pic>
        <p:pic>
          <p:nvPicPr>
            <p:cNvPr id="25" name="Picture 24" descr="MinusCircle_saffron.png"/>
            <p:cNvPicPr>
              <a:picLocks noChangeAspect="1"/>
            </p:cNvPicPr>
            <p:nvPr/>
          </p:nvPicPr>
          <p:blipFill>
            <a:blip r:embed="rId3"/>
            <a:stretch>
              <a:fillRect/>
            </a:stretch>
          </p:blipFill>
          <p:spPr>
            <a:xfrm>
              <a:off x="6783324" y="2670048"/>
              <a:ext cx="256032" cy="256032"/>
            </a:xfrm>
            <a:prstGeom prst="rect">
              <a:avLst/>
            </a:prstGeom>
          </p:spPr>
        </p:pic>
        <p:pic>
          <p:nvPicPr>
            <p:cNvPr id="26" name="Picture 25" descr="MinusCircle_saffron.png"/>
            <p:cNvPicPr>
              <a:picLocks noChangeAspect="1"/>
            </p:cNvPicPr>
            <p:nvPr/>
          </p:nvPicPr>
          <p:blipFill>
            <a:blip r:embed="rId3"/>
            <a:stretch>
              <a:fillRect/>
            </a:stretch>
          </p:blipFill>
          <p:spPr>
            <a:xfrm>
              <a:off x="8139684" y="2670048"/>
              <a:ext cx="256032" cy="256032"/>
            </a:xfrm>
            <a:prstGeom prst="rect">
              <a:avLst/>
            </a:prstGeom>
          </p:spPr>
        </p:pic>
        <p:pic>
          <p:nvPicPr>
            <p:cNvPr id="27" name="Picture 26" descr="XCircle_grey.png"/>
            <p:cNvPicPr>
              <a:picLocks noChangeAspect="1"/>
            </p:cNvPicPr>
            <p:nvPr/>
          </p:nvPicPr>
          <p:blipFill>
            <a:blip r:embed="rId4"/>
            <a:stretch>
              <a:fillRect/>
            </a:stretch>
          </p:blipFill>
          <p:spPr>
            <a:xfrm>
              <a:off x="9496044" y="2670048"/>
              <a:ext cx="256032" cy="256032"/>
            </a:xfrm>
            <a:prstGeom prst="rect">
              <a:avLst/>
            </a:prstGeom>
          </p:spPr>
        </p:pic>
        <p:pic>
          <p:nvPicPr>
            <p:cNvPr id="28" name="Picture 27" descr="XCircle_grey.png"/>
            <p:cNvPicPr>
              <a:picLocks noChangeAspect="1"/>
            </p:cNvPicPr>
            <p:nvPr/>
          </p:nvPicPr>
          <p:blipFill>
            <a:blip r:embed="rId4"/>
            <a:stretch>
              <a:fillRect/>
            </a:stretch>
          </p:blipFill>
          <p:spPr>
            <a:xfrm>
              <a:off x="10852404" y="2670048"/>
              <a:ext cx="256032" cy="256032"/>
            </a:xfrm>
            <a:prstGeom prst="rect">
              <a:avLst/>
            </a:prstGeom>
          </p:spPr>
        </p:pic>
      </p:grpSp>
      <p:grpSp>
        <p:nvGrpSpPr>
          <p:cNvPr id="39" name="crow1"/>
          <p:cNvGrpSpPr/>
          <p:nvPr/>
        </p:nvGrpSpPr>
        <p:grpSpPr>
          <a:xfrm>
            <a:off x="548640" y="3044951"/>
            <a:ext cx="11109960" cy="411481"/>
            <a:chOff x="548640" y="3044951"/>
            <a:chExt cx="11109960" cy="411481"/>
          </a:xfrm>
        </p:grpSpPr>
        <p:sp>
          <p:nvSpPr>
            <p:cNvPr id="30" name="Rectangle 29"/>
            <p:cNvSpPr/>
            <p:nvPr/>
          </p:nvSpPr>
          <p:spPr>
            <a:xfrm>
              <a:off x="548640" y="3447288"/>
              <a:ext cx="1110996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3044951"/>
              <a:ext cx="2788920" cy="228600"/>
            </a:xfrm>
            <a:prstGeom prst="rect">
              <a:avLst/>
            </a:prstGeom>
            <a:noFill/>
          </p:spPr>
          <p:txBody>
            <a:bodyPr wrap="square" lIns="0" rIns="0" tIns="0" bIns="0" anchor="t">
              <a:spAutoFit/>
            </a:bodyPr>
            <a:lstStyle/>
            <a:p>
              <a:pPr algn="l"/>
              <a:r>
                <a:rPr sz="1150" b="0" i="0">
                  <a:solidFill>
                    <a:srgbClr val="111827"/>
                  </a:solidFill>
                  <a:latin typeface="Segoe UI Semibold"/>
                </a:rPr>
                <a:t>BI dashboards &amp; Excel</a:t>
              </a:r>
            </a:p>
          </p:txBody>
        </p:sp>
        <p:sp>
          <p:nvSpPr>
            <p:cNvPr id="32" name="TextBox 31"/>
            <p:cNvSpPr txBox="1"/>
            <p:nvPr/>
          </p:nvSpPr>
          <p:spPr>
            <a:xfrm>
              <a:off x="731520" y="3246120"/>
              <a:ext cx="2743200" cy="182880"/>
            </a:xfrm>
            <a:prstGeom prst="rect">
              <a:avLst/>
            </a:prstGeom>
            <a:noFill/>
          </p:spPr>
          <p:txBody>
            <a:bodyPr wrap="square" lIns="0" rIns="0" tIns="0" bIns="0" anchor="t">
              <a:spAutoFit/>
            </a:bodyPr>
            <a:lstStyle/>
            <a:p>
              <a:pPr algn="l"/>
              <a:r>
                <a:rPr sz="900" b="0" i="0">
                  <a:solidFill>
                    <a:srgbClr val="6B7280"/>
                  </a:solidFill>
                  <a:latin typeface="Segoe UI"/>
                </a:rPr>
                <a:t>Today's default</a:t>
              </a:r>
            </a:p>
          </p:txBody>
        </p:sp>
        <p:pic>
          <p:nvPicPr>
            <p:cNvPr id="33" name="Picture 32" descr="XCircle_grey.png"/>
            <p:cNvPicPr>
              <a:picLocks noChangeAspect="1"/>
            </p:cNvPicPr>
            <p:nvPr/>
          </p:nvPicPr>
          <p:blipFill>
            <a:blip r:embed="rId4"/>
            <a:stretch>
              <a:fillRect/>
            </a:stretch>
          </p:blipFill>
          <p:spPr>
            <a:xfrm>
              <a:off x="4070604" y="3108960"/>
              <a:ext cx="256032" cy="256032"/>
            </a:xfrm>
            <a:prstGeom prst="rect">
              <a:avLst/>
            </a:prstGeom>
          </p:spPr>
        </p:pic>
        <p:pic>
          <p:nvPicPr>
            <p:cNvPr id="34" name="Picture 33" descr="XCircle_grey.png"/>
            <p:cNvPicPr>
              <a:picLocks noChangeAspect="1"/>
            </p:cNvPicPr>
            <p:nvPr/>
          </p:nvPicPr>
          <p:blipFill>
            <a:blip r:embed="rId4"/>
            <a:stretch>
              <a:fillRect/>
            </a:stretch>
          </p:blipFill>
          <p:spPr>
            <a:xfrm>
              <a:off x="5426964" y="3108960"/>
              <a:ext cx="256032" cy="256032"/>
            </a:xfrm>
            <a:prstGeom prst="rect">
              <a:avLst/>
            </a:prstGeom>
          </p:spPr>
        </p:pic>
        <p:pic>
          <p:nvPicPr>
            <p:cNvPr id="35" name="Picture 34" descr="XCircle_grey.png"/>
            <p:cNvPicPr>
              <a:picLocks noChangeAspect="1"/>
            </p:cNvPicPr>
            <p:nvPr/>
          </p:nvPicPr>
          <p:blipFill>
            <a:blip r:embed="rId4"/>
            <a:stretch>
              <a:fillRect/>
            </a:stretch>
          </p:blipFill>
          <p:spPr>
            <a:xfrm>
              <a:off x="6783324" y="3108960"/>
              <a:ext cx="256032" cy="256032"/>
            </a:xfrm>
            <a:prstGeom prst="rect">
              <a:avLst/>
            </a:prstGeom>
          </p:spPr>
        </p:pic>
        <p:pic>
          <p:nvPicPr>
            <p:cNvPr id="36" name="Picture 35" descr="XCircle_grey.png"/>
            <p:cNvPicPr>
              <a:picLocks noChangeAspect="1"/>
            </p:cNvPicPr>
            <p:nvPr/>
          </p:nvPicPr>
          <p:blipFill>
            <a:blip r:embed="rId4"/>
            <a:stretch>
              <a:fillRect/>
            </a:stretch>
          </p:blipFill>
          <p:spPr>
            <a:xfrm>
              <a:off x="8139684" y="3108960"/>
              <a:ext cx="256032" cy="256032"/>
            </a:xfrm>
            <a:prstGeom prst="rect">
              <a:avLst/>
            </a:prstGeom>
          </p:spPr>
        </p:pic>
        <p:pic>
          <p:nvPicPr>
            <p:cNvPr id="37" name="Picture 36" descr="XCircle_grey.png"/>
            <p:cNvPicPr>
              <a:picLocks noChangeAspect="1"/>
            </p:cNvPicPr>
            <p:nvPr/>
          </p:nvPicPr>
          <p:blipFill>
            <a:blip r:embed="rId4"/>
            <a:stretch>
              <a:fillRect/>
            </a:stretch>
          </p:blipFill>
          <p:spPr>
            <a:xfrm>
              <a:off x="9496044" y="3108960"/>
              <a:ext cx="256032" cy="256032"/>
            </a:xfrm>
            <a:prstGeom prst="rect">
              <a:avLst/>
            </a:prstGeom>
          </p:spPr>
        </p:pic>
        <p:pic>
          <p:nvPicPr>
            <p:cNvPr id="38" name="Picture 37" descr="MinusCircle_saffron.png"/>
            <p:cNvPicPr>
              <a:picLocks noChangeAspect="1"/>
            </p:cNvPicPr>
            <p:nvPr/>
          </p:nvPicPr>
          <p:blipFill>
            <a:blip r:embed="rId3"/>
            <a:stretch>
              <a:fillRect/>
            </a:stretch>
          </p:blipFill>
          <p:spPr>
            <a:xfrm>
              <a:off x="10852404" y="3108960"/>
              <a:ext cx="256032" cy="256032"/>
            </a:xfrm>
            <a:prstGeom prst="rect">
              <a:avLst/>
            </a:prstGeom>
          </p:spPr>
        </p:pic>
      </p:grpSp>
      <p:grpSp>
        <p:nvGrpSpPr>
          <p:cNvPr id="49" name="crow2"/>
          <p:cNvGrpSpPr/>
          <p:nvPr/>
        </p:nvGrpSpPr>
        <p:grpSpPr>
          <a:xfrm>
            <a:off x="548640" y="3483863"/>
            <a:ext cx="11109960" cy="411481"/>
            <a:chOff x="548640" y="3483863"/>
            <a:chExt cx="11109960" cy="411481"/>
          </a:xfrm>
        </p:grpSpPr>
        <p:sp>
          <p:nvSpPr>
            <p:cNvPr id="40" name="Rectangle 39"/>
            <p:cNvSpPr/>
            <p:nvPr/>
          </p:nvSpPr>
          <p:spPr>
            <a:xfrm>
              <a:off x="548640" y="3886200"/>
              <a:ext cx="1110996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31520" y="3483863"/>
              <a:ext cx="2788920" cy="228600"/>
            </a:xfrm>
            <a:prstGeom prst="rect">
              <a:avLst/>
            </a:prstGeom>
            <a:noFill/>
          </p:spPr>
          <p:txBody>
            <a:bodyPr wrap="square" lIns="0" rIns="0" tIns="0" bIns="0" anchor="t">
              <a:spAutoFit/>
            </a:bodyPr>
            <a:lstStyle/>
            <a:p>
              <a:pPr algn="l"/>
              <a:r>
                <a:rPr sz="1150" b="0" i="0">
                  <a:solidFill>
                    <a:srgbClr val="111827"/>
                  </a:solidFill>
                  <a:latin typeface="Segoe UI Semibold"/>
                </a:rPr>
                <a:t>Marketplace &amp; q-commerce seller tools</a:t>
              </a:r>
            </a:p>
          </p:txBody>
        </p:sp>
        <p:sp>
          <p:nvSpPr>
            <p:cNvPr id="42" name="TextBox 41"/>
            <p:cNvSpPr txBox="1"/>
            <p:nvPr/>
          </p:nvSpPr>
          <p:spPr>
            <a:xfrm>
              <a:off x="731520" y="3685031"/>
              <a:ext cx="2743200" cy="182880"/>
            </a:xfrm>
            <a:prstGeom prst="rect">
              <a:avLst/>
            </a:prstGeom>
            <a:noFill/>
          </p:spPr>
          <p:txBody>
            <a:bodyPr wrap="square" lIns="0" rIns="0" tIns="0" bIns="0" anchor="t">
              <a:spAutoFit/>
            </a:bodyPr>
            <a:lstStyle/>
            <a:p>
              <a:pPr algn="l"/>
              <a:r>
                <a:rPr sz="900" b="0" i="0">
                  <a:solidFill>
                    <a:srgbClr val="6B7280"/>
                  </a:solidFill>
                  <a:latin typeface="Segoe UI"/>
                </a:rPr>
                <a:t>Platform-locked</a:t>
              </a:r>
            </a:p>
          </p:txBody>
        </p:sp>
        <p:pic>
          <p:nvPicPr>
            <p:cNvPr id="43" name="Picture 42" descr="MinusCircle_saffron.png"/>
            <p:cNvPicPr>
              <a:picLocks noChangeAspect="1"/>
            </p:cNvPicPr>
            <p:nvPr/>
          </p:nvPicPr>
          <p:blipFill>
            <a:blip r:embed="rId3"/>
            <a:stretch>
              <a:fillRect/>
            </a:stretch>
          </p:blipFill>
          <p:spPr>
            <a:xfrm>
              <a:off x="4070604" y="3547872"/>
              <a:ext cx="256032" cy="256032"/>
            </a:xfrm>
            <a:prstGeom prst="rect">
              <a:avLst/>
            </a:prstGeom>
          </p:spPr>
        </p:pic>
        <p:pic>
          <p:nvPicPr>
            <p:cNvPr id="44" name="Picture 43" descr="XCircle_grey.png"/>
            <p:cNvPicPr>
              <a:picLocks noChangeAspect="1"/>
            </p:cNvPicPr>
            <p:nvPr/>
          </p:nvPicPr>
          <p:blipFill>
            <a:blip r:embed="rId4"/>
            <a:stretch>
              <a:fillRect/>
            </a:stretch>
          </p:blipFill>
          <p:spPr>
            <a:xfrm>
              <a:off x="5426964" y="3547872"/>
              <a:ext cx="256032" cy="256032"/>
            </a:xfrm>
            <a:prstGeom prst="rect">
              <a:avLst/>
            </a:prstGeom>
          </p:spPr>
        </p:pic>
        <p:pic>
          <p:nvPicPr>
            <p:cNvPr id="45" name="Picture 44" descr="XCircle_grey.png"/>
            <p:cNvPicPr>
              <a:picLocks noChangeAspect="1"/>
            </p:cNvPicPr>
            <p:nvPr/>
          </p:nvPicPr>
          <p:blipFill>
            <a:blip r:embed="rId4"/>
            <a:stretch>
              <a:fillRect/>
            </a:stretch>
          </p:blipFill>
          <p:spPr>
            <a:xfrm>
              <a:off x="6783324" y="3547872"/>
              <a:ext cx="256032" cy="256032"/>
            </a:xfrm>
            <a:prstGeom prst="rect">
              <a:avLst/>
            </a:prstGeom>
          </p:spPr>
        </p:pic>
        <p:pic>
          <p:nvPicPr>
            <p:cNvPr id="46" name="Picture 45" descr="MinusCircle_saffron.png"/>
            <p:cNvPicPr>
              <a:picLocks noChangeAspect="1"/>
            </p:cNvPicPr>
            <p:nvPr/>
          </p:nvPicPr>
          <p:blipFill>
            <a:blip r:embed="rId3"/>
            <a:stretch>
              <a:fillRect/>
            </a:stretch>
          </p:blipFill>
          <p:spPr>
            <a:xfrm>
              <a:off x="8139684" y="3547872"/>
              <a:ext cx="256032" cy="256032"/>
            </a:xfrm>
            <a:prstGeom prst="rect">
              <a:avLst/>
            </a:prstGeom>
          </p:spPr>
        </p:pic>
        <p:pic>
          <p:nvPicPr>
            <p:cNvPr id="47" name="Picture 46" descr="MinusCircle_saffron.png"/>
            <p:cNvPicPr>
              <a:picLocks noChangeAspect="1"/>
            </p:cNvPicPr>
            <p:nvPr/>
          </p:nvPicPr>
          <p:blipFill>
            <a:blip r:embed="rId3"/>
            <a:stretch>
              <a:fillRect/>
            </a:stretch>
          </p:blipFill>
          <p:spPr>
            <a:xfrm>
              <a:off x="9496044" y="3547872"/>
              <a:ext cx="256032" cy="256032"/>
            </a:xfrm>
            <a:prstGeom prst="rect">
              <a:avLst/>
            </a:prstGeom>
          </p:spPr>
        </p:pic>
        <p:pic>
          <p:nvPicPr>
            <p:cNvPr id="48" name="Picture 47" descr="XCircle_grey.png"/>
            <p:cNvPicPr>
              <a:picLocks noChangeAspect="1"/>
            </p:cNvPicPr>
            <p:nvPr/>
          </p:nvPicPr>
          <p:blipFill>
            <a:blip r:embed="rId4"/>
            <a:stretch>
              <a:fillRect/>
            </a:stretch>
          </p:blipFill>
          <p:spPr>
            <a:xfrm>
              <a:off x="10852404" y="3547872"/>
              <a:ext cx="256032" cy="256032"/>
            </a:xfrm>
            <a:prstGeom prst="rect">
              <a:avLst/>
            </a:prstGeom>
          </p:spPr>
        </p:pic>
      </p:grpSp>
      <p:grpSp>
        <p:nvGrpSpPr>
          <p:cNvPr id="59" name="crow3"/>
          <p:cNvGrpSpPr/>
          <p:nvPr/>
        </p:nvGrpSpPr>
        <p:grpSpPr>
          <a:xfrm>
            <a:off x="548640" y="3922776"/>
            <a:ext cx="11109960" cy="411480"/>
            <a:chOff x="548640" y="3922776"/>
            <a:chExt cx="11109960" cy="411480"/>
          </a:xfrm>
        </p:grpSpPr>
        <p:sp>
          <p:nvSpPr>
            <p:cNvPr id="50" name="Rectangle 49"/>
            <p:cNvSpPr/>
            <p:nvPr/>
          </p:nvSpPr>
          <p:spPr>
            <a:xfrm>
              <a:off x="548640" y="4325112"/>
              <a:ext cx="1110996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31520" y="3922776"/>
              <a:ext cx="2788920" cy="228600"/>
            </a:xfrm>
            <a:prstGeom prst="rect">
              <a:avLst/>
            </a:prstGeom>
            <a:noFill/>
          </p:spPr>
          <p:txBody>
            <a:bodyPr wrap="square" lIns="0" rIns="0" tIns="0" bIns="0" anchor="t">
              <a:spAutoFit/>
            </a:bodyPr>
            <a:lstStyle/>
            <a:p>
              <a:pPr algn="l"/>
              <a:r>
                <a:rPr sz="1150" b="0" i="0">
                  <a:solidFill>
                    <a:srgbClr val="111827"/>
                  </a:solidFill>
                  <a:latin typeface="Segoe UI Semibold"/>
                </a:rPr>
                <a:t>Generic AI chatbots</a:t>
              </a:r>
            </a:p>
          </p:txBody>
        </p:sp>
        <p:sp>
          <p:nvSpPr>
            <p:cNvPr id="52" name="TextBox 51"/>
            <p:cNvSpPr txBox="1"/>
            <p:nvPr/>
          </p:nvSpPr>
          <p:spPr>
            <a:xfrm>
              <a:off x="731520" y="4123944"/>
              <a:ext cx="2743200" cy="182880"/>
            </a:xfrm>
            <a:prstGeom prst="rect">
              <a:avLst/>
            </a:prstGeom>
            <a:noFill/>
          </p:spPr>
          <p:txBody>
            <a:bodyPr wrap="square" lIns="0" rIns="0" tIns="0" bIns="0" anchor="t">
              <a:spAutoFit/>
            </a:bodyPr>
            <a:lstStyle/>
            <a:p>
              <a:pPr algn="l"/>
              <a:r>
                <a:rPr sz="900" b="0" i="0">
                  <a:solidFill>
                    <a:srgbClr val="6B7280"/>
                  </a:solidFill>
                  <a:latin typeface="Segoe UI"/>
                </a:rPr>
                <a:t>Unverified answers</a:t>
              </a:r>
            </a:p>
          </p:txBody>
        </p:sp>
        <p:pic>
          <p:nvPicPr>
            <p:cNvPr id="53" name="Picture 52" descr="MinusCircle_saffron.png"/>
            <p:cNvPicPr>
              <a:picLocks noChangeAspect="1"/>
            </p:cNvPicPr>
            <p:nvPr/>
          </p:nvPicPr>
          <p:blipFill>
            <a:blip r:embed="rId3"/>
            <a:stretch>
              <a:fillRect/>
            </a:stretch>
          </p:blipFill>
          <p:spPr>
            <a:xfrm>
              <a:off x="4070604" y="3986783"/>
              <a:ext cx="256032" cy="256032"/>
            </a:xfrm>
            <a:prstGeom prst="rect">
              <a:avLst/>
            </a:prstGeom>
          </p:spPr>
        </p:pic>
        <p:pic>
          <p:nvPicPr>
            <p:cNvPr id="54" name="Picture 53" descr="MinusCircle_saffron.png"/>
            <p:cNvPicPr>
              <a:picLocks noChangeAspect="1"/>
            </p:cNvPicPr>
            <p:nvPr/>
          </p:nvPicPr>
          <p:blipFill>
            <a:blip r:embed="rId3"/>
            <a:stretch>
              <a:fillRect/>
            </a:stretch>
          </p:blipFill>
          <p:spPr>
            <a:xfrm>
              <a:off x="5426964" y="3986783"/>
              <a:ext cx="256032" cy="256032"/>
            </a:xfrm>
            <a:prstGeom prst="rect">
              <a:avLst/>
            </a:prstGeom>
          </p:spPr>
        </p:pic>
        <p:pic>
          <p:nvPicPr>
            <p:cNvPr id="55" name="Picture 54" descr="XCircle_grey.png"/>
            <p:cNvPicPr>
              <a:picLocks noChangeAspect="1"/>
            </p:cNvPicPr>
            <p:nvPr/>
          </p:nvPicPr>
          <p:blipFill>
            <a:blip r:embed="rId4"/>
            <a:stretch>
              <a:fillRect/>
            </a:stretch>
          </p:blipFill>
          <p:spPr>
            <a:xfrm>
              <a:off x="6783324" y="3986783"/>
              <a:ext cx="256032" cy="256032"/>
            </a:xfrm>
            <a:prstGeom prst="rect">
              <a:avLst/>
            </a:prstGeom>
          </p:spPr>
        </p:pic>
        <p:pic>
          <p:nvPicPr>
            <p:cNvPr id="56" name="Picture 55" descr="XCircle_grey.png"/>
            <p:cNvPicPr>
              <a:picLocks noChangeAspect="1"/>
            </p:cNvPicPr>
            <p:nvPr/>
          </p:nvPicPr>
          <p:blipFill>
            <a:blip r:embed="rId4"/>
            <a:stretch>
              <a:fillRect/>
            </a:stretch>
          </p:blipFill>
          <p:spPr>
            <a:xfrm>
              <a:off x="8139684" y="3986783"/>
              <a:ext cx="256032" cy="256032"/>
            </a:xfrm>
            <a:prstGeom prst="rect">
              <a:avLst/>
            </a:prstGeom>
          </p:spPr>
        </p:pic>
        <p:pic>
          <p:nvPicPr>
            <p:cNvPr id="57" name="Picture 56" descr="MinusCircle_saffron.png"/>
            <p:cNvPicPr>
              <a:picLocks noChangeAspect="1"/>
            </p:cNvPicPr>
            <p:nvPr/>
          </p:nvPicPr>
          <p:blipFill>
            <a:blip r:embed="rId3"/>
            <a:stretch>
              <a:fillRect/>
            </a:stretch>
          </p:blipFill>
          <p:spPr>
            <a:xfrm>
              <a:off x="9496044" y="3986783"/>
              <a:ext cx="256032" cy="256032"/>
            </a:xfrm>
            <a:prstGeom prst="rect">
              <a:avLst/>
            </a:prstGeom>
          </p:spPr>
        </p:pic>
        <p:pic>
          <p:nvPicPr>
            <p:cNvPr id="58" name="Picture 57" descr="MinusCircle_saffron.png"/>
            <p:cNvPicPr>
              <a:picLocks noChangeAspect="1"/>
            </p:cNvPicPr>
            <p:nvPr/>
          </p:nvPicPr>
          <p:blipFill>
            <a:blip r:embed="rId3"/>
            <a:stretch>
              <a:fillRect/>
            </a:stretch>
          </p:blipFill>
          <p:spPr>
            <a:xfrm>
              <a:off x="10852404" y="3986783"/>
              <a:ext cx="256032" cy="256032"/>
            </a:xfrm>
            <a:prstGeom prst="rect">
              <a:avLst/>
            </a:prstGeom>
          </p:spPr>
        </p:pic>
      </p:grpSp>
      <p:grpSp>
        <p:nvGrpSpPr>
          <p:cNvPr id="85" name="winrow"/>
          <p:cNvGrpSpPr/>
          <p:nvPr/>
        </p:nvGrpSpPr>
        <p:grpSpPr>
          <a:xfrm>
            <a:off x="548640" y="4379976"/>
            <a:ext cx="11109960" cy="493776"/>
            <a:chOff x="548640" y="4379976"/>
            <a:chExt cx="11109960" cy="493776"/>
          </a:xfrm>
        </p:grpSpPr>
        <p:sp>
          <p:nvSpPr>
            <p:cNvPr id="60" name="Rounded Rectangle 59"/>
            <p:cNvSpPr/>
            <p:nvPr/>
          </p:nvSpPr>
          <p:spPr>
            <a:xfrm>
              <a:off x="548640" y="4379976"/>
              <a:ext cx="11109960" cy="493776"/>
            </a:xfrm>
            <a:prstGeom prst="roundRect">
              <a:avLst>
                <a:gd name="adj" fmla="val 10000"/>
              </a:avLst>
            </a:prstGeom>
            <a:solidFill>
              <a:srgbClr val="0B1A5C"/>
            </a:solidFill>
            <a:ln>
              <a:noFill/>
            </a:ln>
            <a:effectLst>
              <a:outerShdw blurRad="279400" dist="50800" dir="5400000" algn="t" rotWithShape="0">
                <a:srgbClr val="0B1A5C">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731520" y="4379976"/>
              <a:ext cx="2651760" cy="493776"/>
            </a:xfrm>
            <a:prstGeom prst="rect">
              <a:avLst/>
            </a:prstGeom>
            <a:noFill/>
          </p:spPr>
          <p:txBody>
            <a:bodyPr wrap="square" lIns="0" rIns="0" tIns="0" bIns="0" anchor="ctr">
              <a:spAutoFit/>
            </a:bodyPr>
            <a:lstStyle/>
            <a:p>
              <a:pPr algn="l"/>
              <a:r>
                <a:rPr sz="1500" b="0" i="0">
                  <a:solidFill>
                    <a:srgbClr val="FFFFFF"/>
                  </a:solidFill>
                  <a:latin typeface="Segoe UI Black"/>
                </a:rPr>
                <a:t>ShubhLabh</a:t>
              </a:r>
              <a:r>
                <a:rPr sz="1500" b="0" i="0">
                  <a:solidFill>
                    <a:srgbClr val="F28A1A"/>
                  </a:solidFill>
                  <a:latin typeface="Segoe UI Black"/>
                </a:rPr>
                <a:t> AI</a:t>
              </a:r>
            </a:p>
          </p:txBody>
        </p:sp>
        <p:sp>
          <p:nvSpPr>
            <p:cNvPr id="62" name="Oval 61"/>
            <p:cNvSpPr/>
            <p:nvPr/>
          </p:nvSpPr>
          <p:spPr>
            <a:xfrm>
              <a:off x="4034028" y="4462272"/>
              <a:ext cx="329184" cy="329184"/>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heckCircle2_white.png"/>
            <p:cNvPicPr>
              <a:picLocks noChangeAspect="1"/>
            </p:cNvPicPr>
            <p:nvPr/>
          </p:nvPicPr>
          <p:blipFill>
            <a:blip r:embed="rId5"/>
            <a:stretch>
              <a:fillRect/>
            </a:stretch>
          </p:blipFill>
          <p:spPr>
            <a:xfrm>
              <a:off x="4084320" y="4512564"/>
              <a:ext cx="228600" cy="228600"/>
            </a:xfrm>
            <a:prstGeom prst="rect">
              <a:avLst/>
            </a:prstGeom>
          </p:spPr>
        </p:pic>
        <p:sp>
          <p:nvSpPr>
            <p:cNvPr id="64" name="Oval 63"/>
            <p:cNvSpPr/>
            <p:nvPr/>
          </p:nvSpPr>
          <p:spPr>
            <a:xfrm>
              <a:off x="5390388" y="4462272"/>
              <a:ext cx="329184" cy="329184"/>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CheckCircle2_white.png"/>
            <p:cNvPicPr>
              <a:picLocks noChangeAspect="1"/>
            </p:cNvPicPr>
            <p:nvPr/>
          </p:nvPicPr>
          <p:blipFill>
            <a:blip r:embed="rId5"/>
            <a:stretch>
              <a:fillRect/>
            </a:stretch>
          </p:blipFill>
          <p:spPr>
            <a:xfrm>
              <a:off x="5440680" y="4512564"/>
              <a:ext cx="228600" cy="228600"/>
            </a:xfrm>
            <a:prstGeom prst="rect">
              <a:avLst/>
            </a:prstGeom>
          </p:spPr>
        </p:pic>
        <p:sp>
          <p:nvSpPr>
            <p:cNvPr id="66" name="Oval 65"/>
            <p:cNvSpPr/>
            <p:nvPr/>
          </p:nvSpPr>
          <p:spPr>
            <a:xfrm>
              <a:off x="6746748" y="4462272"/>
              <a:ext cx="329184" cy="329184"/>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CheckCircle2_white.png"/>
            <p:cNvPicPr>
              <a:picLocks noChangeAspect="1"/>
            </p:cNvPicPr>
            <p:nvPr/>
          </p:nvPicPr>
          <p:blipFill>
            <a:blip r:embed="rId5"/>
            <a:stretch>
              <a:fillRect/>
            </a:stretch>
          </p:blipFill>
          <p:spPr>
            <a:xfrm>
              <a:off x="6797040" y="4512564"/>
              <a:ext cx="228600" cy="228600"/>
            </a:xfrm>
            <a:prstGeom prst="rect">
              <a:avLst/>
            </a:prstGeom>
          </p:spPr>
        </p:pic>
        <p:sp>
          <p:nvSpPr>
            <p:cNvPr id="68" name="Oval 67"/>
            <p:cNvSpPr/>
            <p:nvPr/>
          </p:nvSpPr>
          <p:spPr>
            <a:xfrm>
              <a:off x="8103108" y="4462272"/>
              <a:ext cx="329184" cy="329184"/>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CheckCircle2_white.png"/>
            <p:cNvPicPr>
              <a:picLocks noChangeAspect="1"/>
            </p:cNvPicPr>
            <p:nvPr/>
          </p:nvPicPr>
          <p:blipFill>
            <a:blip r:embed="rId5"/>
            <a:stretch>
              <a:fillRect/>
            </a:stretch>
          </p:blipFill>
          <p:spPr>
            <a:xfrm>
              <a:off x="8153400" y="4512564"/>
              <a:ext cx="228600" cy="228600"/>
            </a:xfrm>
            <a:prstGeom prst="rect">
              <a:avLst/>
            </a:prstGeom>
          </p:spPr>
        </p:pic>
        <p:sp>
          <p:nvSpPr>
            <p:cNvPr id="70" name="Oval 69"/>
            <p:cNvSpPr/>
            <p:nvPr/>
          </p:nvSpPr>
          <p:spPr>
            <a:xfrm>
              <a:off x="9459468" y="4462272"/>
              <a:ext cx="329184" cy="329184"/>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CheckCircle2_white.png"/>
            <p:cNvPicPr>
              <a:picLocks noChangeAspect="1"/>
            </p:cNvPicPr>
            <p:nvPr/>
          </p:nvPicPr>
          <p:blipFill>
            <a:blip r:embed="rId5"/>
            <a:stretch>
              <a:fillRect/>
            </a:stretch>
          </p:blipFill>
          <p:spPr>
            <a:xfrm>
              <a:off x="9509760" y="4512564"/>
              <a:ext cx="228600" cy="228600"/>
            </a:xfrm>
            <a:prstGeom prst="rect">
              <a:avLst/>
            </a:prstGeom>
          </p:spPr>
        </p:pic>
        <p:sp>
          <p:nvSpPr>
            <p:cNvPr id="72" name="Oval 71"/>
            <p:cNvSpPr/>
            <p:nvPr/>
          </p:nvSpPr>
          <p:spPr>
            <a:xfrm>
              <a:off x="10815828" y="4462272"/>
              <a:ext cx="329184" cy="329184"/>
            </a:xfrm>
            <a:prstGeom prst="ellipse">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CheckCircle2_white.png"/>
            <p:cNvPicPr>
              <a:picLocks noChangeAspect="1"/>
            </p:cNvPicPr>
            <p:nvPr/>
          </p:nvPicPr>
          <p:blipFill>
            <a:blip r:embed="rId5"/>
            <a:stretch>
              <a:fillRect/>
            </a:stretch>
          </p:blipFill>
          <p:spPr>
            <a:xfrm>
              <a:off x="10866120" y="4512564"/>
              <a:ext cx="228600" cy="228600"/>
            </a:xfrm>
            <a:prstGeom prst="rect">
              <a:avLst/>
            </a:prstGeom>
          </p:spPr>
        </p:pic>
      </p:grpSp>
      <p:grpSp>
        <p:nvGrpSpPr>
          <p:cNvPr id="86" name="hard"/>
          <p:cNvGrpSpPr/>
          <p:nvPr/>
        </p:nvGrpSpPr>
        <p:grpSpPr>
          <a:xfrm>
            <a:off x="548640" y="4992624"/>
            <a:ext cx="11109960" cy="777240"/>
            <a:chOff x="548640" y="4992624"/>
            <a:chExt cx="11109960" cy="777240"/>
          </a:xfrm>
        </p:grpSpPr>
        <p:sp>
          <p:nvSpPr>
            <p:cNvPr id="74" name="TextBox 73"/>
            <p:cNvSpPr txBox="1"/>
            <p:nvPr/>
          </p:nvSpPr>
          <p:spPr>
            <a:xfrm>
              <a:off x="548640" y="4992624"/>
              <a:ext cx="5486400" cy="201168"/>
            </a:xfrm>
            <a:prstGeom prst="rect">
              <a:avLst/>
            </a:prstGeom>
            <a:noFill/>
          </p:spPr>
          <p:txBody>
            <a:bodyPr wrap="square" lIns="0" rIns="0" tIns="0" bIns="0" anchor="t">
              <a:spAutoFit/>
            </a:bodyPr>
            <a:lstStyle/>
            <a:p>
              <a:pPr algn="l"/>
              <a:r>
                <a:rPr sz="900" b="0" i="0">
                  <a:solidFill>
                    <a:srgbClr val="138808"/>
                  </a:solidFill>
                  <a:latin typeface="Segoe UI Semibold"/>
                </a:rPr>
                <a:t>WHY IT IS HARD TO COPY</a:t>
              </a:r>
            </a:p>
          </p:txBody>
        </p:sp>
        <p:sp>
          <p:nvSpPr>
            <p:cNvPr id="75" name="Rounded Rectangle 74"/>
            <p:cNvSpPr/>
            <p:nvPr/>
          </p:nvSpPr>
          <p:spPr>
            <a:xfrm>
              <a:off x="548640" y="5221224"/>
              <a:ext cx="3520440" cy="548640"/>
            </a:xfrm>
            <a:prstGeom prst="roundRect">
              <a:avLst>
                <a:gd name="adj" fmla="val 10000"/>
              </a:avLst>
            </a:prstGeom>
            <a:solidFill>
              <a:srgbClr val="EC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6" name="Picture 75" descr="ShieldCheck_green.png"/>
            <p:cNvPicPr>
              <a:picLocks noChangeAspect="1"/>
            </p:cNvPicPr>
            <p:nvPr/>
          </p:nvPicPr>
          <p:blipFill>
            <a:blip r:embed="rId6"/>
            <a:stretch>
              <a:fillRect/>
            </a:stretch>
          </p:blipFill>
          <p:spPr>
            <a:xfrm>
              <a:off x="713232" y="5358384"/>
              <a:ext cx="274320" cy="274320"/>
            </a:xfrm>
            <a:prstGeom prst="rect">
              <a:avLst/>
            </a:prstGeom>
          </p:spPr>
        </p:pic>
        <p:sp>
          <p:nvSpPr>
            <p:cNvPr id="77" name="TextBox 76"/>
            <p:cNvSpPr txBox="1"/>
            <p:nvPr/>
          </p:nvSpPr>
          <p:spPr>
            <a:xfrm>
              <a:off x="1115568" y="5221224"/>
              <a:ext cx="2834640" cy="548640"/>
            </a:xfrm>
            <a:prstGeom prst="rect">
              <a:avLst/>
            </a:prstGeom>
            <a:noFill/>
          </p:spPr>
          <p:txBody>
            <a:bodyPr wrap="square" lIns="0" rIns="0" tIns="0" bIns="0" anchor="ctr">
              <a:spAutoFit/>
            </a:bodyPr>
            <a:lstStyle/>
            <a:p>
              <a:pPr algn="l">
                <a:lnSpc>
                  <a:spcPct val="95000"/>
                </a:lnSpc>
              </a:pPr>
              <a:r>
                <a:rPr sz="1100" b="0" i="0">
                  <a:solidFill>
                    <a:srgbClr val="0B1A5C"/>
                  </a:solidFill>
                  <a:latin typeface="Segoe UI Semibold"/>
                </a:rPr>
                <a:t>Two independent reads must agree before any price is used</a:t>
              </a:r>
            </a:p>
          </p:txBody>
        </p:sp>
        <p:sp>
          <p:nvSpPr>
            <p:cNvPr id="78" name="Rounded Rectangle 77"/>
            <p:cNvSpPr/>
            <p:nvPr/>
          </p:nvSpPr>
          <p:spPr>
            <a:xfrm>
              <a:off x="4343400" y="5221224"/>
              <a:ext cx="3520440" cy="548640"/>
            </a:xfrm>
            <a:prstGeom prst="roundRect">
              <a:avLst>
                <a:gd name="adj" fmla="val 10000"/>
              </a:avLst>
            </a:prstGeom>
            <a:solidFill>
              <a:srgbClr val="EC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9" name="Picture 78" descr="ShieldCheck_green.png"/>
            <p:cNvPicPr>
              <a:picLocks noChangeAspect="1"/>
            </p:cNvPicPr>
            <p:nvPr/>
          </p:nvPicPr>
          <p:blipFill>
            <a:blip r:embed="rId6"/>
            <a:stretch>
              <a:fillRect/>
            </a:stretch>
          </p:blipFill>
          <p:spPr>
            <a:xfrm>
              <a:off x="4507992" y="5358384"/>
              <a:ext cx="274320" cy="274320"/>
            </a:xfrm>
            <a:prstGeom prst="rect">
              <a:avLst/>
            </a:prstGeom>
          </p:spPr>
        </p:pic>
        <p:sp>
          <p:nvSpPr>
            <p:cNvPr id="80" name="TextBox 79"/>
            <p:cNvSpPr txBox="1"/>
            <p:nvPr/>
          </p:nvSpPr>
          <p:spPr>
            <a:xfrm>
              <a:off x="4910328" y="5221224"/>
              <a:ext cx="2834640" cy="548640"/>
            </a:xfrm>
            <a:prstGeom prst="rect">
              <a:avLst/>
            </a:prstGeom>
            <a:noFill/>
          </p:spPr>
          <p:txBody>
            <a:bodyPr wrap="square" lIns="0" rIns="0" tIns="0" bIns="0" anchor="ctr">
              <a:spAutoFit/>
            </a:bodyPr>
            <a:lstStyle/>
            <a:p>
              <a:pPr algn="l">
                <a:lnSpc>
                  <a:spcPct val="95000"/>
                </a:lnSpc>
              </a:pPr>
              <a:r>
                <a:rPr sz="1100" b="0" i="0">
                  <a:solidFill>
                    <a:srgbClr val="0B1A5C"/>
                  </a:solidFill>
                  <a:latin typeface="Segoe UI Semibold"/>
                </a:rPr>
                <a:t>Every offer verified by Intelli AI — not a dashboard, not a chatbot answer</a:t>
              </a:r>
            </a:p>
          </p:txBody>
        </p:sp>
        <p:sp>
          <p:nvSpPr>
            <p:cNvPr id="81" name="Rounded Rectangle 80"/>
            <p:cNvSpPr/>
            <p:nvPr/>
          </p:nvSpPr>
          <p:spPr>
            <a:xfrm>
              <a:off x="8138160" y="5221224"/>
              <a:ext cx="3520440" cy="548640"/>
            </a:xfrm>
            <a:prstGeom prst="roundRect">
              <a:avLst>
                <a:gd name="adj" fmla="val 10000"/>
              </a:avLst>
            </a:prstGeom>
            <a:solidFill>
              <a:srgbClr val="EC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2" name="Picture 81" descr="ShieldCheck_green.png"/>
            <p:cNvPicPr>
              <a:picLocks noChangeAspect="1"/>
            </p:cNvPicPr>
            <p:nvPr/>
          </p:nvPicPr>
          <p:blipFill>
            <a:blip r:embed="rId6"/>
            <a:stretch>
              <a:fillRect/>
            </a:stretch>
          </p:blipFill>
          <p:spPr>
            <a:xfrm>
              <a:off x="8302752" y="5358384"/>
              <a:ext cx="274320" cy="274320"/>
            </a:xfrm>
            <a:prstGeom prst="rect">
              <a:avLst/>
            </a:prstGeom>
          </p:spPr>
        </p:pic>
        <p:sp>
          <p:nvSpPr>
            <p:cNvPr id="83" name="TextBox 82"/>
            <p:cNvSpPr txBox="1"/>
            <p:nvPr/>
          </p:nvSpPr>
          <p:spPr>
            <a:xfrm>
              <a:off x="8705088" y="5221224"/>
              <a:ext cx="2834640" cy="548640"/>
            </a:xfrm>
            <a:prstGeom prst="rect">
              <a:avLst/>
            </a:prstGeom>
            <a:noFill/>
          </p:spPr>
          <p:txBody>
            <a:bodyPr wrap="square" lIns="0" rIns="0" tIns="0" bIns="0" anchor="ctr">
              <a:spAutoFit/>
            </a:bodyPr>
            <a:lstStyle/>
            <a:p>
              <a:pPr algn="l">
                <a:lnSpc>
                  <a:spcPct val="95000"/>
                </a:lnSpc>
              </a:pPr>
              <a:r>
                <a:rPr sz="1100" b="0" i="0">
                  <a:solidFill>
                    <a:srgbClr val="0B1A5C"/>
                  </a:solidFill>
                  <a:latin typeface="Segoe UI Semibold"/>
                </a:rPr>
                <a:t>Price response calibrated on 4.85M real retail records</a:t>
              </a:r>
            </a:p>
          </p:txBody>
        </p:sp>
      </p:grpSp>
      <p:sp>
        <p:nvSpPr>
          <p:cNvPr id="84" name="TextBox 83"/>
          <p:cNvSpPr txBox="1"/>
          <p:nvPr/>
        </p:nvSpPr>
        <p:spPr>
          <a:xfrm>
            <a:off x="548640" y="5989320"/>
            <a:ext cx="11109960" cy="182880"/>
          </a:xfrm>
          <a:prstGeom prst="rect">
            <a:avLst/>
          </a:prstGeom>
          <a:noFill/>
        </p:spPr>
        <p:txBody>
          <a:bodyPr wrap="square" lIns="0" rIns="0" tIns="0" bIns="0" anchor="t">
            <a:spAutoFit/>
          </a:bodyPr>
          <a:lstStyle/>
          <a:p>
            <a:pPr algn="r">
              <a:lnSpc>
                <a:spcPct val="100000"/>
              </a:lnSpc>
            </a:pPr>
            <a:r>
              <a:rPr sz="900" b="0" i="1">
                <a:solidFill>
                  <a:srgbClr val="6B7280"/>
                </a:solidFill>
                <a:latin typeface="Segoe UI"/>
              </a:rPr>
              <a:t>Comparison by category from publicly available product information, October 2026.</a:t>
            </a:r>
          </a:p>
        </p:txBody>
      </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600"/>
                                        <p:tgtEl>
                                          <p:spTgt spid="29"/>
                                        </p:tgtEl>
                                      </p:cBhvr>
                                    </p:animEffect>
                                    <p:anim calcmode="lin" valueType="num">
                                      <p:cBhvr>
                                        <p:cTn id="8" dur="600" fill="hold"/>
                                        <p:tgtEl>
                                          <p:spTgt spid="29"/>
                                        </p:tgtEl>
                                        <p:attrNameLst>
                                          <p:attrName>ppt_x</p:attrName>
                                        </p:attrNameLst>
                                      </p:cBhvr>
                                      <p:tavLst>
                                        <p:tav tm="0">
                                          <p:val>
                                            <p:strVal val="#ppt_x"/>
                                          </p:val>
                                        </p:tav>
                                        <p:tav tm="100000">
                                          <p:val>
                                            <p:strVal val="#ppt_x"/>
                                          </p:val>
                                        </p:tav>
                                      </p:tavLst>
                                    </p:anim>
                                    <p:anim calcmode="lin" valueType="num">
                                      <p:cBhvr>
                                        <p:cTn id="9" dur="600" decel="100000" fill="hold"/>
                                        <p:tgtEl>
                                          <p:spTgt spid="29"/>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600"/>
                                        <p:tgtEl>
                                          <p:spTgt spid="39"/>
                                        </p:tgtEl>
                                      </p:cBhvr>
                                    </p:animEffect>
                                    <p:anim calcmode="lin" valueType="num">
                                      <p:cBhvr>
                                        <p:cTn id="14" dur="600" fill="hold"/>
                                        <p:tgtEl>
                                          <p:spTgt spid="39"/>
                                        </p:tgtEl>
                                        <p:attrNameLst>
                                          <p:attrName>ppt_x</p:attrName>
                                        </p:attrNameLst>
                                      </p:cBhvr>
                                      <p:tavLst>
                                        <p:tav tm="0">
                                          <p:val>
                                            <p:strVal val="#ppt_x"/>
                                          </p:val>
                                        </p:tav>
                                        <p:tav tm="100000">
                                          <p:val>
                                            <p:strVal val="#ppt_x"/>
                                          </p:val>
                                        </p:tav>
                                      </p:tavLst>
                                    </p:anim>
                                    <p:anim calcmode="lin" valueType="num">
                                      <p:cBhvr>
                                        <p:cTn id="15" dur="600" decel="100000" fill="hold"/>
                                        <p:tgtEl>
                                          <p:spTgt spid="39"/>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600"/>
                                        <p:tgtEl>
                                          <p:spTgt spid="49"/>
                                        </p:tgtEl>
                                      </p:cBhvr>
                                    </p:animEffect>
                                    <p:anim calcmode="lin" valueType="num">
                                      <p:cBhvr>
                                        <p:cTn id="20" dur="600" fill="hold"/>
                                        <p:tgtEl>
                                          <p:spTgt spid="49"/>
                                        </p:tgtEl>
                                        <p:attrNameLst>
                                          <p:attrName>ppt_x</p:attrName>
                                        </p:attrNameLst>
                                      </p:cBhvr>
                                      <p:tavLst>
                                        <p:tav tm="0">
                                          <p:val>
                                            <p:strVal val="#ppt_x"/>
                                          </p:val>
                                        </p:tav>
                                        <p:tav tm="100000">
                                          <p:val>
                                            <p:strVal val="#ppt_x"/>
                                          </p:val>
                                        </p:tav>
                                      </p:tavLst>
                                    </p:anim>
                                    <p:anim calcmode="lin" valueType="num">
                                      <p:cBhvr>
                                        <p:cTn id="21" dur="600" decel="100000" fill="hold"/>
                                        <p:tgtEl>
                                          <p:spTgt spid="49"/>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600"/>
                                        <p:tgtEl>
                                          <p:spTgt spid="59"/>
                                        </p:tgtEl>
                                      </p:cBhvr>
                                    </p:animEffect>
                                    <p:anim calcmode="lin" valueType="num">
                                      <p:cBhvr>
                                        <p:cTn id="26" dur="600" fill="hold"/>
                                        <p:tgtEl>
                                          <p:spTgt spid="59"/>
                                        </p:tgtEl>
                                        <p:attrNameLst>
                                          <p:attrName>ppt_x</p:attrName>
                                        </p:attrNameLst>
                                      </p:cBhvr>
                                      <p:tavLst>
                                        <p:tav tm="0">
                                          <p:val>
                                            <p:strVal val="#ppt_x"/>
                                          </p:val>
                                        </p:tav>
                                        <p:tav tm="100000">
                                          <p:val>
                                            <p:strVal val="#ppt_x"/>
                                          </p:val>
                                        </p:tav>
                                      </p:tavLst>
                                    </p:anim>
                                    <p:anim calcmode="lin" valueType="num">
                                      <p:cBhvr>
                                        <p:cTn id="27" dur="600" decel="100000" fill="hold"/>
                                        <p:tgtEl>
                                          <p:spTgt spid="59"/>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85"/>
                                        </p:tgtEl>
                                        <p:attrNameLst>
                                          <p:attrName>style.visibility</p:attrName>
                                        </p:attrNameLst>
                                      </p:cBhvr>
                                      <p:to>
                                        <p:strVal val="visible"/>
                                      </p:to>
                                    </p:set>
                                    <p:animEffect transition="in" filter="fade">
                                      <p:cBhvr>
                                        <p:cTn id="31" dur="600"/>
                                        <p:tgtEl>
                                          <p:spTgt spid="85"/>
                                        </p:tgtEl>
                                      </p:cBhvr>
                                    </p:animEffect>
                                    <p:anim calcmode="lin" valueType="num">
                                      <p:cBhvr>
                                        <p:cTn id="32" dur="600" fill="hold"/>
                                        <p:tgtEl>
                                          <p:spTgt spid="85"/>
                                        </p:tgtEl>
                                        <p:attrNameLst>
                                          <p:attrName>ppt_x</p:attrName>
                                        </p:attrNameLst>
                                      </p:cBhvr>
                                      <p:tavLst>
                                        <p:tav tm="0">
                                          <p:val>
                                            <p:strVal val="#ppt_x"/>
                                          </p:val>
                                        </p:tav>
                                        <p:tav tm="100000">
                                          <p:val>
                                            <p:strVal val="#ppt_x"/>
                                          </p:val>
                                        </p:tav>
                                      </p:tavLst>
                                    </p:anim>
                                    <p:anim calcmode="lin" valueType="num">
                                      <p:cBhvr>
                                        <p:cTn id="33" dur="600" decel="100000" fill="hold"/>
                                        <p:tgtEl>
                                          <p:spTgt spid="85"/>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86"/>
                                        </p:tgtEl>
                                        <p:attrNameLst>
                                          <p:attrName>style.visibility</p:attrName>
                                        </p:attrNameLst>
                                      </p:cBhvr>
                                      <p:to>
                                        <p:strVal val="visible"/>
                                      </p:to>
                                    </p:set>
                                    <p:animEffect transition="in" filter="fade">
                                      <p:cBhvr>
                                        <p:cTn id="37" dur="600"/>
                                        <p:tgtEl>
                                          <p:spTgt spid="86"/>
                                        </p:tgtEl>
                                      </p:cBhvr>
                                    </p:animEffect>
                                    <p:anim calcmode="lin" valueType="num">
                                      <p:cBhvr>
                                        <p:cTn id="38" dur="600" fill="hold"/>
                                        <p:tgtEl>
                                          <p:spTgt spid="86"/>
                                        </p:tgtEl>
                                        <p:attrNameLst>
                                          <p:attrName>ppt_x</p:attrName>
                                        </p:attrNameLst>
                                      </p:cBhvr>
                                      <p:tavLst>
                                        <p:tav tm="0">
                                          <p:val>
                                            <p:strVal val="#ppt_x"/>
                                          </p:val>
                                        </p:tav>
                                        <p:tav tm="100000">
                                          <p:val>
                                            <p:strVal val="#ppt_x"/>
                                          </p:val>
                                        </p:tav>
                                      </p:tavLst>
                                    </p:anim>
                                    <p:anim calcmode="lin" valueType="num">
                                      <p:cBhvr>
                                        <p:cTn id="39" dur="600" decel="100000" fill="hold"/>
                                        <p:tgtEl>
                                          <p:spTgt spid="8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10</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adgeCheck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Requirement coverage</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All </a:t>
            </a:r>
            <a:r>
              <a:rPr sz="3600" b="0" i="0">
                <a:solidFill>
                  <a:srgbClr val="138808"/>
                </a:solidFill>
                <a:latin typeface="Segoe UI Black"/>
              </a:rPr>
              <a:t>9 required features</a:t>
            </a:r>
            <a:r>
              <a:rPr sz="3600" b="0" i="0">
                <a:solidFill>
                  <a:srgbClr val="0B1A5C"/>
                </a:solidFill>
                <a:latin typeface="Segoe UI Black"/>
              </a:rPr>
              <a:t> — plus D3</a:t>
            </a:r>
          </a:p>
        </p:txBody>
      </p:sp>
      <p:sp>
        <p:nvSpPr>
          <p:cNvPr id="12" name="Rounded Rectangle 11"/>
          <p:cNvSpPr/>
          <p:nvPr/>
        </p:nvSpPr>
        <p:spPr>
          <a:xfrm>
            <a:off x="9464040" y="384048"/>
            <a:ext cx="2194560" cy="566928"/>
          </a:xfrm>
          <a:prstGeom prst="roundRect">
            <a:avLst>
              <a:gd name="adj" fmla="val 2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1024128"/>
            <a:ext cx="2880360" cy="228600"/>
          </a:xfrm>
          <a:prstGeom prst="rect">
            <a:avLst/>
          </a:prstGeom>
          <a:noFill/>
        </p:spPr>
        <p:txBody>
          <a:bodyPr wrap="square" lIns="0" rIns="0" tIns="0" bIns="0" anchor="t">
            <a:spAutoFit/>
          </a:bodyPr>
          <a:lstStyle/>
          <a:p>
            <a:pPr algn="r"/>
            <a:r>
              <a:rPr sz="1000" b="0" i="0">
                <a:solidFill>
                  <a:srgbClr val="6B7280"/>
                </a:solidFill>
                <a:latin typeface="Segoe UI Semibold"/>
              </a:rPr>
              <a:t>all 9 features · multimodal depth</a:t>
            </a:r>
          </a:p>
        </p:txBody>
      </p:sp>
      <p:sp>
        <p:nvSpPr>
          <p:cNvPr id="14" name="TextBox 13"/>
          <p:cNvSpPr txBox="1"/>
          <p:nvPr/>
        </p:nvSpPr>
        <p:spPr>
          <a:xfrm>
            <a:off x="9464040" y="384048"/>
            <a:ext cx="2194560" cy="566928"/>
          </a:xfrm>
          <a:prstGeom prst="rect">
            <a:avLst/>
          </a:prstGeom>
          <a:noFill/>
        </p:spPr>
        <p:txBody>
          <a:bodyPr wrap="square" lIns="0" rIns="0" tIns="0" bIns="0" anchor="ctr">
            <a:spAutoFit/>
          </a:bodyPr>
          <a:lstStyle/>
          <a:p>
            <a:pPr algn="ctr"/>
            <a:r>
              <a:rPr sz="2200" b="0" i="0">
                <a:solidFill>
                  <a:srgbClr val="FFFFFF"/>
                </a:solidFill>
                <a:latin typeface="Segoe UI Black"/>
              </a:rPr>
              <a:t>F3</a:t>
            </a:r>
            <a:r>
              <a:rPr sz="2200" b="0" i="0">
                <a:solidFill>
                  <a:srgbClr val="F28A1A"/>
                </a:solidFill>
                <a:latin typeface="Segoe UI Black"/>
              </a:rPr>
              <a:t>  +  </a:t>
            </a:r>
            <a:r>
              <a:rPr sz="2200" b="0" i="0">
                <a:solidFill>
                  <a:srgbClr val="FFFFFF"/>
                </a:solidFill>
                <a:latin typeface="Segoe UI Black"/>
              </a:rPr>
              <a:t>D3</a:t>
            </a:r>
          </a:p>
        </p:txBody>
      </p:sp>
      <p:grpSp>
        <p:nvGrpSpPr>
          <p:cNvPr id="69" name="frow0"/>
          <p:cNvGrpSpPr/>
          <p:nvPr/>
        </p:nvGrpSpPr>
        <p:grpSpPr>
          <a:xfrm>
            <a:off x="548640" y="1874519"/>
            <a:ext cx="8284464" cy="1115568"/>
            <a:chOff x="548640" y="1874519"/>
            <a:chExt cx="8284464" cy="1115568"/>
          </a:xfrm>
        </p:grpSpPr>
        <p:sp>
          <p:nvSpPr>
            <p:cNvPr id="15" name="Rounded Rectangle 14"/>
            <p:cNvSpPr/>
            <p:nvPr/>
          </p:nvSpPr>
          <p:spPr>
            <a:xfrm>
              <a:off x="548640" y="1874519"/>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3232" y="2039112"/>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rget_navy.png"/>
            <p:cNvPicPr>
              <a:picLocks noChangeAspect="1"/>
            </p:cNvPicPr>
            <p:nvPr/>
          </p:nvPicPr>
          <p:blipFill>
            <a:blip r:embed="rId3"/>
            <a:stretch>
              <a:fillRect/>
            </a:stretch>
          </p:blipFill>
          <p:spPr>
            <a:xfrm>
              <a:off x="813816" y="2139696"/>
              <a:ext cx="256032" cy="256032"/>
            </a:xfrm>
            <a:prstGeom prst="rect">
              <a:avLst/>
            </a:prstGeom>
          </p:spPr>
        </p:pic>
        <p:pic>
          <p:nvPicPr>
            <p:cNvPr id="18" name="Picture 17" descr="CheckCircle2_green.png"/>
            <p:cNvPicPr>
              <a:picLocks noChangeAspect="1"/>
            </p:cNvPicPr>
            <p:nvPr/>
          </p:nvPicPr>
          <p:blipFill>
            <a:blip r:embed="rId4"/>
            <a:stretch>
              <a:fillRect/>
            </a:stretch>
          </p:blipFill>
          <p:spPr>
            <a:xfrm>
              <a:off x="2898648" y="2020824"/>
              <a:ext cx="201168" cy="201168"/>
            </a:xfrm>
            <a:prstGeom prst="rect">
              <a:avLst/>
            </a:prstGeom>
          </p:spPr>
        </p:pic>
        <p:sp>
          <p:nvSpPr>
            <p:cNvPr id="19" name="TextBox 18"/>
            <p:cNvSpPr txBox="1"/>
            <p:nvPr/>
          </p:nvSpPr>
          <p:spPr>
            <a:xfrm>
              <a:off x="1298448" y="2011679"/>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Product selection</a:t>
              </a:r>
            </a:p>
          </p:txBody>
        </p:sp>
        <p:sp>
          <p:nvSpPr>
            <p:cNvPr id="20" name="TextBox 19"/>
            <p:cNvSpPr txBox="1"/>
            <p:nvPr/>
          </p:nvSpPr>
          <p:spPr>
            <a:xfrm>
              <a:off x="731520" y="2569463"/>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Screens 120 SKUs to the best 20, with reasons</a:t>
              </a:r>
            </a:p>
          </p:txBody>
        </p:sp>
        <p:sp>
          <p:nvSpPr>
            <p:cNvPr id="21" name="Rounded Rectangle 20"/>
            <p:cNvSpPr/>
            <p:nvPr/>
          </p:nvSpPr>
          <p:spPr>
            <a:xfrm>
              <a:off x="3364992" y="1874519"/>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29584" y="2039112"/>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ayers_navy.png"/>
            <p:cNvPicPr>
              <a:picLocks noChangeAspect="1"/>
            </p:cNvPicPr>
            <p:nvPr/>
          </p:nvPicPr>
          <p:blipFill>
            <a:blip r:embed="rId5"/>
            <a:stretch>
              <a:fillRect/>
            </a:stretch>
          </p:blipFill>
          <p:spPr>
            <a:xfrm>
              <a:off x="3630168" y="2139696"/>
              <a:ext cx="256032" cy="256032"/>
            </a:xfrm>
            <a:prstGeom prst="rect">
              <a:avLst/>
            </a:prstGeom>
          </p:spPr>
        </p:pic>
        <p:pic>
          <p:nvPicPr>
            <p:cNvPr id="24" name="Picture 23" descr="CheckCircle2_green.png"/>
            <p:cNvPicPr>
              <a:picLocks noChangeAspect="1"/>
            </p:cNvPicPr>
            <p:nvPr/>
          </p:nvPicPr>
          <p:blipFill>
            <a:blip r:embed="rId4"/>
            <a:stretch>
              <a:fillRect/>
            </a:stretch>
          </p:blipFill>
          <p:spPr>
            <a:xfrm>
              <a:off x="5715000" y="2020824"/>
              <a:ext cx="201168" cy="201168"/>
            </a:xfrm>
            <a:prstGeom prst="rect">
              <a:avLst/>
            </a:prstGeom>
          </p:spPr>
        </p:pic>
        <p:sp>
          <p:nvSpPr>
            <p:cNvPr id="25" name="TextBox 24"/>
            <p:cNvSpPr txBox="1"/>
            <p:nvPr/>
          </p:nvSpPr>
          <p:spPr>
            <a:xfrm>
              <a:off x="4114800" y="2011679"/>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Promotion mechanism</a:t>
              </a:r>
            </a:p>
          </p:txBody>
        </p:sp>
        <p:sp>
          <p:nvSpPr>
            <p:cNvPr id="26" name="TextBox 25"/>
            <p:cNvSpPr txBox="1"/>
            <p:nvPr/>
          </p:nvSpPr>
          <p:spPr>
            <a:xfrm>
              <a:off x="3547872" y="2569463"/>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Markdown, coupon or bundle per product and city</a:t>
              </a:r>
            </a:p>
          </p:txBody>
        </p:sp>
        <p:sp>
          <p:nvSpPr>
            <p:cNvPr id="27" name="Rounded Rectangle 26"/>
            <p:cNvSpPr/>
            <p:nvPr/>
          </p:nvSpPr>
          <p:spPr>
            <a:xfrm>
              <a:off x="6181344" y="1874519"/>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345936" y="2039112"/>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ndianRupee_navy.png"/>
            <p:cNvPicPr>
              <a:picLocks noChangeAspect="1"/>
            </p:cNvPicPr>
            <p:nvPr/>
          </p:nvPicPr>
          <p:blipFill>
            <a:blip r:embed="rId6"/>
            <a:stretch>
              <a:fillRect/>
            </a:stretch>
          </p:blipFill>
          <p:spPr>
            <a:xfrm>
              <a:off x="6446520" y="2139696"/>
              <a:ext cx="256032" cy="256032"/>
            </a:xfrm>
            <a:prstGeom prst="rect">
              <a:avLst/>
            </a:prstGeom>
          </p:spPr>
        </p:pic>
        <p:pic>
          <p:nvPicPr>
            <p:cNvPr id="30" name="Picture 29" descr="CheckCircle2_green.png"/>
            <p:cNvPicPr>
              <a:picLocks noChangeAspect="1"/>
            </p:cNvPicPr>
            <p:nvPr/>
          </p:nvPicPr>
          <p:blipFill>
            <a:blip r:embed="rId4"/>
            <a:stretch>
              <a:fillRect/>
            </a:stretch>
          </p:blipFill>
          <p:spPr>
            <a:xfrm>
              <a:off x="8531352" y="2020824"/>
              <a:ext cx="201168" cy="201168"/>
            </a:xfrm>
            <a:prstGeom prst="rect">
              <a:avLst/>
            </a:prstGeom>
          </p:spPr>
        </p:pic>
        <p:sp>
          <p:nvSpPr>
            <p:cNvPr id="31" name="TextBox 30"/>
            <p:cNvSpPr txBox="1"/>
            <p:nvPr/>
          </p:nvSpPr>
          <p:spPr>
            <a:xfrm>
              <a:off x="6931152" y="2011679"/>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Discount &amp; strategy</a:t>
              </a:r>
            </a:p>
          </p:txBody>
        </p:sp>
        <p:sp>
          <p:nvSpPr>
            <p:cNvPr id="32" name="TextBox 31"/>
            <p:cNvSpPr txBox="1"/>
            <p:nvPr/>
          </p:nvSpPr>
          <p:spPr>
            <a:xfrm>
              <a:off x="6364224" y="2569463"/>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Depth, timing, audience, city — each verified</a:t>
              </a:r>
            </a:p>
          </p:txBody>
        </p:sp>
      </p:grpSp>
      <p:grpSp>
        <p:nvGrpSpPr>
          <p:cNvPr id="70" name="frow1"/>
          <p:cNvGrpSpPr/>
          <p:nvPr/>
        </p:nvGrpSpPr>
        <p:grpSpPr>
          <a:xfrm>
            <a:off x="548640" y="3136391"/>
            <a:ext cx="8284464" cy="1115568"/>
            <a:chOff x="548640" y="3136391"/>
            <a:chExt cx="8284464" cy="1115568"/>
          </a:xfrm>
        </p:grpSpPr>
        <p:sp>
          <p:nvSpPr>
            <p:cNvPr id="33" name="Rounded Rectangle 32"/>
            <p:cNvSpPr/>
            <p:nvPr/>
          </p:nvSpPr>
          <p:spPr>
            <a:xfrm>
              <a:off x="548640" y="3136391"/>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13232" y="3300984"/>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cale_navy.png"/>
            <p:cNvPicPr>
              <a:picLocks noChangeAspect="1"/>
            </p:cNvPicPr>
            <p:nvPr/>
          </p:nvPicPr>
          <p:blipFill>
            <a:blip r:embed="rId7"/>
            <a:stretch>
              <a:fillRect/>
            </a:stretch>
          </p:blipFill>
          <p:spPr>
            <a:xfrm>
              <a:off x="813816" y="3401568"/>
              <a:ext cx="256032" cy="256032"/>
            </a:xfrm>
            <a:prstGeom prst="rect">
              <a:avLst/>
            </a:prstGeom>
          </p:spPr>
        </p:pic>
        <p:pic>
          <p:nvPicPr>
            <p:cNvPr id="36" name="Picture 35" descr="CheckCircle2_green.png"/>
            <p:cNvPicPr>
              <a:picLocks noChangeAspect="1"/>
            </p:cNvPicPr>
            <p:nvPr/>
          </p:nvPicPr>
          <p:blipFill>
            <a:blip r:embed="rId4"/>
            <a:stretch>
              <a:fillRect/>
            </a:stretch>
          </p:blipFill>
          <p:spPr>
            <a:xfrm>
              <a:off x="2898648" y="3282696"/>
              <a:ext cx="201168" cy="201168"/>
            </a:xfrm>
            <a:prstGeom prst="rect">
              <a:avLst/>
            </a:prstGeom>
          </p:spPr>
        </p:pic>
        <p:sp>
          <p:nvSpPr>
            <p:cNvPr id="37" name="TextBox 36"/>
            <p:cNvSpPr txBox="1"/>
            <p:nvPr/>
          </p:nvSpPr>
          <p:spPr>
            <a:xfrm>
              <a:off x="1298448" y="3273551"/>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Cannibalisation</a:t>
              </a:r>
            </a:p>
          </p:txBody>
        </p:sp>
        <p:sp>
          <p:nvSpPr>
            <p:cNvPr id="38" name="TextBox 37"/>
            <p:cNvSpPr txBox="1"/>
            <p:nvPr/>
          </p:nvSpPr>
          <p:spPr>
            <a:xfrm>
              <a:off x="731520" y="3831335"/>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Substitute effects charged to every offer</a:t>
              </a:r>
            </a:p>
          </p:txBody>
        </p:sp>
        <p:sp>
          <p:nvSpPr>
            <p:cNvPr id="39" name="Rounded Rectangle 38"/>
            <p:cNvSpPr/>
            <p:nvPr/>
          </p:nvSpPr>
          <p:spPr>
            <a:xfrm>
              <a:off x="3364992" y="3136391"/>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3529584" y="3300984"/>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Link2_navy.png"/>
            <p:cNvPicPr>
              <a:picLocks noChangeAspect="1"/>
            </p:cNvPicPr>
            <p:nvPr/>
          </p:nvPicPr>
          <p:blipFill>
            <a:blip r:embed="rId8"/>
            <a:stretch>
              <a:fillRect/>
            </a:stretch>
          </p:blipFill>
          <p:spPr>
            <a:xfrm>
              <a:off x="3630168" y="3401568"/>
              <a:ext cx="256032" cy="256032"/>
            </a:xfrm>
            <a:prstGeom prst="rect">
              <a:avLst/>
            </a:prstGeom>
          </p:spPr>
        </p:pic>
        <p:pic>
          <p:nvPicPr>
            <p:cNvPr id="42" name="Picture 41" descr="CheckCircle2_green.png"/>
            <p:cNvPicPr>
              <a:picLocks noChangeAspect="1"/>
            </p:cNvPicPr>
            <p:nvPr/>
          </p:nvPicPr>
          <p:blipFill>
            <a:blip r:embed="rId4"/>
            <a:stretch>
              <a:fillRect/>
            </a:stretch>
          </p:blipFill>
          <p:spPr>
            <a:xfrm>
              <a:off x="5715000" y="3282696"/>
              <a:ext cx="201168" cy="201168"/>
            </a:xfrm>
            <a:prstGeom prst="rect">
              <a:avLst/>
            </a:prstGeom>
          </p:spPr>
        </p:pic>
        <p:sp>
          <p:nvSpPr>
            <p:cNvPr id="43" name="TextBox 42"/>
            <p:cNvSpPr txBox="1"/>
            <p:nvPr/>
          </p:nvSpPr>
          <p:spPr>
            <a:xfrm>
              <a:off x="4114800" y="3273551"/>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Product relationships</a:t>
              </a:r>
            </a:p>
          </p:txBody>
        </p:sp>
        <p:sp>
          <p:nvSpPr>
            <p:cNvPr id="44" name="TextBox 43"/>
            <p:cNvSpPr txBox="1"/>
            <p:nvPr/>
          </p:nvSpPr>
          <p:spPr>
            <a:xfrm>
              <a:off x="3547872" y="3831335"/>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AI suggests pairs; data confirms them</a:t>
              </a:r>
            </a:p>
          </p:txBody>
        </p:sp>
        <p:sp>
          <p:nvSpPr>
            <p:cNvPr id="45" name="Rounded Rectangle 44"/>
            <p:cNvSpPr/>
            <p:nvPr/>
          </p:nvSpPr>
          <p:spPr>
            <a:xfrm>
              <a:off x="6181344" y="3136391"/>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6345936" y="3300984"/>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Package_navy.png"/>
            <p:cNvPicPr>
              <a:picLocks noChangeAspect="1"/>
            </p:cNvPicPr>
            <p:nvPr/>
          </p:nvPicPr>
          <p:blipFill>
            <a:blip r:embed="rId9"/>
            <a:stretch>
              <a:fillRect/>
            </a:stretch>
          </p:blipFill>
          <p:spPr>
            <a:xfrm>
              <a:off x="6446520" y="3401568"/>
              <a:ext cx="256032" cy="256032"/>
            </a:xfrm>
            <a:prstGeom prst="rect">
              <a:avLst/>
            </a:prstGeom>
          </p:spPr>
        </p:pic>
        <p:pic>
          <p:nvPicPr>
            <p:cNvPr id="48" name="Picture 47" descr="CheckCircle2_green.png"/>
            <p:cNvPicPr>
              <a:picLocks noChangeAspect="1"/>
            </p:cNvPicPr>
            <p:nvPr/>
          </p:nvPicPr>
          <p:blipFill>
            <a:blip r:embed="rId4"/>
            <a:stretch>
              <a:fillRect/>
            </a:stretch>
          </p:blipFill>
          <p:spPr>
            <a:xfrm>
              <a:off x="8531352" y="3282696"/>
              <a:ext cx="201168" cy="201168"/>
            </a:xfrm>
            <a:prstGeom prst="rect">
              <a:avLst/>
            </a:prstGeom>
          </p:spPr>
        </p:pic>
        <p:sp>
          <p:nvSpPr>
            <p:cNvPr id="49" name="TextBox 48"/>
            <p:cNvSpPr txBox="1"/>
            <p:nvPr/>
          </p:nvSpPr>
          <p:spPr>
            <a:xfrm>
              <a:off x="6931152" y="3273551"/>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Inventory constraints</a:t>
              </a:r>
            </a:p>
          </p:txBody>
        </p:sp>
        <p:sp>
          <p:nvSpPr>
            <p:cNvPr id="50" name="TextBox 49"/>
            <p:cNvSpPr txBox="1"/>
            <p:nvPr/>
          </p:nvSpPr>
          <p:spPr>
            <a:xfrm>
              <a:off x="6364224" y="3831335"/>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Stock, batches, expiry; near-expiry first</a:t>
              </a:r>
            </a:p>
          </p:txBody>
        </p:sp>
      </p:grpSp>
      <p:grpSp>
        <p:nvGrpSpPr>
          <p:cNvPr id="71" name="frow2"/>
          <p:cNvGrpSpPr/>
          <p:nvPr/>
        </p:nvGrpSpPr>
        <p:grpSpPr>
          <a:xfrm>
            <a:off x="548640" y="4398264"/>
            <a:ext cx="8284464" cy="1115568"/>
            <a:chOff x="548640" y="4398264"/>
            <a:chExt cx="8284464" cy="1115568"/>
          </a:xfrm>
        </p:grpSpPr>
        <p:sp>
          <p:nvSpPr>
            <p:cNvPr id="51" name="Rounded Rectangle 50"/>
            <p:cNvSpPr/>
            <p:nvPr/>
          </p:nvSpPr>
          <p:spPr>
            <a:xfrm>
              <a:off x="548640" y="4398264"/>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713232" y="4562855"/>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MapPin_navy.png"/>
            <p:cNvPicPr>
              <a:picLocks noChangeAspect="1"/>
            </p:cNvPicPr>
            <p:nvPr/>
          </p:nvPicPr>
          <p:blipFill>
            <a:blip r:embed="rId10"/>
            <a:stretch>
              <a:fillRect/>
            </a:stretch>
          </p:blipFill>
          <p:spPr>
            <a:xfrm>
              <a:off x="813816" y="4663440"/>
              <a:ext cx="256032" cy="256032"/>
            </a:xfrm>
            <a:prstGeom prst="rect">
              <a:avLst/>
            </a:prstGeom>
          </p:spPr>
        </p:pic>
        <p:pic>
          <p:nvPicPr>
            <p:cNvPr id="54" name="Picture 53" descr="CheckCircle2_green.png"/>
            <p:cNvPicPr>
              <a:picLocks noChangeAspect="1"/>
            </p:cNvPicPr>
            <p:nvPr/>
          </p:nvPicPr>
          <p:blipFill>
            <a:blip r:embed="rId4"/>
            <a:stretch>
              <a:fillRect/>
            </a:stretch>
          </p:blipFill>
          <p:spPr>
            <a:xfrm>
              <a:off x="2898648" y="4544568"/>
              <a:ext cx="201168" cy="201168"/>
            </a:xfrm>
            <a:prstGeom prst="rect">
              <a:avLst/>
            </a:prstGeom>
          </p:spPr>
        </p:pic>
        <p:sp>
          <p:nvSpPr>
            <p:cNvPr id="55" name="TextBox 54"/>
            <p:cNvSpPr txBox="1"/>
            <p:nvPr/>
          </p:nvSpPr>
          <p:spPr>
            <a:xfrm>
              <a:off x="1298448" y="4535424"/>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Geographic customisation</a:t>
              </a:r>
            </a:p>
          </p:txBody>
        </p:sp>
        <p:sp>
          <p:nvSpPr>
            <p:cNvPr id="56" name="TextBox 55"/>
            <p:cNvSpPr txBox="1"/>
            <p:nvPr/>
          </p:nvSpPr>
          <p:spPr>
            <a:xfrm>
              <a:off x="731520" y="5093207"/>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A different plan per city</a:t>
              </a:r>
            </a:p>
          </p:txBody>
        </p:sp>
        <p:sp>
          <p:nvSpPr>
            <p:cNvPr id="57" name="Rounded Rectangle 56"/>
            <p:cNvSpPr/>
            <p:nvPr/>
          </p:nvSpPr>
          <p:spPr>
            <a:xfrm>
              <a:off x="3364992" y="4398264"/>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3529584" y="4562855"/>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Eye_navy.png"/>
            <p:cNvPicPr>
              <a:picLocks noChangeAspect="1"/>
            </p:cNvPicPr>
            <p:nvPr/>
          </p:nvPicPr>
          <p:blipFill>
            <a:blip r:embed="rId11"/>
            <a:stretch>
              <a:fillRect/>
            </a:stretch>
          </p:blipFill>
          <p:spPr>
            <a:xfrm>
              <a:off x="3630168" y="4663440"/>
              <a:ext cx="256032" cy="256032"/>
            </a:xfrm>
            <a:prstGeom prst="rect">
              <a:avLst/>
            </a:prstGeom>
          </p:spPr>
        </p:pic>
        <p:pic>
          <p:nvPicPr>
            <p:cNvPr id="60" name="Picture 59" descr="CheckCircle2_green.png"/>
            <p:cNvPicPr>
              <a:picLocks noChangeAspect="1"/>
            </p:cNvPicPr>
            <p:nvPr/>
          </p:nvPicPr>
          <p:blipFill>
            <a:blip r:embed="rId4"/>
            <a:stretch>
              <a:fillRect/>
            </a:stretch>
          </p:blipFill>
          <p:spPr>
            <a:xfrm>
              <a:off x="5715000" y="4544568"/>
              <a:ext cx="201168" cy="201168"/>
            </a:xfrm>
            <a:prstGeom prst="rect">
              <a:avLst/>
            </a:prstGeom>
          </p:spPr>
        </p:pic>
        <p:sp>
          <p:nvSpPr>
            <p:cNvPr id="61" name="TextBox 60"/>
            <p:cNvSpPr txBox="1"/>
            <p:nvPr/>
          </p:nvSpPr>
          <p:spPr>
            <a:xfrm>
              <a:off x="4114800" y="4535424"/>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Competitor awareness</a:t>
              </a:r>
            </a:p>
          </p:txBody>
        </p:sp>
        <p:sp>
          <p:nvSpPr>
            <p:cNvPr id="62" name="TextBox 61"/>
            <p:cNvSpPr txBox="1"/>
            <p:nvPr/>
          </p:nvSpPr>
          <p:spPr>
            <a:xfrm>
              <a:off x="3547872" y="5093207"/>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Prices read from photos, compared per 100 g</a:t>
              </a:r>
            </a:p>
          </p:txBody>
        </p:sp>
        <p:sp>
          <p:nvSpPr>
            <p:cNvPr id="63" name="Rounded Rectangle 62"/>
            <p:cNvSpPr/>
            <p:nvPr/>
          </p:nvSpPr>
          <p:spPr>
            <a:xfrm>
              <a:off x="6181344" y="4398264"/>
              <a:ext cx="2651760" cy="111556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345936" y="4562855"/>
              <a:ext cx="457200" cy="457200"/>
            </a:xfrm>
            <a:prstGeom prst="ellipse">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Repeat_navy.png"/>
            <p:cNvPicPr>
              <a:picLocks noChangeAspect="1"/>
            </p:cNvPicPr>
            <p:nvPr/>
          </p:nvPicPr>
          <p:blipFill>
            <a:blip r:embed="rId12"/>
            <a:stretch>
              <a:fillRect/>
            </a:stretch>
          </p:blipFill>
          <p:spPr>
            <a:xfrm>
              <a:off x="6446520" y="4663440"/>
              <a:ext cx="256032" cy="256032"/>
            </a:xfrm>
            <a:prstGeom prst="rect">
              <a:avLst/>
            </a:prstGeom>
          </p:spPr>
        </p:pic>
        <p:pic>
          <p:nvPicPr>
            <p:cNvPr id="66" name="Picture 65" descr="CheckCircle2_green.png"/>
            <p:cNvPicPr>
              <a:picLocks noChangeAspect="1"/>
            </p:cNvPicPr>
            <p:nvPr/>
          </p:nvPicPr>
          <p:blipFill>
            <a:blip r:embed="rId4"/>
            <a:stretch>
              <a:fillRect/>
            </a:stretch>
          </p:blipFill>
          <p:spPr>
            <a:xfrm>
              <a:off x="8531352" y="4544568"/>
              <a:ext cx="201168" cy="201168"/>
            </a:xfrm>
            <a:prstGeom prst="rect">
              <a:avLst/>
            </a:prstGeom>
          </p:spPr>
        </p:pic>
        <p:sp>
          <p:nvSpPr>
            <p:cNvPr id="67" name="TextBox 66"/>
            <p:cNvSpPr txBox="1"/>
            <p:nvPr/>
          </p:nvSpPr>
          <p:spPr>
            <a:xfrm>
              <a:off x="6931152" y="4535424"/>
              <a:ext cx="1572768" cy="475488"/>
            </a:xfrm>
            <a:prstGeom prst="rect">
              <a:avLst/>
            </a:prstGeom>
            <a:noFill/>
          </p:spPr>
          <p:txBody>
            <a:bodyPr wrap="square" lIns="0" rIns="0" tIns="0" bIns="0" anchor="ctr">
              <a:spAutoFit/>
            </a:bodyPr>
            <a:lstStyle/>
            <a:p>
              <a:pPr algn="l">
                <a:lnSpc>
                  <a:spcPct val="92000"/>
                </a:lnSpc>
              </a:pPr>
              <a:r>
                <a:rPr sz="1250" b="0" i="0">
                  <a:solidFill>
                    <a:srgbClr val="0B1A5C"/>
                  </a:solidFill>
                  <a:latin typeface="Segoe UI Semibold"/>
                </a:rPr>
                <a:t>Test before launch</a:t>
              </a:r>
            </a:p>
          </p:txBody>
        </p:sp>
        <p:sp>
          <p:nvSpPr>
            <p:cNvPr id="68" name="TextBox 67"/>
            <p:cNvSpPr txBox="1"/>
            <p:nvPr/>
          </p:nvSpPr>
          <p:spPr>
            <a:xfrm>
              <a:off x="6364224" y="5093207"/>
              <a:ext cx="2377440" cy="384048"/>
            </a:xfrm>
            <a:prstGeom prst="rect">
              <a:avLst/>
            </a:prstGeom>
            <a:noFill/>
          </p:spPr>
          <p:txBody>
            <a:bodyPr wrap="square" lIns="0" rIns="0" tIns="0" bIns="0" anchor="t">
              <a:spAutoFit/>
            </a:bodyPr>
            <a:lstStyle/>
            <a:p>
              <a:pPr algn="l">
                <a:lnSpc>
                  <a:spcPct val="95000"/>
                </a:lnSpc>
              </a:pPr>
              <a:r>
                <a:rPr sz="1000" b="0" i="0">
                  <a:solidFill>
                    <a:srgbClr val="4B5563"/>
                  </a:solidFill>
                  <a:latin typeface="Segoe UI"/>
                </a:rPr>
                <a:t>Plan vs flat 10% vs none, 200 scenarios</a:t>
              </a:r>
            </a:p>
          </p:txBody>
        </p:sp>
      </p:grpSp>
      <p:grpSp>
        <p:nvGrpSpPr>
          <p:cNvPr id="99" name="d3card"/>
          <p:cNvGrpSpPr/>
          <p:nvPr/>
        </p:nvGrpSpPr>
        <p:grpSpPr>
          <a:xfrm>
            <a:off x="9052560" y="1874519"/>
            <a:ext cx="2606040" cy="3639311"/>
            <a:chOff x="9052560" y="1874519"/>
            <a:chExt cx="2606040" cy="3639311"/>
          </a:xfrm>
        </p:grpSpPr>
        <p:sp>
          <p:nvSpPr>
            <p:cNvPr id="72" name="Rounded Rectangle 71"/>
            <p:cNvSpPr/>
            <p:nvPr/>
          </p:nvSpPr>
          <p:spPr>
            <a:xfrm>
              <a:off x="9052560" y="1874519"/>
              <a:ext cx="2606040" cy="3639311"/>
            </a:xfrm>
            <a:prstGeom prst="roundRect">
              <a:avLst>
                <a:gd name="adj" fmla="val 5000"/>
              </a:avLst>
            </a:prstGeom>
            <a:solidFill>
              <a:srgbClr val="0B1A5C"/>
            </a:solidFill>
            <a:ln>
              <a:noFill/>
            </a:ln>
            <a:effectLst>
              <a:outerShdw blurRad="279400" dist="50800" dir="5400000" algn="t" rotWithShape="0">
                <a:srgbClr val="0B1A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Picture 72" descr="ScanLine_white.png"/>
            <p:cNvPicPr>
              <a:picLocks noChangeAspect="1"/>
            </p:cNvPicPr>
            <p:nvPr/>
          </p:nvPicPr>
          <p:blipFill>
            <a:blip r:embed="rId13"/>
            <a:stretch>
              <a:fillRect/>
            </a:stretch>
          </p:blipFill>
          <p:spPr>
            <a:xfrm>
              <a:off x="9272016" y="2057400"/>
              <a:ext cx="310896" cy="310896"/>
            </a:xfrm>
            <a:prstGeom prst="rect">
              <a:avLst/>
            </a:prstGeom>
          </p:spPr>
        </p:pic>
        <p:sp>
          <p:nvSpPr>
            <p:cNvPr id="74" name="TextBox 73"/>
            <p:cNvSpPr txBox="1"/>
            <p:nvPr/>
          </p:nvSpPr>
          <p:spPr>
            <a:xfrm>
              <a:off x="9674352" y="2029967"/>
              <a:ext cx="1874519" cy="365760"/>
            </a:xfrm>
            <a:prstGeom prst="rect">
              <a:avLst/>
            </a:prstGeom>
            <a:noFill/>
          </p:spPr>
          <p:txBody>
            <a:bodyPr wrap="none" lIns="0" rIns="0" tIns="0" bIns="0" anchor="ctr">
              <a:spAutoFit/>
            </a:bodyPr>
            <a:lstStyle/>
            <a:p>
              <a:pPr algn="l"/>
              <a:r>
                <a:rPr sz="1400" b="0" i="0">
                  <a:solidFill>
                    <a:srgbClr val="FFFFFF"/>
                  </a:solidFill>
                  <a:latin typeface="Segoe UI Semibold"/>
                </a:rPr>
                <a:t>D3 · Multimodal depth</a:t>
              </a:r>
            </a:p>
          </p:txBody>
        </p:sp>
        <p:sp>
          <p:nvSpPr>
            <p:cNvPr id="75" name="TextBox 74"/>
            <p:cNvSpPr txBox="1"/>
            <p:nvPr/>
          </p:nvSpPr>
          <p:spPr>
            <a:xfrm>
              <a:off x="9272016" y="2478024"/>
              <a:ext cx="2240280" cy="164592"/>
            </a:xfrm>
            <a:prstGeom prst="rect">
              <a:avLst/>
            </a:prstGeom>
            <a:noFill/>
          </p:spPr>
          <p:txBody>
            <a:bodyPr wrap="none" lIns="0" rIns="0" tIns="0" bIns="0" anchor="t">
              <a:spAutoFit/>
            </a:bodyPr>
            <a:lstStyle/>
            <a:p>
              <a:pPr algn="l"/>
              <a:r>
                <a:rPr sz="750" b="0" i="0">
                  <a:solidFill>
                    <a:srgbClr val="F28A1A"/>
                  </a:solidFill>
                  <a:latin typeface="Segoe UI Semibold"/>
                </a:rPr>
                <a:t>LIVE RE-RUN · AUTO-ACCEPTED FIELDS CORRECT</a:t>
              </a:r>
            </a:p>
          </p:txBody>
        </p:sp>
        <p:sp>
          <p:nvSpPr>
            <p:cNvPr id="76" name="TextBox 75"/>
            <p:cNvSpPr txBox="1"/>
            <p:nvPr/>
          </p:nvSpPr>
          <p:spPr>
            <a:xfrm>
              <a:off x="9272016" y="2697479"/>
              <a:ext cx="1783080" cy="265176"/>
            </a:xfrm>
            <a:prstGeom prst="rect">
              <a:avLst/>
            </a:prstGeom>
            <a:noFill/>
          </p:spPr>
          <p:txBody>
            <a:bodyPr wrap="none" lIns="0" rIns="0" tIns="0" bIns="0" anchor="ctr">
              <a:spAutoFit/>
            </a:bodyPr>
            <a:lstStyle/>
            <a:p>
              <a:pPr algn="l"/>
              <a:r>
                <a:rPr sz="950" b="0" i="0">
                  <a:solidFill>
                    <a:srgbClr val="FFFFFF"/>
                  </a:solidFill>
                  <a:latin typeface="Segoe UI"/>
                </a:rPr>
                <a:t>Shelf-tag photos</a:t>
              </a:r>
            </a:p>
          </p:txBody>
        </p:sp>
        <p:sp>
          <p:nvSpPr>
            <p:cNvPr id="77" name="TextBox 76"/>
            <p:cNvSpPr txBox="1"/>
            <p:nvPr/>
          </p:nvSpPr>
          <p:spPr>
            <a:xfrm>
              <a:off x="10890504" y="2697479"/>
              <a:ext cx="548640" cy="265176"/>
            </a:xfrm>
            <a:prstGeom prst="rect">
              <a:avLst/>
            </a:prstGeom>
            <a:noFill/>
          </p:spPr>
          <p:txBody>
            <a:bodyPr wrap="square" lIns="0" rIns="0" tIns="0" bIns="0" anchor="ctr">
              <a:spAutoFit/>
            </a:bodyPr>
            <a:lstStyle/>
            <a:p>
              <a:pPr algn="r"/>
              <a:r>
                <a:rPr sz="950" b="0" i="0">
                  <a:solidFill>
                    <a:srgbClr val="9EE493"/>
                  </a:solidFill>
                  <a:latin typeface="Segoe UI Black"/>
                </a:rPr>
                <a:t>100%</a:t>
              </a:r>
            </a:p>
          </p:txBody>
        </p:sp>
        <p:sp>
          <p:nvSpPr>
            <p:cNvPr id="78" name="Rectangle 77"/>
            <p:cNvSpPr/>
            <p:nvPr/>
          </p:nvSpPr>
          <p:spPr>
            <a:xfrm>
              <a:off x="9272016" y="2962656"/>
              <a:ext cx="2167128" cy="7315"/>
            </a:xfrm>
            <a:prstGeom prst="rect">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9272016" y="2962656"/>
              <a:ext cx="1783080" cy="265176"/>
            </a:xfrm>
            <a:prstGeom prst="rect">
              <a:avLst/>
            </a:prstGeom>
            <a:noFill/>
          </p:spPr>
          <p:txBody>
            <a:bodyPr wrap="none" lIns="0" rIns="0" tIns="0" bIns="0" anchor="ctr">
              <a:spAutoFit/>
            </a:bodyPr>
            <a:lstStyle/>
            <a:p>
              <a:pPr algn="l"/>
              <a:r>
                <a:rPr sz="950" b="0" i="0">
                  <a:solidFill>
                    <a:srgbClr val="FFFFFF"/>
                  </a:solidFill>
                  <a:latin typeface="Segoe UI"/>
                </a:rPr>
                <a:t>Festival flyers</a:t>
              </a:r>
            </a:p>
          </p:txBody>
        </p:sp>
        <p:sp>
          <p:nvSpPr>
            <p:cNvPr id="80" name="TextBox 79"/>
            <p:cNvSpPr txBox="1"/>
            <p:nvPr/>
          </p:nvSpPr>
          <p:spPr>
            <a:xfrm>
              <a:off x="10890504" y="2962656"/>
              <a:ext cx="548640" cy="265176"/>
            </a:xfrm>
            <a:prstGeom prst="rect">
              <a:avLst/>
            </a:prstGeom>
            <a:noFill/>
          </p:spPr>
          <p:txBody>
            <a:bodyPr wrap="square" lIns="0" rIns="0" tIns="0" bIns="0" anchor="ctr">
              <a:spAutoFit/>
            </a:bodyPr>
            <a:lstStyle/>
            <a:p>
              <a:pPr algn="r"/>
              <a:r>
                <a:rPr sz="950" b="0" i="0">
                  <a:solidFill>
                    <a:srgbClr val="9EE493"/>
                  </a:solidFill>
                  <a:latin typeface="Segoe UI Black"/>
                </a:rPr>
                <a:t>100%</a:t>
              </a:r>
            </a:p>
          </p:txBody>
        </p:sp>
        <p:sp>
          <p:nvSpPr>
            <p:cNvPr id="81" name="Rectangle 80"/>
            <p:cNvSpPr/>
            <p:nvPr/>
          </p:nvSpPr>
          <p:spPr>
            <a:xfrm>
              <a:off x="9272016" y="3227832"/>
              <a:ext cx="2167128" cy="7315"/>
            </a:xfrm>
            <a:prstGeom prst="rect">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9272016" y="3227832"/>
              <a:ext cx="1783080" cy="265176"/>
            </a:xfrm>
            <a:prstGeom prst="rect">
              <a:avLst/>
            </a:prstGeom>
            <a:noFill/>
          </p:spPr>
          <p:txBody>
            <a:bodyPr wrap="none" lIns="0" rIns="0" tIns="0" bIns="0" anchor="ctr">
              <a:spAutoFit/>
            </a:bodyPr>
            <a:lstStyle/>
            <a:p>
              <a:pPr algn="l"/>
              <a:r>
                <a:rPr sz="950" b="0" i="0">
                  <a:solidFill>
                    <a:srgbClr val="FFFFFF"/>
                  </a:solidFill>
                  <a:latin typeface="Segoe UI"/>
                </a:rPr>
                <a:t>Quick-commerce screenshots</a:t>
              </a:r>
            </a:p>
          </p:txBody>
        </p:sp>
        <p:sp>
          <p:nvSpPr>
            <p:cNvPr id="83" name="TextBox 82"/>
            <p:cNvSpPr txBox="1"/>
            <p:nvPr/>
          </p:nvSpPr>
          <p:spPr>
            <a:xfrm>
              <a:off x="10890504" y="3227832"/>
              <a:ext cx="548640" cy="265176"/>
            </a:xfrm>
            <a:prstGeom prst="rect">
              <a:avLst/>
            </a:prstGeom>
            <a:noFill/>
          </p:spPr>
          <p:txBody>
            <a:bodyPr wrap="square" lIns="0" rIns="0" tIns="0" bIns="0" anchor="ctr">
              <a:spAutoFit/>
            </a:bodyPr>
            <a:lstStyle/>
            <a:p>
              <a:pPr algn="r"/>
              <a:r>
                <a:rPr sz="950" b="0" i="0">
                  <a:solidFill>
                    <a:srgbClr val="9EE493"/>
                  </a:solidFill>
                  <a:latin typeface="Segoe UI Black"/>
                </a:rPr>
                <a:t>100%</a:t>
              </a:r>
            </a:p>
          </p:txBody>
        </p:sp>
        <p:sp>
          <p:nvSpPr>
            <p:cNvPr id="84" name="Rectangle 83"/>
            <p:cNvSpPr/>
            <p:nvPr/>
          </p:nvSpPr>
          <p:spPr>
            <a:xfrm>
              <a:off x="9272016" y="3493007"/>
              <a:ext cx="2167128" cy="7315"/>
            </a:xfrm>
            <a:prstGeom prst="rect">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9272016" y="3493007"/>
              <a:ext cx="1783080" cy="265176"/>
            </a:xfrm>
            <a:prstGeom prst="rect">
              <a:avLst/>
            </a:prstGeom>
            <a:noFill/>
          </p:spPr>
          <p:txBody>
            <a:bodyPr wrap="none" lIns="0" rIns="0" tIns="0" bIns="0" anchor="ctr">
              <a:spAutoFit/>
            </a:bodyPr>
            <a:lstStyle/>
            <a:p>
              <a:pPr algn="l"/>
              <a:r>
                <a:rPr sz="950" b="0" i="0">
                  <a:solidFill>
                    <a:srgbClr val="FFFFFF"/>
                  </a:solidFill>
                  <a:latin typeface="Segoe UI"/>
                </a:rPr>
                <a:t>WhatsApp scheme images</a:t>
              </a:r>
            </a:p>
          </p:txBody>
        </p:sp>
        <p:sp>
          <p:nvSpPr>
            <p:cNvPr id="86" name="TextBox 85"/>
            <p:cNvSpPr txBox="1"/>
            <p:nvPr/>
          </p:nvSpPr>
          <p:spPr>
            <a:xfrm>
              <a:off x="10890504" y="3493007"/>
              <a:ext cx="548640" cy="265176"/>
            </a:xfrm>
            <a:prstGeom prst="rect">
              <a:avLst/>
            </a:prstGeom>
            <a:noFill/>
          </p:spPr>
          <p:txBody>
            <a:bodyPr wrap="square" lIns="0" rIns="0" tIns="0" bIns="0" anchor="ctr">
              <a:spAutoFit/>
            </a:bodyPr>
            <a:lstStyle/>
            <a:p>
              <a:pPr algn="r"/>
              <a:r>
                <a:rPr sz="950" b="0" i="0">
                  <a:solidFill>
                    <a:srgbClr val="9EE493"/>
                  </a:solidFill>
                  <a:latin typeface="Segoe UI Black"/>
                </a:rPr>
                <a:t>100%</a:t>
              </a:r>
            </a:p>
          </p:txBody>
        </p:sp>
        <p:sp>
          <p:nvSpPr>
            <p:cNvPr id="87" name="Rectangle 86"/>
            <p:cNvSpPr/>
            <p:nvPr/>
          </p:nvSpPr>
          <p:spPr>
            <a:xfrm>
              <a:off x="9272016" y="3758183"/>
              <a:ext cx="2167128" cy="7315"/>
            </a:xfrm>
            <a:prstGeom prst="rect">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9272016" y="3758183"/>
              <a:ext cx="1783080" cy="265176"/>
            </a:xfrm>
            <a:prstGeom prst="rect">
              <a:avLst/>
            </a:prstGeom>
            <a:noFill/>
          </p:spPr>
          <p:txBody>
            <a:bodyPr wrap="none" lIns="0" rIns="0" tIns="0" bIns="0" anchor="ctr">
              <a:spAutoFit/>
            </a:bodyPr>
            <a:lstStyle/>
            <a:p>
              <a:pPr algn="l"/>
              <a:r>
                <a:rPr sz="950" b="0" i="0">
                  <a:solidFill>
                    <a:srgbClr val="FFFFFF"/>
                  </a:solidFill>
                  <a:latin typeface="Segoe UI"/>
                </a:rPr>
                <a:t>Text-PDF price lists</a:t>
              </a:r>
            </a:p>
          </p:txBody>
        </p:sp>
        <p:sp>
          <p:nvSpPr>
            <p:cNvPr id="89" name="TextBox 88"/>
            <p:cNvSpPr txBox="1"/>
            <p:nvPr/>
          </p:nvSpPr>
          <p:spPr>
            <a:xfrm>
              <a:off x="10890504" y="3758183"/>
              <a:ext cx="548640" cy="265176"/>
            </a:xfrm>
            <a:prstGeom prst="rect">
              <a:avLst/>
            </a:prstGeom>
            <a:noFill/>
          </p:spPr>
          <p:txBody>
            <a:bodyPr wrap="square" lIns="0" rIns="0" tIns="0" bIns="0" anchor="ctr">
              <a:spAutoFit/>
            </a:bodyPr>
            <a:lstStyle/>
            <a:p>
              <a:pPr algn="r"/>
              <a:r>
                <a:rPr sz="950" b="0" i="0">
                  <a:solidFill>
                    <a:srgbClr val="9EE493"/>
                  </a:solidFill>
                  <a:latin typeface="Segoe UI Black"/>
                </a:rPr>
                <a:t>100%</a:t>
              </a:r>
            </a:p>
          </p:txBody>
        </p:sp>
        <p:sp>
          <p:nvSpPr>
            <p:cNvPr id="90" name="Rectangle 89"/>
            <p:cNvSpPr/>
            <p:nvPr/>
          </p:nvSpPr>
          <p:spPr>
            <a:xfrm>
              <a:off x="9272016" y="4023359"/>
              <a:ext cx="2167128" cy="7315"/>
            </a:xfrm>
            <a:prstGeom prst="rect">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9272016" y="4023359"/>
              <a:ext cx="1783080" cy="265176"/>
            </a:xfrm>
            <a:prstGeom prst="rect">
              <a:avLst/>
            </a:prstGeom>
            <a:noFill/>
          </p:spPr>
          <p:txBody>
            <a:bodyPr wrap="none" lIns="0" rIns="0" tIns="0" bIns="0" anchor="ctr">
              <a:spAutoFit/>
            </a:bodyPr>
            <a:lstStyle/>
            <a:p>
              <a:pPr algn="l"/>
              <a:r>
                <a:rPr sz="950" b="0" i="0">
                  <a:solidFill>
                    <a:srgbClr val="FFFFFF"/>
                  </a:solidFill>
                  <a:latin typeface="Segoe UI"/>
                </a:rPr>
                <a:t>Scanned price lists</a:t>
              </a:r>
            </a:p>
          </p:txBody>
        </p:sp>
        <p:sp>
          <p:nvSpPr>
            <p:cNvPr id="92" name="TextBox 91"/>
            <p:cNvSpPr txBox="1"/>
            <p:nvPr/>
          </p:nvSpPr>
          <p:spPr>
            <a:xfrm>
              <a:off x="10890504" y="4023359"/>
              <a:ext cx="548640" cy="265176"/>
            </a:xfrm>
            <a:prstGeom prst="rect">
              <a:avLst/>
            </a:prstGeom>
            <a:noFill/>
          </p:spPr>
          <p:txBody>
            <a:bodyPr wrap="square" lIns="0" rIns="0" tIns="0" bIns="0" anchor="ctr">
              <a:spAutoFit/>
            </a:bodyPr>
            <a:lstStyle/>
            <a:p>
              <a:pPr algn="r"/>
              <a:r>
                <a:rPr sz="950" b="0" i="0">
                  <a:solidFill>
                    <a:srgbClr val="9EE493"/>
                  </a:solidFill>
                  <a:latin typeface="Segoe UI Black"/>
                </a:rPr>
                <a:t>100%</a:t>
              </a:r>
            </a:p>
          </p:txBody>
        </p:sp>
        <p:sp>
          <p:nvSpPr>
            <p:cNvPr id="93" name="TextBox 92"/>
            <p:cNvSpPr txBox="1"/>
            <p:nvPr/>
          </p:nvSpPr>
          <p:spPr>
            <a:xfrm>
              <a:off x="9272016" y="4361688"/>
              <a:ext cx="2167128" cy="427472"/>
            </a:xfrm>
            <a:prstGeom prst="rect">
              <a:avLst/>
            </a:prstGeom>
            <a:noFill/>
          </p:spPr>
          <p:txBody>
            <a:bodyPr wrap="square" lIns="0" rIns="0" tIns="0" bIns="0" anchor="t">
              <a:spAutoFit/>
            </a:bodyPr>
            <a:lstStyle/>
            <a:p>
              <a:pPr algn="l">
                <a:lnSpc>
                  <a:spcPct val="95000"/>
                </a:lnSpc>
              </a:pPr>
              <a:r>
                <a:rPr sz="850" b="0" i="0">
                  <a:solidFill>
                    <a:srgbClr val="C7CCE8"/>
                  </a:solidFill>
                  <a:latin typeface="Segoe UI"/>
                </a:rPr>
                <a:t>61 labelled files · coverage 100% · two reads + OCR · boxes on values read from images · doubtful fields go to a person</a:t>
              </a:r>
            </a:p>
          </p:txBody>
        </p:sp>
        <p:sp>
          <p:nvSpPr>
            <p:cNvPr id="94" name="Rectangle 93"/>
            <p:cNvSpPr/>
            <p:nvPr/>
          </p:nvSpPr>
          <p:spPr>
            <a:xfrm>
              <a:off x="9272016" y="4862312"/>
              <a:ext cx="2167128" cy="7315"/>
            </a:xfrm>
            <a:prstGeom prst="rect">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9272016" y="4926320"/>
              <a:ext cx="2203704" cy="477783"/>
            </a:xfrm>
            <a:prstGeom prst="rect">
              <a:avLst/>
            </a:prstGeom>
            <a:noFill/>
          </p:spPr>
          <p:txBody>
            <a:bodyPr wrap="square" lIns="0" rIns="0" tIns="0" bIns="0" anchor="t">
              <a:spAutoFit/>
            </a:bodyPr>
            <a:lstStyle/>
            <a:p>
              <a:pPr algn="l">
                <a:lnSpc>
                  <a:spcPct val="95000"/>
                </a:lnSpc>
              </a:pPr>
              <a:r>
                <a:rPr sz="1500" b="0" i="0">
                  <a:solidFill>
                    <a:srgbClr val="F28A1A"/>
                  </a:solidFill>
                  <a:latin typeface="Segoe UI Black"/>
                </a:rPr>
                <a:t>85%+</a:t>
              </a:r>
              <a:r>
                <a:rPr sz="950" b="0" i="0">
                  <a:solidFill>
                    <a:srgbClr val="FFFFFF"/>
                  </a:solidFill>
                  <a:latin typeface="Segoe UI Semibold"/>
                </a:rPr>
                <a:t>  raw field accuracy</a:t>
              </a:r>
            </a:p>
            <a:p>
              <a:pPr algn="l">
                <a:lnSpc>
                  <a:spcPct val="95000"/>
                </a:lnSpc>
                <a:spcBef>
                  <a:spcPts val="100"/>
                </a:spcBef>
              </a:pPr>
              <a:r>
                <a:rPr sz="850" b="0" i="0">
                  <a:solidFill>
                    <a:srgbClr val="FFFFFF"/>
                  </a:solidFill>
                  <a:latin typeface="Segoe UI Semibold"/>
                </a:rPr>
                <a:t>with no model key </a:t>
              </a:r>
              <a:r>
                <a:rPr sz="850" b="0" i="0">
                  <a:solidFill>
                    <a:srgbClr val="C7CCE8"/>
                  </a:solidFill>
                  <a:latin typeface="Segoe UI"/>
                </a:rPr>
                <a:t>(rules-only; then every field goes to a person)</a:t>
              </a:r>
            </a:p>
          </p:txBody>
        </p:sp>
      </p:grpSp>
      <p:grpSp>
        <p:nvGrpSpPr>
          <p:cNvPr id="100" name="proof9"/>
          <p:cNvGrpSpPr/>
          <p:nvPr/>
        </p:nvGrpSpPr>
        <p:grpSpPr>
          <a:xfrm>
            <a:off x="548640" y="5669280"/>
            <a:ext cx="11109960" cy="548640"/>
            <a:chOff x="548640" y="5669280"/>
            <a:chExt cx="11109960" cy="548640"/>
          </a:xfrm>
        </p:grpSpPr>
        <p:sp>
          <p:nvSpPr>
            <p:cNvPr id="96" name="TextBox 95"/>
            <p:cNvSpPr txBox="1"/>
            <p:nvPr/>
          </p:nvSpPr>
          <p:spPr>
            <a:xfrm>
              <a:off x="548640" y="5669280"/>
              <a:ext cx="11109960" cy="237744"/>
            </a:xfrm>
            <a:prstGeom prst="rect">
              <a:avLst/>
            </a:prstGeom>
            <a:noFill/>
          </p:spPr>
          <p:txBody>
            <a:bodyPr wrap="square" lIns="0" rIns="0" tIns="0" bIns="0" anchor="t">
              <a:spAutoFit/>
            </a:bodyPr>
            <a:lstStyle/>
            <a:p>
              <a:pPr algn="l"/>
              <a:r>
                <a:rPr sz="1100" b="0" i="1">
                  <a:solidFill>
                    <a:srgbClr val="6B7280"/>
                  </a:solidFill>
                  <a:latin typeface="Segoe UI"/>
                </a:rPr>
                <a:t>Every feature runs end to end in the live product · every published offer verified by ShubhLabh's Intelli AI · plus WhatsApp for kiranas</a:t>
              </a:r>
            </a:p>
          </p:txBody>
        </p:sp>
        <p:pic>
          <p:nvPicPr>
            <p:cNvPr id="97" name="Picture 96" descr="ShieldCheck_green.png"/>
            <p:cNvPicPr>
              <a:picLocks noChangeAspect="1"/>
            </p:cNvPicPr>
            <p:nvPr/>
          </p:nvPicPr>
          <p:blipFill>
            <a:blip r:embed="rId14"/>
            <a:stretch>
              <a:fillRect/>
            </a:stretch>
          </p:blipFill>
          <p:spPr>
            <a:xfrm>
              <a:off x="548640" y="5952744"/>
              <a:ext cx="201168" cy="201168"/>
            </a:xfrm>
            <a:prstGeom prst="rect">
              <a:avLst/>
            </a:prstGeom>
          </p:spPr>
        </p:pic>
        <p:sp>
          <p:nvSpPr>
            <p:cNvPr id="98" name="TextBox 97"/>
            <p:cNvSpPr txBox="1"/>
            <p:nvPr/>
          </p:nvSpPr>
          <p:spPr>
            <a:xfrm>
              <a:off x="822960" y="5943600"/>
              <a:ext cx="10835640" cy="274320"/>
            </a:xfrm>
            <a:prstGeom prst="rect">
              <a:avLst/>
            </a:prstGeom>
            <a:noFill/>
          </p:spPr>
          <p:txBody>
            <a:bodyPr wrap="square" lIns="0" rIns="0" tIns="0" bIns="0" anchor="t">
              <a:spAutoFit/>
            </a:bodyPr>
            <a:lstStyle/>
            <a:p>
              <a:pPr algn="l">
                <a:lnSpc>
                  <a:spcPct val="98000"/>
                </a:lnSpc>
              </a:pPr>
              <a:r>
                <a:rPr sz="950" b="0" i="0">
                  <a:solidFill>
                    <a:srgbClr val="138808"/>
                  </a:solidFill>
                  <a:latin typeface="Segoe UI Semibold"/>
                </a:rPr>
                <a:t>Real store photos (slide 2): 20 of 22 hand-checkable auto-accepted fields correct (91%) · offer prices 14 of 14 · a hidden instruction in a competitor PDF quarantined before any model read it.</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600"/>
                                        <p:tgtEl>
                                          <p:spTgt spid="69"/>
                                        </p:tgtEl>
                                      </p:cBhvr>
                                    </p:animEffect>
                                    <p:anim calcmode="lin" valueType="num">
                                      <p:cBhvr>
                                        <p:cTn id="8" dur="600" fill="hold"/>
                                        <p:tgtEl>
                                          <p:spTgt spid="69"/>
                                        </p:tgtEl>
                                        <p:attrNameLst>
                                          <p:attrName>ppt_x</p:attrName>
                                        </p:attrNameLst>
                                      </p:cBhvr>
                                      <p:tavLst>
                                        <p:tav tm="0">
                                          <p:val>
                                            <p:strVal val="#ppt_x"/>
                                          </p:val>
                                        </p:tav>
                                        <p:tav tm="100000">
                                          <p:val>
                                            <p:strVal val="#ppt_x"/>
                                          </p:val>
                                        </p:tav>
                                      </p:tavLst>
                                    </p:anim>
                                    <p:anim calcmode="lin" valueType="num">
                                      <p:cBhvr>
                                        <p:cTn id="9" dur="600" decel="100000" fill="hold"/>
                                        <p:tgtEl>
                                          <p:spTgt spid="69"/>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600"/>
                                        <p:tgtEl>
                                          <p:spTgt spid="70"/>
                                        </p:tgtEl>
                                      </p:cBhvr>
                                    </p:animEffect>
                                    <p:anim calcmode="lin" valueType="num">
                                      <p:cBhvr>
                                        <p:cTn id="14" dur="600" fill="hold"/>
                                        <p:tgtEl>
                                          <p:spTgt spid="70"/>
                                        </p:tgtEl>
                                        <p:attrNameLst>
                                          <p:attrName>ppt_x</p:attrName>
                                        </p:attrNameLst>
                                      </p:cBhvr>
                                      <p:tavLst>
                                        <p:tav tm="0">
                                          <p:val>
                                            <p:strVal val="#ppt_x"/>
                                          </p:val>
                                        </p:tav>
                                        <p:tav tm="100000">
                                          <p:val>
                                            <p:strVal val="#ppt_x"/>
                                          </p:val>
                                        </p:tav>
                                      </p:tavLst>
                                    </p:anim>
                                    <p:anim calcmode="lin" valueType="num">
                                      <p:cBhvr>
                                        <p:cTn id="15" dur="600" decel="100000" fill="hold"/>
                                        <p:tgtEl>
                                          <p:spTgt spid="70"/>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600"/>
                                        <p:tgtEl>
                                          <p:spTgt spid="71"/>
                                        </p:tgtEl>
                                      </p:cBhvr>
                                    </p:animEffect>
                                    <p:anim calcmode="lin" valueType="num">
                                      <p:cBhvr>
                                        <p:cTn id="20" dur="600" fill="hold"/>
                                        <p:tgtEl>
                                          <p:spTgt spid="71"/>
                                        </p:tgtEl>
                                        <p:attrNameLst>
                                          <p:attrName>ppt_x</p:attrName>
                                        </p:attrNameLst>
                                      </p:cBhvr>
                                      <p:tavLst>
                                        <p:tav tm="0">
                                          <p:val>
                                            <p:strVal val="#ppt_x"/>
                                          </p:val>
                                        </p:tav>
                                        <p:tav tm="100000">
                                          <p:val>
                                            <p:strVal val="#ppt_x"/>
                                          </p:val>
                                        </p:tav>
                                      </p:tavLst>
                                    </p:anim>
                                    <p:anim calcmode="lin" valueType="num">
                                      <p:cBhvr>
                                        <p:cTn id="21" dur="600" decel="100000" fill="hold"/>
                                        <p:tgtEl>
                                          <p:spTgt spid="71"/>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600"/>
                                        <p:tgtEl>
                                          <p:spTgt spid="99"/>
                                        </p:tgtEl>
                                      </p:cBhvr>
                                    </p:animEffect>
                                    <p:anim calcmode="lin" valueType="num">
                                      <p:cBhvr>
                                        <p:cTn id="26" dur="600" fill="hold"/>
                                        <p:tgtEl>
                                          <p:spTgt spid="99"/>
                                        </p:tgtEl>
                                        <p:attrNameLst>
                                          <p:attrName>ppt_x</p:attrName>
                                        </p:attrNameLst>
                                      </p:cBhvr>
                                      <p:tavLst>
                                        <p:tav tm="0">
                                          <p:val>
                                            <p:strVal val="#ppt_x"/>
                                          </p:val>
                                        </p:tav>
                                        <p:tav tm="100000">
                                          <p:val>
                                            <p:strVal val="#ppt_x"/>
                                          </p:val>
                                        </p:tav>
                                      </p:tavLst>
                                    </p:anim>
                                    <p:anim calcmode="lin" valueType="num">
                                      <p:cBhvr>
                                        <p:cTn id="27" dur="600" decel="100000" fill="hold"/>
                                        <p:tgtEl>
                                          <p:spTgt spid="99"/>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100"/>
                                        </p:tgtEl>
                                        <p:attrNameLst>
                                          <p:attrName>style.visibility</p:attrName>
                                        </p:attrNameLst>
                                      </p:cBhvr>
                                      <p:to>
                                        <p:strVal val="visible"/>
                                      </p:to>
                                    </p:set>
                                    <p:animEffect transition="in" filter="fade">
                                      <p:cBhvr>
                                        <p:cTn id="31" dur="600"/>
                                        <p:tgtEl>
                                          <p:spTgt spid="100"/>
                                        </p:tgtEl>
                                      </p:cBhvr>
                                    </p:animEffect>
                                    <p:anim calcmode="lin" valueType="num">
                                      <p:cBhvr>
                                        <p:cTn id="32" dur="600" fill="hold"/>
                                        <p:tgtEl>
                                          <p:spTgt spid="100"/>
                                        </p:tgtEl>
                                        <p:attrNameLst>
                                          <p:attrName>ppt_x</p:attrName>
                                        </p:attrNameLst>
                                      </p:cBhvr>
                                      <p:tavLst>
                                        <p:tav tm="0">
                                          <p:val>
                                            <p:strVal val="#ppt_x"/>
                                          </p:val>
                                        </p:tav>
                                        <p:tav tm="100000">
                                          <p:val>
                                            <p:strVal val="#ppt_x"/>
                                          </p:val>
                                        </p:tav>
                                      </p:tavLst>
                                    </p:anim>
                                    <p:anim calcmode="lin" valueType="num">
                                      <p:cBhvr>
                                        <p:cTn id="33" dur="600" decel="100000" fill="hold"/>
                                        <p:tgtEl>
                                          <p:spTgt spid="10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11</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endingUp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Business impact</a:t>
            </a:r>
          </a:p>
        </p:txBody>
      </p:sp>
      <p:sp>
        <p:nvSpPr>
          <p:cNvPr id="11" name="TextBox 10"/>
          <p:cNvSpPr txBox="1"/>
          <p:nvPr/>
        </p:nvSpPr>
        <p:spPr>
          <a:xfrm>
            <a:off x="548640" y="850392"/>
            <a:ext cx="11384280" cy="114300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2.0× the extra profit of a flat discount —</a:t>
            </a:r>
            <a:br/>
            <a:r>
              <a:rPr sz="3600" b="0" i="0">
                <a:solidFill>
                  <a:srgbClr val="0B1A5C"/>
                </a:solidFill>
                <a:latin typeface="Segoe UI Black"/>
              </a:rPr>
              <a:t>and </a:t>
            </a:r>
            <a:r>
              <a:rPr sz="3600" b="0" i="0">
                <a:solidFill>
                  <a:srgbClr val="138808"/>
                </a:solidFill>
                <a:latin typeface="Segoe UI Black"/>
              </a:rPr>
              <a:t>not one</a:t>
            </a:r>
            <a:r>
              <a:rPr sz="3600" b="0" i="0">
                <a:solidFill>
                  <a:srgbClr val="0B1A5C"/>
                </a:solidFill>
                <a:latin typeface="Segoe UI Black"/>
              </a:rPr>
              <a:t> offer above MRP</a:t>
            </a:r>
          </a:p>
        </p:txBody>
      </p:sp>
      <p:grpSp>
        <p:nvGrpSpPr>
          <p:cNvPr id="50" name="chart"/>
          <p:cNvGrpSpPr/>
          <p:nvPr/>
        </p:nvGrpSpPr>
        <p:grpSpPr>
          <a:xfrm>
            <a:off x="548640" y="2029968"/>
            <a:ext cx="5577840" cy="3090671"/>
            <a:chOff x="548640" y="2029968"/>
            <a:chExt cx="5577840" cy="3090671"/>
          </a:xfrm>
        </p:grpSpPr>
        <p:sp>
          <p:nvSpPr>
            <p:cNvPr id="12" name="TextBox 11"/>
            <p:cNvSpPr txBox="1"/>
            <p:nvPr/>
          </p:nvSpPr>
          <p:spPr>
            <a:xfrm>
              <a:off x="548640" y="2029968"/>
              <a:ext cx="5577840" cy="274320"/>
            </a:xfrm>
            <a:prstGeom prst="rect">
              <a:avLst/>
            </a:prstGeom>
            <a:noFill/>
          </p:spPr>
          <p:txBody>
            <a:bodyPr wrap="square" lIns="0" rIns="0" tIns="0" bIns="0" anchor="t">
              <a:spAutoFit/>
            </a:bodyPr>
            <a:lstStyle/>
            <a:p>
              <a:pPr algn="l"/>
              <a:r>
                <a:rPr sz="1250" b="0" i="0">
                  <a:solidFill>
                    <a:srgbClr val="0B1A5C"/>
                  </a:solidFill>
                  <a:latin typeface="Segoe UI Semibold"/>
                </a:rPr>
                <a:t>Diwali campaign · extra profit on the same 200 forecast scenarios</a:t>
              </a:r>
            </a:p>
          </p:txBody>
        </p:sp>
        <p:graphicFrame>
          <p:nvGraphicFramePr>
            <p:cNvPr id="13" name="Chart 12"/>
            <p:cNvGraphicFramePr>
              <a:graphicFrameLocks noGrp="1"/>
            </p:cNvGraphicFramePr>
            <p:nvPr/>
          </p:nvGraphicFramePr>
          <p:xfrm>
            <a:off x="548640" y="2359152"/>
            <a:ext cx="5577840" cy="2206942"/>
          </p:xfrm>
          <a:graphic>
            <a:graphicData uri="http://schemas.openxmlformats.org/drawingml/2006/chart">
              <c:chart xmlns:c="http://schemas.openxmlformats.org/drawingml/2006/chart" r:id="rId3"/>
            </a:graphicData>
          </a:graphic>
        </p:graphicFrame>
        <p:sp>
          <p:nvSpPr>
            <p:cNvPr id="14" name="TextBox 13"/>
            <p:cNvSpPr txBox="1"/>
            <p:nvPr/>
          </p:nvSpPr>
          <p:spPr>
            <a:xfrm>
              <a:off x="548640" y="4620958"/>
              <a:ext cx="5577840" cy="499681"/>
            </a:xfrm>
            <a:prstGeom prst="rect">
              <a:avLst/>
            </a:prstGeom>
            <a:noFill/>
          </p:spPr>
          <p:txBody>
            <a:bodyPr wrap="square" lIns="0" rIns="0" tIns="0" bIns="0" anchor="t">
              <a:spAutoFit/>
            </a:bodyPr>
            <a:lstStyle/>
            <a:p>
              <a:pPr algn="l">
                <a:lnSpc>
                  <a:spcPct val="100000"/>
                </a:lnSpc>
              </a:pPr>
              <a:r>
                <a:rPr sz="950" b="0" i="1">
                  <a:solidFill>
                    <a:srgbClr val="6B7280"/>
                  </a:solidFill>
                  <a:latin typeface="Segoe UI"/>
                </a:rPr>
                <a:t>At least ₹10,201 nine times in ten · 1,410 near-expiry units cleared · costs at most ₹23,734 of a ₹1,50,000 budget. Estimated on ShubhLabh's reference store data (rules-only run); price response calibrated on 4.85M real retail records.</a:t>
              </a:r>
            </a:p>
          </p:txBody>
        </p:sp>
      </p:grpSp>
      <p:grpSp>
        <p:nvGrpSpPr>
          <p:cNvPr id="20" name="imp0"/>
          <p:cNvGrpSpPr/>
          <p:nvPr/>
        </p:nvGrpSpPr>
        <p:grpSpPr>
          <a:xfrm>
            <a:off x="6400799" y="2029968"/>
            <a:ext cx="2546604" cy="1463039"/>
            <a:chOff x="6400799" y="2029968"/>
            <a:chExt cx="2546604" cy="1463039"/>
          </a:xfrm>
        </p:grpSpPr>
        <p:sp>
          <p:nvSpPr>
            <p:cNvPr id="15" name="Rounded Rectangle 14"/>
            <p:cNvSpPr/>
            <p:nvPr/>
          </p:nvSpPr>
          <p:spPr>
            <a:xfrm>
              <a:off x="6400799" y="2029968"/>
              <a:ext cx="2546604" cy="1463039"/>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00799" y="2029968"/>
              <a:ext cx="2546604" cy="54864"/>
            </a:xfrm>
            <a:prstGeom prst="rect">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601967" y="2157984"/>
              <a:ext cx="2180844" cy="512064"/>
            </a:xfrm>
            <a:prstGeom prst="rect">
              <a:avLst/>
            </a:prstGeom>
            <a:noFill/>
          </p:spPr>
          <p:txBody>
            <a:bodyPr wrap="square" lIns="0" rIns="0" tIns="0" bIns="0" anchor="t">
              <a:spAutoFit/>
            </a:bodyPr>
            <a:lstStyle/>
            <a:p>
              <a:pPr algn="l"/>
              <a:r>
                <a:rPr sz="3000" b="0" i="0">
                  <a:solidFill>
                    <a:srgbClr val="0B1A5C"/>
                  </a:solidFill>
                  <a:latin typeface="Segoe UI Black"/>
                </a:rPr>
                <a:t>&lt;2</a:t>
              </a:r>
              <a:r>
                <a:rPr sz="1800" b="0" i="0">
                  <a:solidFill>
                    <a:srgbClr val="0B1A5C"/>
                  </a:solidFill>
                  <a:latin typeface="Segoe UI Black"/>
                </a:rPr>
                <a:t> min</a:t>
              </a:r>
            </a:p>
          </p:txBody>
        </p:sp>
        <p:sp>
          <p:nvSpPr>
            <p:cNvPr id="18" name="TextBox 17"/>
            <p:cNvSpPr txBox="1"/>
            <p:nvPr/>
          </p:nvSpPr>
          <p:spPr>
            <a:xfrm>
              <a:off x="6601967" y="2670048"/>
              <a:ext cx="2180844" cy="365760"/>
            </a:xfrm>
            <a:prstGeom prst="rect">
              <a:avLst/>
            </a:prstGeom>
            <a:noFill/>
          </p:spPr>
          <p:txBody>
            <a:bodyPr wrap="square" lIns="0" rIns="0" tIns="0" bIns="0" anchor="t">
              <a:spAutoFit/>
            </a:bodyPr>
            <a:lstStyle/>
            <a:p>
              <a:pPr algn="l">
                <a:lnSpc>
                  <a:spcPct val="95000"/>
                </a:lnSpc>
              </a:pPr>
              <a:r>
                <a:rPr sz="1050" b="0" i="0">
                  <a:solidFill>
                    <a:srgbClr val="111827"/>
                  </a:solidFill>
                  <a:latin typeface="Segoe UI Semibold"/>
                </a:rPr>
                <a:t>typically, from one click to a verified campaign</a:t>
              </a:r>
            </a:p>
          </p:txBody>
        </p:sp>
        <p:sp>
          <p:nvSpPr>
            <p:cNvPr id="19" name="TextBox 18"/>
            <p:cNvSpPr txBox="1"/>
            <p:nvPr/>
          </p:nvSpPr>
          <p:spPr>
            <a:xfrm>
              <a:off x="6601967" y="3090672"/>
              <a:ext cx="2180844" cy="310896"/>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Measured in the product · 44–92 s in four of five runs</a:t>
              </a:r>
            </a:p>
          </p:txBody>
        </p:sp>
      </p:grpSp>
      <p:grpSp>
        <p:nvGrpSpPr>
          <p:cNvPr id="26" name="imp1"/>
          <p:cNvGrpSpPr/>
          <p:nvPr/>
        </p:nvGrpSpPr>
        <p:grpSpPr>
          <a:xfrm>
            <a:off x="9111996" y="2029968"/>
            <a:ext cx="2546604" cy="1463039"/>
            <a:chOff x="9111996" y="2029968"/>
            <a:chExt cx="2546604" cy="1463039"/>
          </a:xfrm>
        </p:grpSpPr>
        <p:sp>
          <p:nvSpPr>
            <p:cNvPr id="21" name="Rounded Rectangle 20"/>
            <p:cNvSpPr/>
            <p:nvPr/>
          </p:nvSpPr>
          <p:spPr>
            <a:xfrm>
              <a:off x="9111996" y="2029968"/>
              <a:ext cx="2546604" cy="1463039"/>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111996" y="2029968"/>
              <a:ext cx="2546604" cy="54864"/>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13164" y="2157984"/>
              <a:ext cx="2180844" cy="512064"/>
            </a:xfrm>
            <a:prstGeom prst="rect">
              <a:avLst/>
            </a:prstGeom>
            <a:noFill/>
          </p:spPr>
          <p:txBody>
            <a:bodyPr wrap="square" lIns="0" rIns="0" tIns="0" bIns="0" anchor="t">
              <a:spAutoFit/>
            </a:bodyPr>
            <a:lstStyle/>
            <a:p>
              <a:pPr algn="l"/>
              <a:r>
                <a:rPr sz="3000" b="0" i="0">
                  <a:solidFill>
                    <a:srgbClr val="138808"/>
                  </a:solidFill>
                  <a:latin typeface="Segoe UI Black"/>
                </a:rPr>
                <a:t>2.0×</a:t>
              </a:r>
            </a:p>
          </p:txBody>
        </p:sp>
        <p:sp>
          <p:nvSpPr>
            <p:cNvPr id="24" name="TextBox 23"/>
            <p:cNvSpPr txBox="1"/>
            <p:nvPr/>
          </p:nvSpPr>
          <p:spPr>
            <a:xfrm>
              <a:off x="9313164" y="2670048"/>
              <a:ext cx="2180844" cy="365760"/>
            </a:xfrm>
            <a:prstGeom prst="rect">
              <a:avLst/>
            </a:prstGeom>
            <a:noFill/>
          </p:spPr>
          <p:txBody>
            <a:bodyPr wrap="square" lIns="0" rIns="0" tIns="0" bIns="0" anchor="t">
              <a:spAutoFit/>
            </a:bodyPr>
            <a:lstStyle/>
            <a:p>
              <a:pPr algn="l">
                <a:lnSpc>
                  <a:spcPct val="95000"/>
                </a:lnSpc>
              </a:pPr>
              <a:r>
                <a:rPr sz="1050" b="0" i="0">
                  <a:solidFill>
                    <a:srgbClr val="111827"/>
                  </a:solidFill>
                  <a:latin typeface="Segoe UI Semibold"/>
                </a:rPr>
                <a:t>the extra profit of a flat 10% discount</a:t>
              </a:r>
            </a:p>
          </p:txBody>
        </p:sp>
        <p:sp>
          <p:nvSpPr>
            <p:cNvPr id="25" name="TextBox 24"/>
            <p:cNvSpPr txBox="1"/>
            <p:nvPr/>
          </p:nvSpPr>
          <p:spPr>
            <a:xfrm>
              <a:off x="9313164" y="3090672"/>
              <a:ext cx="2180844" cy="310896"/>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Estimated on ShubhLabh's reference store data</a:t>
              </a:r>
            </a:p>
          </p:txBody>
        </p:sp>
      </p:grpSp>
      <p:grpSp>
        <p:nvGrpSpPr>
          <p:cNvPr id="32" name="imp2"/>
          <p:cNvGrpSpPr/>
          <p:nvPr/>
        </p:nvGrpSpPr>
        <p:grpSpPr>
          <a:xfrm>
            <a:off x="6400799" y="3639312"/>
            <a:ext cx="2546604" cy="1463039"/>
            <a:chOff x="6400799" y="3639312"/>
            <a:chExt cx="2546604" cy="1463039"/>
          </a:xfrm>
        </p:grpSpPr>
        <p:sp>
          <p:nvSpPr>
            <p:cNvPr id="27" name="Rounded Rectangle 26"/>
            <p:cNvSpPr/>
            <p:nvPr/>
          </p:nvSpPr>
          <p:spPr>
            <a:xfrm>
              <a:off x="6400799" y="3639312"/>
              <a:ext cx="2546604" cy="1463039"/>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400799" y="3639312"/>
              <a:ext cx="2546604" cy="54864"/>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601967" y="3767328"/>
              <a:ext cx="2180844" cy="512064"/>
            </a:xfrm>
            <a:prstGeom prst="rect">
              <a:avLst/>
            </a:prstGeom>
            <a:noFill/>
          </p:spPr>
          <p:txBody>
            <a:bodyPr wrap="square" lIns="0" rIns="0" tIns="0" bIns="0" anchor="t">
              <a:spAutoFit/>
            </a:bodyPr>
            <a:lstStyle/>
            <a:p>
              <a:pPr algn="l"/>
              <a:r>
                <a:rPr sz="3000" b="0" i="0">
                  <a:solidFill>
                    <a:srgbClr val="0B1A5C"/>
                  </a:solidFill>
                  <a:latin typeface="Segoe UI Black"/>
                </a:rPr>
                <a:t>1,410</a:t>
              </a:r>
            </a:p>
          </p:txBody>
        </p:sp>
        <p:sp>
          <p:nvSpPr>
            <p:cNvPr id="30" name="TextBox 29"/>
            <p:cNvSpPr txBox="1"/>
            <p:nvPr/>
          </p:nvSpPr>
          <p:spPr>
            <a:xfrm>
              <a:off x="6601967" y="4279392"/>
              <a:ext cx="2180844" cy="365760"/>
            </a:xfrm>
            <a:prstGeom prst="rect">
              <a:avLst/>
            </a:prstGeom>
            <a:noFill/>
          </p:spPr>
          <p:txBody>
            <a:bodyPr wrap="square" lIns="0" rIns="0" tIns="0" bIns="0" anchor="t">
              <a:spAutoFit/>
            </a:bodyPr>
            <a:lstStyle/>
            <a:p>
              <a:pPr algn="l">
                <a:lnSpc>
                  <a:spcPct val="95000"/>
                </a:lnSpc>
              </a:pPr>
              <a:r>
                <a:rPr sz="1050" b="0" i="0">
                  <a:solidFill>
                    <a:srgbClr val="111827"/>
                  </a:solidFill>
                  <a:latin typeface="Segoe UI Semibold"/>
                </a:rPr>
                <a:t>near-expiry units cleared in one campaign</a:t>
              </a:r>
            </a:p>
          </p:txBody>
        </p:sp>
        <p:sp>
          <p:nvSpPr>
            <p:cNvPr id="31" name="TextBox 30"/>
            <p:cNvSpPr txBox="1"/>
            <p:nvPr/>
          </p:nvSpPr>
          <p:spPr>
            <a:xfrm>
              <a:off x="6601967" y="4700016"/>
              <a:ext cx="2180844" cy="310896"/>
            </a:xfrm>
            <a:prstGeom prst="rect">
              <a:avLst/>
            </a:prstGeom>
            <a:noFill/>
          </p:spPr>
          <p:txBody>
            <a:bodyPr wrap="square" lIns="0" rIns="0" tIns="0" bIns="0" anchor="t">
              <a:spAutoFit/>
            </a:bodyPr>
            <a:lstStyle/>
            <a:p>
              <a:pPr algn="l">
                <a:lnSpc>
                  <a:spcPct val="100000"/>
                </a:lnSpc>
              </a:pPr>
              <a:r>
                <a:rPr sz="900" b="0" i="1">
                  <a:solidFill>
                    <a:srgbClr val="6B7280"/>
                  </a:solidFill>
                  <a:latin typeface="Segoe UI"/>
                </a:rPr>
                <a:t>Estimated · less waste, fewer write-offs</a:t>
              </a:r>
            </a:p>
          </p:txBody>
        </p:sp>
      </p:grpSp>
      <p:grpSp>
        <p:nvGrpSpPr>
          <p:cNvPr id="39" name="imp3"/>
          <p:cNvGrpSpPr/>
          <p:nvPr/>
        </p:nvGrpSpPr>
        <p:grpSpPr>
          <a:xfrm>
            <a:off x="9111996" y="3639312"/>
            <a:ext cx="2546604" cy="1463039"/>
            <a:chOff x="9111996" y="3639312"/>
            <a:chExt cx="2546604" cy="1463039"/>
          </a:xfrm>
        </p:grpSpPr>
        <p:sp>
          <p:nvSpPr>
            <p:cNvPr id="33" name="Rounded Rectangle 32"/>
            <p:cNvSpPr/>
            <p:nvPr/>
          </p:nvSpPr>
          <p:spPr>
            <a:xfrm>
              <a:off x="9111996" y="3639312"/>
              <a:ext cx="2546604" cy="1463039"/>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111996" y="3639312"/>
              <a:ext cx="2546604" cy="54864"/>
            </a:xfrm>
            <a:prstGeom prst="rect">
              <a:avLst/>
            </a:prstGeom>
            <a:solidFill>
              <a:srgbClr val="E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313164" y="3767328"/>
              <a:ext cx="2180844" cy="512064"/>
            </a:xfrm>
            <a:prstGeom prst="rect">
              <a:avLst/>
            </a:prstGeom>
            <a:noFill/>
          </p:spPr>
          <p:txBody>
            <a:bodyPr wrap="square" lIns="0" rIns="0" tIns="0" bIns="0" anchor="t">
              <a:spAutoFit/>
            </a:bodyPr>
            <a:lstStyle/>
            <a:p>
              <a:pPr algn="l"/>
              <a:r>
                <a:rPr sz="3000" b="0" i="0">
                  <a:solidFill>
                    <a:srgbClr val="0B1A5C"/>
                  </a:solidFill>
                  <a:latin typeface="Segoe UI Black"/>
                </a:rPr>
                <a:t>0</a:t>
              </a:r>
            </a:p>
          </p:txBody>
        </p:sp>
        <p:sp>
          <p:nvSpPr>
            <p:cNvPr id="36" name="TextBox 35"/>
            <p:cNvSpPr txBox="1"/>
            <p:nvPr/>
          </p:nvSpPr>
          <p:spPr>
            <a:xfrm>
              <a:off x="9313164" y="4279392"/>
              <a:ext cx="2180844" cy="365760"/>
            </a:xfrm>
            <a:prstGeom prst="rect">
              <a:avLst/>
            </a:prstGeom>
            <a:noFill/>
          </p:spPr>
          <p:txBody>
            <a:bodyPr wrap="square" lIns="0" rIns="0" tIns="0" bIns="0" anchor="t">
              <a:spAutoFit/>
            </a:bodyPr>
            <a:lstStyle/>
            <a:p>
              <a:pPr algn="l">
                <a:lnSpc>
                  <a:spcPct val="95000"/>
                </a:lnSpc>
              </a:pPr>
              <a:r>
                <a:rPr sz="1050" b="0" i="0">
                  <a:solidFill>
                    <a:srgbClr val="111827"/>
                  </a:solidFill>
                  <a:latin typeface="Segoe UI Semibold"/>
                </a:rPr>
                <a:t>offers above MRP or with a fake “% off”</a:t>
              </a:r>
            </a:p>
          </p:txBody>
        </p:sp>
        <p:pic>
          <p:nvPicPr>
            <p:cNvPr id="37" name="Picture 36" descr="ShieldCheck_green.png"/>
            <p:cNvPicPr>
              <a:picLocks noChangeAspect="1"/>
            </p:cNvPicPr>
            <p:nvPr/>
          </p:nvPicPr>
          <p:blipFill>
            <a:blip r:embed="rId4"/>
            <a:stretch>
              <a:fillRect/>
            </a:stretch>
          </p:blipFill>
          <p:spPr>
            <a:xfrm>
              <a:off x="9313164" y="4709160"/>
              <a:ext cx="182880" cy="182880"/>
            </a:xfrm>
            <a:prstGeom prst="rect">
              <a:avLst/>
            </a:prstGeom>
          </p:spPr>
        </p:pic>
        <p:sp>
          <p:nvSpPr>
            <p:cNvPr id="38" name="TextBox 37"/>
            <p:cNvSpPr txBox="1"/>
            <p:nvPr/>
          </p:nvSpPr>
          <p:spPr>
            <a:xfrm>
              <a:off x="9541764" y="4700016"/>
              <a:ext cx="1979676" cy="310896"/>
            </a:xfrm>
            <a:prstGeom prst="rect">
              <a:avLst/>
            </a:prstGeom>
            <a:noFill/>
          </p:spPr>
          <p:txBody>
            <a:bodyPr wrap="square" lIns="0" rIns="0" tIns="0" bIns="0" anchor="t">
              <a:spAutoFit/>
            </a:bodyPr>
            <a:lstStyle/>
            <a:p>
              <a:pPr algn="l">
                <a:lnSpc>
                  <a:spcPct val="100000"/>
                </a:lnSpc>
              </a:pPr>
              <a:r>
                <a:rPr sz="900" b="0" i="1">
                  <a:solidFill>
                    <a:srgbClr val="138808"/>
                  </a:solidFill>
                  <a:latin typeface="Segoe UI"/>
                </a:rPr>
                <a:t>Verified by ShubhLabh's Intelli AI · 190/190 red-team cases caught</a:t>
              </a:r>
            </a:p>
          </p:txBody>
        </p:sp>
      </p:grpSp>
      <p:grpSp>
        <p:nvGrpSpPr>
          <p:cNvPr id="51" name="doors"/>
          <p:cNvGrpSpPr/>
          <p:nvPr/>
        </p:nvGrpSpPr>
        <p:grpSpPr>
          <a:xfrm>
            <a:off x="548640" y="5230368"/>
            <a:ext cx="11109960" cy="1024128"/>
            <a:chOff x="548640" y="5230368"/>
            <a:chExt cx="11109960" cy="1024128"/>
          </a:xfrm>
        </p:grpSpPr>
        <p:sp>
          <p:nvSpPr>
            <p:cNvPr id="40" name="Rounded Rectangle 39"/>
            <p:cNvSpPr/>
            <p:nvPr/>
          </p:nvSpPr>
          <p:spPr>
            <a:xfrm>
              <a:off x="548640" y="5230368"/>
              <a:ext cx="11109960" cy="1024128"/>
            </a:xfrm>
            <a:prstGeom prst="roundRect">
              <a:avLst>
                <a:gd name="adj" fmla="val 10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103620" y="5376672"/>
              <a:ext cx="10972" cy="731520"/>
            </a:xfrm>
            <a:prstGeom prst="rect">
              <a:avLst/>
            </a:prstGeom>
            <a:solidFill>
              <a:srgbClr val="2A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749808" y="5385816"/>
              <a:ext cx="402336" cy="402336"/>
            </a:xfrm>
            <a:prstGeom prst="ellipse">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Building2_white.png"/>
            <p:cNvPicPr>
              <a:picLocks noChangeAspect="1"/>
            </p:cNvPicPr>
            <p:nvPr/>
          </p:nvPicPr>
          <p:blipFill>
            <a:blip r:embed="rId5"/>
            <a:stretch>
              <a:fillRect/>
            </a:stretch>
          </p:blipFill>
          <p:spPr>
            <a:xfrm>
              <a:off x="838321" y="5474329"/>
              <a:ext cx="225308" cy="225308"/>
            </a:xfrm>
            <a:prstGeom prst="rect">
              <a:avLst/>
            </a:prstGeom>
          </p:spPr>
        </p:pic>
        <p:sp>
          <p:nvSpPr>
            <p:cNvPr id="44" name="TextBox 43"/>
            <p:cNvSpPr txBox="1"/>
            <p:nvPr/>
          </p:nvSpPr>
          <p:spPr>
            <a:xfrm>
              <a:off x="1298448" y="5349240"/>
              <a:ext cx="4640580" cy="182880"/>
            </a:xfrm>
            <a:prstGeom prst="rect">
              <a:avLst/>
            </a:prstGeom>
            <a:noFill/>
          </p:spPr>
          <p:txBody>
            <a:bodyPr wrap="square" lIns="0" rIns="0" tIns="0" bIns="0" anchor="t">
              <a:spAutoFit/>
            </a:bodyPr>
            <a:lstStyle/>
            <a:p>
              <a:pPr algn="l"/>
              <a:r>
                <a:rPr sz="950" b="0" i="0">
                  <a:solidFill>
                    <a:srgbClr val="F28A1A"/>
                  </a:solidFill>
                  <a:latin typeface="Segoe UI Semibold"/>
                </a:rPr>
                <a:t>DOOR 1 · CHAINS</a:t>
              </a:r>
            </a:p>
          </p:txBody>
        </p:sp>
        <p:sp>
          <p:nvSpPr>
            <p:cNvPr id="45" name="TextBox 44"/>
            <p:cNvSpPr txBox="1"/>
            <p:nvPr/>
          </p:nvSpPr>
          <p:spPr>
            <a:xfrm>
              <a:off x="1298448" y="5559552"/>
              <a:ext cx="4622292" cy="640080"/>
            </a:xfrm>
            <a:prstGeom prst="rect">
              <a:avLst/>
            </a:prstGeom>
            <a:noFill/>
          </p:spPr>
          <p:txBody>
            <a:bodyPr wrap="square" lIns="0" rIns="0" tIns="0" bIns="0" anchor="t">
              <a:spAutoFit/>
            </a:bodyPr>
            <a:lstStyle/>
            <a:p>
              <a:pPr algn="l">
                <a:lnSpc>
                  <a:spcPct val="95000"/>
                </a:lnSpc>
              </a:pPr>
              <a:r>
                <a:rPr sz="1000" b="0" i="0">
                  <a:solidFill>
                    <a:srgbClr val="C7CCE8"/>
                  </a:solidFill>
                  <a:latin typeface="Segoe UI"/>
                </a:rPr>
                <a:t>Shadow pilot first (nothing goes live) → one festival end to end in 2–3 cities → always-on weekly plans. </a:t>
              </a:r>
              <a:r>
                <a:rPr sz="1000" b="0" i="0">
                  <a:solidFill>
                    <a:srgbClr val="FFFFFF"/>
                  </a:solidFill>
                  <a:latin typeface="Segoe UI Semibold"/>
                </a:rPr>
                <a:t>Revenue:</a:t>
              </a:r>
              <a:r>
                <a:rPr sz="1000" b="0" i="0">
                  <a:solidFill>
                    <a:srgbClr val="C7CCE8"/>
                  </a:solidFill>
                  <a:latin typeface="Segoe UI"/>
                </a:rPr>
                <a:t> SaaS per store per month + campaign credits.</a:t>
              </a:r>
            </a:p>
          </p:txBody>
        </p:sp>
        <p:sp>
          <p:nvSpPr>
            <p:cNvPr id="46" name="Oval 45"/>
            <p:cNvSpPr/>
            <p:nvPr/>
          </p:nvSpPr>
          <p:spPr>
            <a:xfrm>
              <a:off x="6304788" y="5385816"/>
              <a:ext cx="402336" cy="402336"/>
            </a:xfrm>
            <a:prstGeom prst="ellipse">
              <a:avLst/>
            </a:prstGeom>
            <a:solidFill>
              <a:srgbClr val="2635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Store_white.png"/>
            <p:cNvPicPr>
              <a:picLocks noChangeAspect="1"/>
            </p:cNvPicPr>
            <p:nvPr/>
          </p:nvPicPr>
          <p:blipFill>
            <a:blip r:embed="rId6"/>
            <a:stretch>
              <a:fillRect/>
            </a:stretch>
          </p:blipFill>
          <p:spPr>
            <a:xfrm>
              <a:off x="6393301" y="5474329"/>
              <a:ext cx="225308" cy="225308"/>
            </a:xfrm>
            <a:prstGeom prst="rect">
              <a:avLst/>
            </a:prstGeom>
          </p:spPr>
        </p:pic>
        <p:sp>
          <p:nvSpPr>
            <p:cNvPr id="48" name="TextBox 47"/>
            <p:cNvSpPr txBox="1"/>
            <p:nvPr/>
          </p:nvSpPr>
          <p:spPr>
            <a:xfrm>
              <a:off x="6853428" y="5349240"/>
              <a:ext cx="4640580" cy="182880"/>
            </a:xfrm>
            <a:prstGeom prst="rect">
              <a:avLst/>
            </a:prstGeom>
            <a:noFill/>
          </p:spPr>
          <p:txBody>
            <a:bodyPr wrap="square" lIns="0" rIns="0" tIns="0" bIns="0" anchor="t">
              <a:spAutoFit/>
            </a:bodyPr>
            <a:lstStyle/>
            <a:p>
              <a:pPr algn="l"/>
              <a:r>
                <a:rPr sz="950" b="0" i="0">
                  <a:solidFill>
                    <a:srgbClr val="9EE493"/>
                  </a:solidFill>
                  <a:latin typeface="Segoe UI Semibold"/>
                </a:rPr>
                <a:t>DOOR 2 · KIRANAS</a:t>
              </a:r>
            </a:p>
          </p:txBody>
        </p:sp>
        <p:sp>
          <p:nvSpPr>
            <p:cNvPr id="49" name="TextBox 48"/>
            <p:cNvSpPr txBox="1"/>
            <p:nvPr/>
          </p:nvSpPr>
          <p:spPr>
            <a:xfrm>
              <a:off x="6853428" y="5559552"/>
              <a:ext cx="4622292" cy="640080"/>
            </a:xfrm>
            <a:prstGeom prst="rect">
              <a:avLst/>
            </a:prstGeom>
            <a:noFill/>
          </p:spPr>
          <p:txBody>
            <a:bodyPr wrap="square" lIns="0" rIns="0" tIns="0" bIns="0" anchor="t">
              <a:spAutoFit/>
            </a:bodyPr>
            <a:lstStyle/>
            <a:p>
              <a:pPr algn="l">
                <a:lnSpc>
                  <a:spcPct val="95000"/>
                </a:lnSpc>
              </a:pPr>
              <a:r>
                <a:rPr sz="1000" b="0" i="0">
                  <a:solidFill>
                    <a:srgbClr val="C7CCE8"/>
                  </a:solidFill>
                  <a:latin typeface="Segoe UI"/>
                </a:rPr>
                <a:t>Free offer checks and festival tips on WhatsApp, sponsored by FMCG brands and distributors who already run schemes to kiranas; premium plans. </a:t>
              </a:r>
              <a:r>
                <a:rPr sz="1000" b="0" i="0">
                  <a:solidFill>
                    <a:srgbClr val="FFFFFF"/>
                  </a:solidFill>
                  <a:latin typeface="Segoe UI Semibold"/>
                </a:rPr>
                <a:t>≈ $0.011 of AI cost per plan keeps it free.</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600"/>
                                        <p:tgtEl>
                                          <p:spTgt spid="50"/>
                                        </p:tgtEl>
                                      </p:cBhvr>
                                    </p:animEffect>
                                    <p:anim calcmode="lin" valueType="num">
                                      <p:cBhvr>
                                        <p:cTn id="8" dur="600" fill="hold"/>
                                        <p:tgtEl>
                                          <p:spTgt spid="50"/>
                                        </p:tgtEl>
                                        <p:attrNameLst>
                                          <p:attrName>ppt_x</p:attrName>
                                        </p:attrNameLst>
                                      </p:cBhvr>
                                      <p:tavLst>
                                        <p:tav tm="0">
                                          <p:val>
                                            <p:strVal val="#ppt_x"/>
                                          </p:val>
                                        </p:tav>
                                        <p:tav tm="100000">
                                          <p:val>
                                            <p:strVal val="#ppt_x"/>
                                          </p:val>
                                        </p:tav>
                                      </p:tavLst>
                                    </p:anim>
                                    <p:anim calcmode="lin" valueType="num">
                                      <p:cBhvr>
                                        <p:cTn id="9" dur="600" decel="100000" fill="hold"/>
                                        <p:tgtEl>
                                          <p:spTgt spid="50"/>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600"/>
                                        <p:tgtEl>
                                          <p:spTgt spid="20"/>
                                        </p:tgtEl>
                                      </p:cBhvr>
                                    </p:animEffect>
                                    <p:anim calcmode="lin" valueType="num">
                                      <p:cBhvr>
                                        <p:cTn id="14" dur="600" fill="hold"/>
                                        <p:tgtEl>
                                          <p:spTgt spid="20"/>
                                        </p:tgtEl>
                                        <p:attrNameLst>
                                          <p:attrName>ppt_x</p:attrName>
                                        </p:attrNameLst>
                                      </p:cBhvr>
                                      <p:tavLst>
                                        <p:tav tm="0">
                                          <p:val>
                                            <p:strVal val="#ppt_x"/>
                                          </p:val>
                                        </p:tav>
                                        <p:tav tm="100000">
                                          <p:val>
                                            <p:strVal val="#ppt_x"/>
                                          </p:val>
                                        </p:tav>
                                      </p:tavLst>
                                    </p:anim>
                                    <p:anim calcmode="lin" valueType="num">
                                      <p:cBhvr>
                                        <p:cTn id="15" dur="600" decel="100000" fill="hold"/>
                                        <p:tgtEl>
                                          <p:spTgt spid="20"/>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decel="100000" fill="hold"/>
                                        <p:tgtEl>
                                          <p:spTgt spid="26"/>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600"/>
                                        <p:tgtEl>
                                          <p:spTgt spid="32"/>
                                        </p:tgtEl>
                                      </p:cBhvr>
                                    </p:animEffect>
                                    <p:anim calcmode="lin" valueType="num">
                                      <p:cBhvr>
                                        <p:cTn id="26" dur="600" fill="hold"/>
                                        <p:tgtEl>
                                          <p:spTgt spid="32"/>
                                        </p:tgtEl>
                                        <p:attrNameLst>
                                          <p:attrName>ppt_x</p:attrName>
                                        </p:attrNameLst>
                                      </p:cBhvr>
                                      <p:tavLst>
                                        <p:tav tm="0">
                                          <p:val>
                                            <p:strVal val="#ppt_x"/>
                                          </p:val>
                                        </p:tav>
                                        <p:tav tm="100000">
                                          <p:val>
                                            <p:strVal val="#ppt_x"/>
                                          </p:val>
                                        </p:tav>
                                      </p:tavLst>
                                    </p:anim>
                                    <p:anim calcmode="lin" valueType="num">
                                      <p:cBhvr>
                                        <p:cTn id="27" dur="600" decel="100000" fill="hold"/>
                                        <p:tgtEl>
                                          <p:spTgt spid="32"/>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600"/>
                                        <p:tgtEl>
                                          <p:spTgt spid="39"/>
                                        </p:tgtEl>
                                      </p:cBhvr>
                                    </p:animEffect>
                                    <p:anim calcmode="lin" valueType="num">
                                      <p:cBhvr>
                                        <p:cTn id="32" dur="600" fill="hold"/>
                                        <p:tgtEl>
                                          <p:spTgt spid="39"/>
                                        </p:tgtEl>
                                        <p:attrNameLst>
                                          <p:attrName>ppt_x</p:attrName>
                                        </p:attrNameLst>
                                      </p:cBhvr>
                                      <p:tavLst>
                                        <p:tav tm="0">
                                          <p:val>
                                            <p:strVal val="#ppt_x"/>
                                          </p:val>
                                        </p:tav>
                                        <p:tav tm="100000">
                                          <p:val>
                                            <p:strVal val="#ppt_x"/>
                                          </p:val>
                                        </p:tav>
                                      </p:tavLst>
                                    </p:anim>
                                    <p:anim calcmode="lin" valueType="num">
                                      <p:cBhvr>
                                        <p:cTn id="33" dur="600" decel="100000" fill="hold"/>
                                        <p:tgtEl>
                                          <p:spTgt spid="39"/>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600"/>
                                        <p:tgtEl>
                                          <p:spTgt spid="51"/>
                                        </p:tgtEl>
                                      </p:cBhvr>
                                    </p:animEffect>
                                    <p:anim calcmode="lin" valueType="num">
                                      <p:cBhvr>
                                        <p:cTn id="38" dur="600" fill="hold"/>
                                        <p:tgtEl>
                                          <p:spTgt spid="51"/>
                                        </p:tgtEl>
                                        <p:attrNameLst>
                                          <p:attrName>ppt_x</p:attrName>
                                        </p:attrNameLst>
                                      </p:cBhvr>
                                      <p:tavLst>
                                        <p:tav tm="0">
                                          <p:val>
                                            <p:strVal val="#ppt_x"/>
                                          </p:val>
                                        </p:tav>
                                        <p:tav tm="100000">
                                          <p:val>
                                            <p:strVal val="#ppt_x"/>
                                          </p:val>
                                        </p:tav>
                                      </p:tavLst>
                                    </p:anim>
                                    <p:anim calcmode="lin" valueType="num">
                                      <p:cBhvr>
                                        <p:cTn id="39" dur="600" decel="100000" fill="hold"/>
                                        <p:tgtEl>
                                          <p:spTgt spid="5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ge_saffron"/>
          <p:cNvSpPr/>
          <p:nvPr/>
        </p:nvSpPr>
        <p:spPr>
          <a:xfrm>
            <a:off x="0"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edge_green"/>
          <p:cNvSpPr/>
          <p:nvPr/>
        </p:nvSpPr>
        <p:spPr>
          <a:xfrm>
            <a:off x="0"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edge_saffron_r"/>
          <p:cNvSpPr/>
          <p:nvPr/>
        </p:nvSpPr>
        <p:spPr>
          <a:xfrm>
            <a:off x="12081967" y="0"/>
            <a:ext cx="109728" cy="2286000"/>
          </a:xfrm>
          <a:prstGeom prst="rect">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edge_green_r"/>
          <p:cNvSpPr/>
          <p:nvPr/>
        </p:nvSpPr>
        <p:spPr>
          <a:xfrm>
            <a:off x="12081967" y="4572000"/>
            <a:ext cx="109728"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
          <p:cNvSpPr txBox="1"/>
          <p:nvPr/>
        </p:nvSpPr>
        <p:spPr>
          <a:xfrm>
            <a:off x="548640" y="6419088"/>
            <a:ext cx="4572000" cy="274320"/>
          </a:xfrm>
          <a:prstGeom prst="rect">
            <a:avLst/>
          </a:prstGeom>
          <a:noFill/>
        </p:spPr>
        <p:txBody>
          <a:bodyPr wrap="square" lIns="0" rIns="0" tIns="0" bIns="0" anchor="t">
            <a:spAutoFit/>
          </a:bodyPr>
          <a:lstStyle/>
          <a:p>
            <a:pPr algn="l"/>
            <a:r>
              <a:rPr sz="1000" b="0" i="0">
                <a:solidFill>
                  <a:srgbClr val="0B1A5C"/>
                </a:solidFill>
                <a:latin typeface="Segoe UI Black"/>
              </a:rPr>
              <a:t>ShubhLabh</a:t>
            </a:r>
            <a:r>
              <a:rPr sz="1000" b="0" i="0">
                <a:solidFill>
                  <a:srgbClr val="F28A1A"/>
                </a:solidFill>
                <a:latin typeface="Segoe UI Black"/>
              </a:rPr>
              <a:t> AI</a:t>
            </a:r>
            <a:r>
              <a:rPr sz="1000" b="0" i="1">
                <a:solidFill>
                  <a:srgbClr val="6B7280"/>
                </a:solidFill>
                <a:latin typeface="Segoe UI"/>
              </a:rPr>
              <a:t>   ·   Ab sirf laabh hi laabh</a:t>
            </a:r>
          </a:p>
        </p:txBody>
      </p:sp>
      <p:sp>
        <p:nvSpPr>
          <p:cNvPr id="7" name="!!pageno"/>
          <p:cNvSpPr txBox="1"/>
          <p:nvPr/>
        </p:nvSpPr>
        <p:spPr>
          <a:xfrm>
            <a:off x="10972800" y="6419088"/>
            <a:ext cx="685800" cy="274320"/>
          </a:xfrm>
          <a:prstGeom prst="rect">
            <a:avLst/>
          </a:prstGeom>
          <a:noFill/>
        </p:spPr>
        <p:txBody>
          <a:bodyPr wrap="square" lIns="0" rIns="0" tIns="0" bIns="0" anchor="t">
            <a:spAutoFit/>
          </a:bodyPr>
          <a:lstStyle/>
          <a:p>
            <a:pPr algn="r"/>
            <a:r>
              <a:rPr sz="1000" b="0" i="0">
                <a:solidFill>
                  <a:srgbClr val="6B7280"/>
                </a:solidFill>
                <a:latin typeface="Segoe UI Semibold"/>
              </a:rPr>
              <a:t>12</a:t>
            </a:r>
          </a:p>
        </p:txBody>
      </p:sp>
      <p:sp>
        <p:nvSpPr>
          <p:cNvPr id="8" name="Oval 7"/>
          <p:cNvSpPr/>
          <p:nvPr/>
        </p:nvSpPr>
        <p:spPr>
          <a:xfrm>
            <a:off x="548640" y="411480"/>
            <a:ext cx="384048" cy="384048"/>
          </a:xfrm>
          <a:prstGeom prst="ellipse">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cket_saffron.png"/>
          <p:cNvPicPr>
            <a:picLocks noChangeAspect="1"/>
          </p:cNvPicPr>
          <p:nvPr/>
        </p:nvPicPr>
        <p:blipFill>
          <a:blip r:embed="rId2"/>
          <a:stretch>
            <a:fillRect/>
          </a:stretch>
        </p:blipFill>
        <p:spPr>
          <a:xfrm>
            <a:off x="633130" y="495970"/>
            <a:ext cx="215066" cy="215066"/>
          </a:xfrm>
          <a:prstGeom prst="rect">
            <a:avLst/>
          </a:prstGeom>
        </p:spPr>
      </p:pic>
      <p:sp>
        <p:nvSpPr>
          <p:cNvPr id="10" name="TextBox 9"/>
          <p:cNvSpPr txBox="1"/>
          <p:nvPr/>
        </p:nvSpPr>
        <p:spPr>
          <a:xfrm>
            <a:off x="1042415" y="411480"/>
            <a:ext cx="7315200" cy="384048"/>
          </a:xfrm>
          <a:prstGeom prst="rect">
            <a:avLst/>
          </a:prstGeom>
          <a:noFill/>
        </p:spPr>
        <p:txBody>
          <a:bodyPr wrap="square" lIns="0" rIns="0" tIns="0" bIns="0" anchor="ctr">
            <a:spAutoFit/>
          </a:bodyPr>
          <a:lstStyle/>
          <a:p>
            <a:pPr algn="l"/>
            <a:r>
              <a:rPr sz="1200" b="0" i="0">
                <a:solidFill>
                  <a:srgbClr val="F28A1A"/>
                </a:solidFill>
                <a:latin typeface="Segoe UI Semibold"/>
              </a:rPr>
              <a:t>Scalability · Future roadmap</a:t>
            </a:r>
          </a:p>
        </p:txBody>
      </p:sp>
      <p:sp>
        <p:nvSpPr>
          <p:cNvPr id="11" name="TextBox 10"/>
          <p:cNvSpPr txBox="1"/>
          <p:nvPr/>
        </p:nvSpPr>
        <p:spPr>
          <a:xfrm>
            <a:off x="548640" y="850392"/>
            <a:ext cx="11384280" cy="640080"/>
          </a:xfrm>
          <a:prstGeom prst="rect">
            <a:avLst/>
          </a:prstGeom>
          <a:noFill/>
        </p:spPr>
        <p:txBody>
          <a:bodyPr wrap="square" lIns="0" rIns="0" tIns="0" bIns="0" anchor="t">
            <a:spAutoFit/>
          </a:bodyPr>
          <a:lstStyle/>
          <a:p>
            <a:pPr algn="l">
              <a:lnSpc>
                <a:spcPct val="86000"/>
              </a:lnSpc>
            </a:pPr>
            <a:r>
              <a:rPr sz="3600" b="0" i="0">
                <a:solidFill>
                  <a:srgbClr val="0B1A5C"/>
                </a:solidFill>
                <a:latin typeface="Segoe UI Black"/>
              </a:rPr>
              <a:t>Light, </a:t>
            </a:r>
            <a:r>
              <a:rPr sz="3600" b="0" i="0">
                <a:solidFill>
                  <a:srgbClr val="138808"/>
                </a:solidFill>
                <a:latin typeface="Segoe UI Black"/>
              </a:rPr>
              <a:t>cheap</a:t>
            </a:r>
            <a:r>
              <a:rPr sz="3600" b="0" i="0">
                <a:solidFill>
                  <a:srgbClr val="0B1A5C"/>
                </a:solidFill>
                <a:latin typeface="Segoe UI Black"/>
              </a:rPr>
              <a:t> to scale — </a:t>
            </a:r>
            <a:r>
              <a:rPr sz="3600" b="0" i="0">
                <a:solidFill>
                  <a:srgbClr val="F28A1A"/>
                </a:solidFill>
                <a:latin typeface="Segoe UI Black"/>
              </a:rPr>
              <a:t>next</a:t>
            </a:r>
            <a:r>
              <a:rPr sz="3600" b="0" i="0">
                <a:solidFill>
                  <a:srgbClr val="0B1A5C"/>
                </a:solidFill>
                <a:latin typeface="Segoe UI Black"/>
              </a:rPr>
              <a:t>: every Indian store</a:t>
            </a:r>
          </a:p>
        </p:txBody>
      </p:sp>
      <p:grpSp>
        <p:nvGrpSpPr>
          <p:cNvPr id="96" name="scale"/>
          <p:cNvGrpSpPr/>
          <p:nvPr/>
        </p:nvGrpSpPr>
        <p:grpSpPr>
          <a:xfrm>
            <a:off x="548640" y="1874519"/>
            <a:ext cx="11109960" cy="1067552"/>
            <a:chOff x="548640" y="1874519"/>
            <a:chExt cx="11109960" cy="1067552"/>
          </a:xfrm>
        </p:grpSpPr>
        <p:sp>
          <p:nvSpPr>
            <p:cNvPr id="12" name="TextBox 11"/>
            <p:cNvSpPr txBox="1"/>
            <p:nvPr/>
          </p:nvSpPr>
          <p:spPr>
            <a:xfrm>
              <a:off x="548640" y="1874519"/>
              <a:ext cx="11109960" cy="182880"/>
            </a:xfrm>
            <a:prstGeom prst="rect">
              <a:avLst/>
            </a:prstGeom>
            <a:noFill/>
          </p:spPr>
          <p:txBody>
            <a:bodyPr wrap="square" lIns="0" rIns="0" tIns="0" bIns="0" anchor="t">
              <a:spAutoFit/>
            </a:bodyPr>
            <a:lstStyle/>
            <a:p>
              <a:pPr algn="l"/>
              <a:r>
                <a:rPr sz="900" b="0" i="0">
                  <a:solidFill>
                    <a:srgbClr val="F28A1A"/>
                  </a:solidFill>
                  <a:latin typeface="Segoe UI Semibold"/>
                </a:rPr>
                <a:t>SCALABILITY · MEASURED ON THE DEPLOY AUDIT (11 OCT 2026)</a:t>
              </a:r>
            </a:p>
          </p:txBody>
        </p:sp>
        <p:sp>
          <p:nvSpPr>
            <p:cNvPr id="13" name="Rounded Rectangle 12"/>
            <p:cNvSpPr/>
            <p:nvPr/>
          </p:nvSpPr>
          <p:spPr>
            <a:xfrm>
              <a:off x="548640" y="2112263"/>
              <a:ext cx="1760220" cy="82980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atabase_navy.png"/>
            <p:cNvPicPr>
              <a:picLocks noChangeAspect="1"/>
            </p:cNvPicPr>
            <p:nvPr/>
          </p:nvPicPr>
          <p:blipFill>
            <a:blip r:embed="rId3"/>
            <a:stretch>
              <a:fillRect/>
            </a:stretch>
          </p:blipFill>
          <p:spPr>
            <a:xfrm>
              <a:off x="658368" y="2203703"/>
              <a:ext cx="182880" cy="182880"/>
            </a:xfrm>
            <a:prstGeom prst="rect">
              <a:avLst/>
            </a:prstGeom>
          </p:spPr>
        </p:pic>
        <p:sp>
          <p:nvSpPr>
            <p:cNvPr id="15" name="TextBox 14"/>
            <p:cNvSpPr txBox="1"/>
            <p:nvPr/>
          </p:nvSpPr>
          <p:spPr>
            <a:xfrm>
              <a:off x="896112" y="2167127"/>
              <a:ext cx="1339596" cy="256032"/>
            </a:xfrm>
            <a:prstGeom prst="rect">
              <a:avLst/>
            </a:prstGeom>
            <a:noFill/>
          </p:spPr>
          <p:txBody>
            <a:bodyPr wrap="none" lIns="0" rIns="0" tIns="0" bIns="0" anchor="ctr">
              <a:spAutoFit/>
            </a:bodyPr>
            <a:lstStyle/>
            <a:p>
              <a:pPr algn="l"/>
              <a:r>
                <a:rPr sz="900" b="0" i="0">
                  <a:solidFill>
                    <a:srgbClr val="0B1A5C"/>
                  </a:solidFill>
                  <a:latin typeface="Segoe UI Semibold"/>
                </a:rPr>
                <a:t>Multi-tenant PostgreSQL</a:t>
              </a:r>
            </a:p>
          </p:txBody>
        </p:sp>
        <p:sp>
          <p:nvSpPr>
            <p:cNvPr id="16" name="TextBox 15"/>
            <p:cNvSpPr txBox="1"/>
            <p:nvPr/>
          </p:nvSpPr>
          <p:spPr>
            <a:xfrm>
              <a:off x="658368" y="2459735"/>
              <a:ext cx="1540764"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A workspace per chain or shop; the full test suite passes on PostgreSQL 17</a:t>
              </a:r>
            </a:p>
          </p:txBody>
        </p:sp>
        <p:sp>
          <p:nvSpPr>
            <p:cNvPr id="17" name="Rounded Rectangle 16"/>
            <p:cNvSpPr/>
            <p:nvPr/>
          </p:nvSpPr>
          <p:spPr>
            <a:xfrm>
              <a:off x="2418588" y="2112263"/>
              <a:ext cx="1760220" cy="82980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pu_navy.png"/>
            <p:cNvPicPr>
              <a:picLocks noChangeAspect="1"/>
            </p:cNvPicPr>
            <p:nvPr/>
          </p:nvPicPr>
          <p:blipFill>
            <a:blip r:embed="rId4"/>
            <a:stretch>
              <a:fillRect/>
            </a:stretch>
          </p:blipFill>
          <p:spPr>
            <a:xfrm>
              <a:off x="2528316" y="2203703"/>
              <a:ext cx="182880" cy="182880"/>
            </a:xfrm>
            <a:prstGeom prst="rect">
              <a:avLst/>
            </a:prstGeom>
          </p:spPr>
        </p:pic>
        <p:sp>
          <p:nvSpPr>
            <p:cNvPr id="19" name="TextBox 18"/>
            <p:cNvSpPr txBox="1"/>
            <p:nvPr/>
          </p:nvSpPr>
          <p:spPr>
            <a:xfrm>
              <a:off x="2766060" y="2167127"/>
              <a:ext cx="1339596" cy="256032"/>
            </a:xfrm>
            <a:prstGeom prst="rect">
              <a:avLst/>
            </a:prstGeom>
            <a:noFill/>
          </p:spPr>
          <p:txBody>
            <a:bodyPr wrap="none" lIns="0" rIns="0" tIns="0" bIns="0" anchor="ctr">
              <a:spAutoFit/>
            </a:bodyPr>
            <a:lstStyle/>
            <a:p>
              <a:pPr algn="l"/>
              <a:r>
                <a:rPr sz="900" b="0" i="0">
                  <a:solidFill>
                    <a:srgbClr val="0B1A5C"/>
                  </a:solidFill>
                  <a:latin typeface="Segoe UI Semibold"/>
                </a:rPr>
                <a:t>Light, no GPU</a:t>
              </a:r>
            </a:p>
          </p:txBody>
        </p:sp>
        <p:sp>
          <p:nvSpPr>
            <p:cNvPr id="20" name="TextBox 19"/>
            <p:cNvSpPr txBox="1"/>
            <p:nvPr/>
          </p:nvSpPr>
          <p:spPr>
            <a:xfrm>
              <a:off x="2528316" y="2459735"/>
              <a:ext cx="1540764"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~1 GB RAM with Chronos-2 on CPU; one VM runs forecasting, OCR and the solver</a:t>
              </a:r>
            </a:p>
          </p:txBody>
        </p:sp>
        <p:sp>
          <p:nvSpPr>
            <p:cNvPr id="21" name="Rounded Rectangle 20"/>
            <p:cNvSpPr/>
            <p:nvPr/>
          </p:nvSpPr>
          <p:spPr>
            <a:xfrm>
              <a:off x="4288536" y="2112263"/>
              <a:ext cx="1760220" cy="82980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_navy.png"/>
            <p:cNvPicPr>
              <a:picLocks noChangeAspect="1"/>
            </p:cNvPicPr>
            <p:nvPr/>
          </p:nvPicPr>
          <p:blipFill>
            <a:blip r:embed="rId5"/>
            <a:stretch>
              <a:fillRect/>
            </a:stretch>
          </p:blipFill>
          <p:spPr>
            <a:xfrm>
              <a:off x="4398264" y="2203703"/>
              <a:ext cx="182880" cy="182880"/>
            </a:xfrm>
            <a:prstGeom prst="rect">
              <a:avLst/>
            </a:prstGeom>
          </p:spPr>
        </p:pic>
        <p:sp>
          <p:nvSpPr>
            <p:cNvPr id="23" name="TextBox 22"/>
            <p:cNvSpPr txBox="1"/>
            <p:nvPr/>
          </p:nvSpPr>
          <p:spPr>
            <a:xfrm>
              <a:off x="4636007" y="2167127"/>
              <a:ext cx="1339596" cy="256032"/>
            </a:xfrm>
            <a:prstGeom prst="rect">
              <a:avLst/>
            </a:prstGeom>
            <a:noFill/>
          </p:spPr>
          <p:txBody>
            <a:bodyPr wrap="none" lIns="0" rIns="0" tIns="0" bIns="0" anchor="ctr">
              <a:spAutoFit/>
            </a:bodyPr>
            <a:lstStyle/>
            <a:p>
              <a:pPr algn="l"/>
              <a:r>
                <a:rPr sz="900" b="0" i="0">
                  <a:solidFill>
                    <a:srgbClr val="0B1A5C"/>
                  </a:solidFill>
                  <a:latin typeface="Segoe UI Semibold"/>
                </a:rPr>
                <a:t>Solver headroom</a:t>
              </a:r>
            </a:p>
          </p:txBody>
        </p:sp>
        <p:sp>
          <p:nvSpPr>
            <p:cNvPr id="24" name="TextBox 23"/>
            <p:cNvSpPr txBox="1"/>
            <p:nvPr/>
          </p:nvSpPr>
          <p:spPr>
            <a:xfrm>
              <a:off x="4398264" y="2459735"/>
              <a:ext cx="1540764"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120 SKUs × 3 cities, 848 candidates, solved in P95 1.34 s</a:t>
              </a:r>
            </a:p>
          </p:txBody>
        </p:sp>
        <p:sp>
          <p:nvSpPr>
            <p:cNvPr id="25" name="Rounded Rectangle 24"/>
            <p:cNvSpPr/>
            <p:nvPr/>
          </p:nvSpPr>
          <p:spPr>
            <a:xfrm>
              <a:off x="6158483" y="2112263"/>
              <a:ext cx="1760220" cy="82980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oins_navy.png"/>
            <p:cNvPicPr>
              <a:picLocks noChangeAspect="1"/>
            </p:cNvPicPr>
            <p:nvPr/>
          </p:nvPicPr>
          <p:blipFill>
            <a:blip r:embed="rId6"/>
            <a:stretch>
              <a:fillRect/>
            </a:stretch>
          </p:blipFill>
          <p:spPr>
            <a:xfrm>
              <a:off x="6268212" y="2203703"/>
              <a:ext cx="182880" cy="182880"/>
            </a:xfrm>
            <a:prstGeom prst="rect">
              <a:avLst/>
            </a:prstGeom>
          </p:spPr>
        </p:pic>
        <p:sp>
          <p:nvSpPr>
            <p:cNvPr id="27" name="TextBox 26"/>
            <p:cNvSpPr txBox="1"/>
            <p:nvPr/>
          </p:nvSpPr>
          <p:spPr>
            <a:xfrm>
              <a:off x="6505955" y="2167127"/>
              <a:ext cx="1339596" cy="256032"/>
            </a:xfrm>
            <a:prstGeom prst="rect">
              <a:avLst/>
            </a:prstGeom>
            <a:noFill/>
          </p:spPr>
          <p:txBody>
            <a:bodyPr wrap="none" lIns="0" rIns="0" tIns="0" bIns="0" anchor="ctr">
              <a:spAutoFit/>
            </a:bodyPr>
            <a:lstStyle/>
            <a:p>
              <a:pPr algn="l"/>
              <a:r>
                <a:rPr sz="900" b="0" i="0">
                  <a:solidFill>
                    <a:srgbClr val="0B1A5C"/>
                  </a:solidFill>
                  <a:latin typeface="Segoe UI Semibold"/>
                </a:rPr>
                <a:t>Cheap AI, capped</a:t>
              </a:r>
            </a:p>
          </p:txBody>
        </p:sp>
        <p:sp>
          <p:nvSpPr>
            <p:cNvPr id="28" name="TextBox 27"/>
            <p:cNvSpPr txBox="1"/>
            <p:nvPr/>
          </p:nvSpPr>
          <p:spPr>
            <a:xfrm>
              <a:off x="6268212" y="2459735"/>
              <a:ext cx="1540764"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 $0.011 of model cost per plan, under hard daily and total spend caps</a:t>
              </a:r>
            </a:p>
          </p:txBody>
        </p:sp>
        <p:sp>
          <p:nvSpPr>
            <p:cNvPr id="29" name="Rounded Rectangle 28"/>
            <p:cNvSpPr/>
            <p:nvPr/>
          </p:nvSpPr>
          <p:spPr>
            <a:xfrm>
              <a:off x="8028431" y="2112263"/>
              <a:ext cx="1760220" cy="82980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Users_navy.png"/>
            <p:cNvPicPr>
              <a:picLocks noChangeAspect="1"/>
            </p:cNvPicPr>
            <p:nvPr/>
          </p:nvPicPr>
          <p:blipFill>
            <a:blip r:embed="rId7"/>
            <a:stretch>
              <a:fillRect/>
            </a:stretch>
          </p:blipFill>
          <p:spPr>
            <a:xfrm>
              <a:off x="8138159" y="2203703"/>
              <a:ext cx="182880" cy="182880"/>
            </a:xfrm>
            <a:prstGeom prst="rect">
              <a:avLst/>
            </a:prstGeom>
          </p:spPr>
        </p:pic>
        <p:sp>
          <p:nvSpPr>
            <p:cNvPr id="31" name="TextBox 30"/>
            <p:cNvSpPr txBox="1"/>
            <p:nvPr/>
          </p:nvSpPr>
          <p:spPr>
            <a:xfrm>
              <a:off x="8375904" y="2167127"/>
              <a:ext cx="1339596" cy="256032"/>
            </a:xfrm>
            <a:prstGeom prst="rect">
              <a:avLst/>
            </a:prstGeom>
            <a:noFill/>
          </p:spPr>
          <p:txBody>
            <a:bodyPr wrap="none" lIns="0" rIns="0" tIns="0" bIns="0" anchor="ctr">
              <a:spAutoFit/>
            </a:bodyPr>
            <a:lstStyle/>
            <a:p>
              <a:pPr algn="l"/>
              <a:r>
                <a:rPr sz="900" b="0" i="0">
                  <a:solidFill>
                    <a:srgbClr val="0B1A5C"/>
                  </a:solidFill>
                  <a:latin typeface="Segoe UI Semibold"/>
                </a:rPr>
                <a:t>Ready for a crowd</a:t>
              </a:r>
            </a:p>
          </p:txBody>
        </p:sp>
        <p:sp>
          <p:nvSpPr>
            <p:cNvPr id="32" name="TextBox 31"/>
            <p:cNvSpPr txBox="1"/>
            <p:nvPr/>
          </p:nvSpPr>
          <p:spPr>
            <a:xfrm>
              <a:off x="8138159" y="2459735"/>
              <a:ext cx="1540764"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Rate limits per client and per WhatsApp sender; CSRF and CSP on every route</a:t>
              </a:r>
            </a:p>
          </p:txBody>
        </p:sp>
        <p:sp>
          <p:nvSpPr>
            <p:cNvPr id="33" name="Rounded Rectangle 32"/>
            <p:cNvSpPr/>
            <p:nvPr/>
          </p:nvSpPr>
          <p:spPr>
            <a:xfrm>
              <a:off x="9898380" y="2112263"/>
              <a:ext cx="1760220" cy="829808"/>
            </a:xfrm>
            <a:prstGeom prst="roundRect">
              <a:avLst>
                <a:gd name="adj" fmla="val 6000"/>
              </a:avLst>
            </a:prstGeom>
            <a:solidFill>
              <a:srgbClr val="FFFFFF"/>
            </a:solidFill>
            <a:ln w="9525">
              <a:solidFill>
                <a:srgbClr val="E5E7EB"/>
              </a:solidFill>
            </a:ln>
            <a:effectLst>
              <a:outerShdw blurRad="279400" dist="50800" dir="5400000" algn="t" rotWithShape="0">
                <a:srgbClr val="0B1A5C">
                  <a:alpha val="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imer_navy.png"/>
            <p:cNvPicPr>
              <a:picLocks noChangeAspect="1"/>
            </p:cNvPicPr>
            <p:nvPr/>
          </p:nvPicPr>
          <p:blipFill>
            <a:blip r:embed="rId8"/>
            <a:stretch>
              <a:fillRect/>
            </a:stretch>
          </p:blipFill>
          <p:spPr>
            <a:xfrm>
              <a:off x="10008107" y="2203703"/>
              <a:ext cx="182880" cy="182880"/>
            </a:xfrm>
            <a:prstGeom prst="rect">
              <a:avLst/>
            </a:prstGeom>
          </p:spPr>
        </p:pic>
        <p:sp>
          <p:nvSpPr>
            <p:cNvPr id="35" name="TextBox 34"/>
            <p:cNvSpPr txBox="1"/>
            <p:nvPr/>
          </p:nvSpPr>
          <p:spPr>
            <a:xfrm>
              <a:off x="10245852" y="2167127"/>
              <a:ext cx="1339596" cy="256032"/>
            </a:xfrm>
            <a:prstGeom prst="rect">
              <a:avLst/>
            </a:prstGeom>
            <a:noFill/>
          </p:spPr>
          <p:txBody>
            <a:bodyPr wrap="none" lIns="0" rIns="0" tIns="0" bIns="0" anchor="ctr">
              <a:spAutoFit/>
            </a:bodyPr>
            <a:lstStyle/>
            <a:p>
              <a:pPr algn="l"/>
              <a:r>
                <a:rPr sz="900" b="0" i="0">
                  <a:solidFill>
                    <a:srgbClr val="0B1A5C"/>
                  </a:solidFill>
                  <a:latin typeface="Segoe UI Semibold"/>
                </a:rPr>
                <a:t>Fast and tested</a:t>
              </a:r>
            </a:p>
          </p:txBody>
        </p:sp>
        <p:sp>
          <p:nvSpPr>
            <p:cNvPr id="36" name="TextBox 35"/>
            <p:cNvSpPr txBox="1"/>
            <p:nvPr/>
          </p:nvSpPr>
          <p:spPr>
            <a:xfrm>
              <a:off x="10008107" y="2459735"/>
              <a:ext cx="1540764"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Kit in ~40 s with Chronos-2, 6.5 s without · 784 automated tests</a:t>
              </a:r>
            </a:p>
          </p:txBody>
        </p:sp>
      </p:grpSp>
      <p:grpSp>
        <p:nvGrpSpPr>
          <p:cNvPr id="52" name="road0"/>
          <p:cNvGrpSpPr/>
          <p:nvPr/>
        </p:nvGrpSpPr>
        <p:grpSpPr>
          <a:xfrm>
            <a:off x="548640" y="3088376"/>
            <a:ext cx="2654046" cy="2077983"/>
            <a:chOff x="548640" y="3088376"/>
            <a:chExt cx="2654046" cy="2077983"/>
          </a:xfrm>
        </p:grpSpPr>
        <p:sp>
          <p:nvSpPr>
            <p:cNvPr id="37" name="Rounded Rectangle 36"/>
            <p:cNvSpPr/>
            <p:nvPr/>
          </p:nvSpPr>
          <p:spPr>
            <a:xfrm>
              <a:off x="548640" y="3088376"/>
              <a:ext cx="2654046" cy="2077983"/>
            </a:xfrm>
            <a:prstGeom prst="roundRect">
              <a:avLst>
                <a:gd name="adj" fmla="val 5000"/>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548640" y="3088376"/>
              <a:ext cx="2654046" cy="310896"/>
            </a:xfrm>
            <a:prstGeom prst="roundRect">
              <a:avLst>
                <a:gd name="adj" fmla="val 25000"/>
              </a:avLst>
            </a:prstGeom>
            <a:solidFill>
              <a:srgbClr val="0B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3088376"/>
              <a:ext cx="2654046" cy="310896"/>
            </a:xfrm>
            <a:prstGeom prst="rect">
              <a:avLst/>
            </a:prstGeom>
            <a:noFill/>
          </p:spPr>
          <p:txBody>
            <a:bodyPr wrap="square" lIns="0" rIns="0" tIns="0" bIns="0" anchor="ctr">
              <a:spAutoFit/>
            </a:bodyPr>
            <a:lstStyle/>
            <a:p>
              <a:pPr algn="ctr"/>
              <a:r>
                <a:rPr sz="1050" b="0" i="0">
                  <a:solidFill>
                    <a:srgbClr val="FFFFFF"/>
                  </a:solidFill>
                  <a:latin typeface="Segoe UI Semibold"/>
                </a:rPr>
                <a:t>LIVE TODAY</a:t>
              </a:r>
            </a:p>
          </p:txBody>
        </p:sp>
        <p:pic>
          <p:nvPicPr>
            <p:cNvPr id="40" name="Picture 39" descr="CheckCircle2_green.png"/>
            <p:cNvPicPr>
              <a:picLocks noChangeAspect="1"/>
            </p:cNvPicPr>
            <p:nvPr/>
          </p:nvPicPr>
          <p:blipFill>
            <a:blip r:embed="rId9"/>
            <a:stretch>
              <a:fillRect/>
            </a:stretch>
          </p:blipFill>
          <p:spPr>
            <a:xfrm>
              <a:off x="676656" y="3518144"/>
              <a:ext cx="164592" cy="164592"/>
            </a:xfrm>
            <a:prstGeom prst="rect">
              <a:avLst/>
            </a:prstGeom>
          </p:spPr>
        </p:pic>
        <p:sp>
          <p:nvSpPr>
            <p:cNvPr id="41" name="TextBox 40"/>
            <p:cNvSpPr txBox="1"/>
            <p:nvPr/>
          </p:nvSpPr>
          <p:spPr>
            <a:xfrm>
              <a:off x="914400" y="3509000"/>
              <a:ext cx="2178558" cy="291077"/>
            </a:xfrm>
            <a:prstGeom prst="rect">
              <a:avLst/>
            </a:prstGeom>
            <a:noFill/>
          </p:spPr>
          <p:txBody>
            <a:bodyPr wrap="square" lIns="0" rIns="0" tIns="0" bIns="0" anchor="t">
              <a:spAutoFit/>
            </a:bodyPr>
            <a:lstStyle/>
            <a:p>
              <a:pPr algn="l">
                <a:lnSpc>
                  <a:spcPct val="95000"/>
                </a:lnSpc>
              </a:pPr>
              <a:r>
                <a:rPr sz="850" b="0" i="0">
                  <a:solidFill>
                    <a:srgbClr val="111827"/>
                  </a:solidFill>
                  <a:latin typeface="Segoe UI Semibold"/>
                </a:rPr>
                <a:t>One-Click Campaign Designer · 12 festival templates</a:t>
              </a:r>
            </a:p>
          </p:txBody>
        </p:sp>
        <p:pic>
          <p:nvPicPr>
            <p:cNvPr id="42" name="Picture 41" descr="CheckCircle2_green.png"/>
            <p:cNvPicPr>
              <a:picLocks noChangeAspect="1"/>
            </p:cNvPicPr>
            <p:nvPr/>
          </p:nvPicPr>
          <p:blipFill>
            <a:blip r:embed="rId9"/>
            <a:stretch>
              <a:fillRect/>
            </a:stretch>
          </p:blipFill>
          <p:spPr>
            <a:xfrm>
              <a:off x="676656" y="3889543"/>
              <a:ext cx="164592" cy="164592"/>
            </a:xfrm>
            <a:prstGeom prst="rect">
              <a:avLst/>
            </a:prstGeom>
          </p:spPr>
        </p:pic>
        <p:sp>
          <p:nvSpPr>
            <p:cNvPr id="43" name="TextBox 42"/>
            <p:cNvSpPr txBox="1"/>
            <p:nvPr/>
          </p:nvSpPr>
          <p:spPr>
            <a:xfrm>
              <a:off x="914400" y="3880399"/>
              <a:ext cx="2178558" cy="291077"/>
            </a:xfrm>
            <a:prstGeom prst="rect">
              <a:avLst/>
            </a:prstGeom>
            <a:noFill/>
          </p:spPr>
          <p:txBody>
            <a:bodyPr wrap="square" lIns="0" rIns="0" tIns="0" bIns="0" anchor="t">
              <a:spAutoFit/>
            </a:bodyPr>
            <a:lstStyle/>
            <a:p>
              <a:pPr algn="l">
                <a:lnSpc>
                  <a:spcPct val="95000"/>
                </a:lnSpc>
              </a:pPr>
              <a:r>
                <a:rPr sz="850" b="0" i="0">
                  <a:solidFill>
                    <a:srgbClr val="111827"/>
                  </a:solidFill>
                  <a:latin typeface="Segoe UI Semibold"/>
                </a:rPr>
                <a:t>Promo Studio · full control from brief to sign-off, live what-ifs</a:t>
              </a:r>
            </a:p>
          </p:txBody>
        </p:sp>
        <p:pic>
          <p:nvPicPr>
            <p:cNvPr id="44" name="Picture 43" descr="CheckCircle2_green.png"/>
            <p:cNvPicPr>
              <a:picLocks noChangeAspect="1"/>
            </p:cNvPicPr>
            <p:nvPr/>
          </p:nvPicPr>
          <p:blipFill>
            <a:blip r:embed="rId9"/>
            <a:stretch>
              <a:fillRect/>
            </a:stretch>
          </p:blipFill>
          <p:spPr>
            <a:xfrm>
              <a:off x="676656" y="4260943"/>
              <a:ext cx="164592" cy="164592"/>
            </a:xfrm>
            <a:prstGeom prst="rect">
              <a:avLst/>
            </a:prstGeom>
          </p:spPr>
        </p:pic>
        <p:sp>
          <p:nvSpPr>
            <p:cNvPr id="45" name="TextBox 44"/>
            <p:cNvSpPr txBox="1"/>
            <p:nvPr/>
          </p:nvSpPr>
          <p:spPr>
            <a:xfrm>
              <a:off x="914400" y="4251799"/>
              <a:ext cx="2178558" cy="291077"/>
            </a:xfrm>
            <a:prstGeom prst="rect">
              <a:avLst/>
            </a:prstGeom>
            <a:noFill/>
          </p:spPr>
          <p:txBody>
            <a:bodyPr wrap="square" lIns="0" rIns="0" tIns="0" bIns="0" anchor="t">
              <a:spAutoFit/>
            </a:bodyPr>
            <a:lstStyle/>
            <a:p>
              <a:pPr algn="l">
                <a:lnSpc>
                  <a:spcPct val="95000"/>
                </a:lnSpc>
              </a:pPr>
              <a:r>
                <a:rPr sz="850" b="0" i="0">
                  <a:solidFill>
                    <a:srgbClr val="111827"/>
                  </a:solidFill>
                  <a:latin typeface="Segoe UI Semibold"/>
                </a:rPr>
                <a:t>ShubhLabh on WhatsApp · +1 415 523 8886</a:t>
              </a:r>
            </a:p>
          </p:txBody>
        </p:sp>
        <p:pic>
          <p:nvPicPr>
            <p:cNvPr id="46" name="Picture 45" descr="CheckCircle2_green.png"/>
            <p:cNvPicPr>
              <a:picLocks noChangeAspect="1"/>
            </p:cNvPicPr>
            <p:nvPr/>
          </p:nvPicPr>
          <p:blipFill>
            <a:blip r:embed="rId9"/>
            <a:stretch>
              <a:fillRect/>
            </a:stretch>
          </p:blipFill>
          <p:spPr>
            <a:xfrm>
              <a:off x="676656" y="4495947"/>
              <a:ext cx="164592" cy="164592"/>
            </a:xfrm>
            <a:prstGeom prst="rect">
              <a:avLst/>
            </a:prstGeom>
          </p:spPr>
        </p:pic>
        <p:sp>
          <p:nvSpPr>
            <p:cNvPr id="47" name="TextBox 46"/>
            <p:cNvSpPr txBox="1"/>
            <p:nvPr/>
          </p:nvSpPr>
          <p:spPr>
            <a:xfrm>
              <a:off x="914400" y="4486803"/>
              <a:ext cx="2178558" cy="154682"/>
            </a:xfrm>
            <a:prstGeom prst="rect">
              <a:avLst/>
            </a:prstGeom>
            <a:noFill/>
          </p:spPr>
          <p:txBody>
            <a:bodyPr wrap="square" lIns="0" rIns="0" tIns="0" bIns="0" anchor="t">
              <a:spAutoFit/>
            </a:bodyPr>
            <a:lstStyle/>
            <a:p>
              <a:pPr algn="l">
                <a:lnSpc>
                  <a:spcPct val="95000"/>
                </a:lnSpc>
              </a:pPr>
              <a:r>
                <a:rPr sz="850" b="0" i="0">
                  <a:solidFill>
                    <a:srgbClr val="111827"/>
                  </a:solidFill>
                  <a:latin typeface="Segoe UI Semibold"/>
                </a:rPr>
                <a:t>English + Hindi copy · Hinglish chat</a:t>
              </a:r>
            </a:p>
          </p:txBody>
        </p:sp>
        <p:pic>
          <p:nvPicPr>
            <p:cNvPr id="48" name="Picture 47" descr="CheckCircle2_green.png"/>
            <p:cNvPicPr>
              <a:picLocks noChangeAspect="1"/>
            </p:cNvPicPr>
            <p:nvPr/>
          </p:nvPicPr>
          <p:blipFill>
            <a:blip r:embed="rId9"/>
            <a:stretch>
              <a:fillRect/>
            </a:stretch>
          </p:blipFill>
          <p:spPr>
            <a:xfrm>
              <a:off x="676656" y="4730952"/>
              <a:ext cx="164592" cy="164592"/>
            </a:xfrm>
            <a:prstGeom prst="rect">
              <a:avLst/>
            </a:prstGeom>
          </p:spPr>
        </p:pic>
        <p:sp>
          <p:nvSpPr>
            <p:cNvPr id="49" name="TextBox 48"/>
            <p:cNvSpPr txBox="1"/>
            <p:nvPr/>
          </p:nvSpPr>
          <p:spPr>
            <a:xfrm>
              <a:off x="914400" y="4721808"/>
              <a:ext cx="2178558" cy="154682"/>
            </a:xfrm>
            <a:prstGeom prst="rect">
              <a:avLst/>
            </a:prstGeom>
            <a:noFill/>
          </p:spPr>
          <p:txBody>
            <a:bodyPr wrap="square" lIns="0" rIns="0" tIns="0" bIns="0" anchor="t">
              <a:spAutoFit/>
            </a:bodyPr>
            <a:lstStyle/>
            <a:p>
              <a:pPr algn="l">
                <a:lnSpc>
                  <a:spcPct val="95000"/>
                </a:lnSpc>
              </a:pPr>
              <a:r>
                <a:rPr sz="850" b="0" i="0">
                  <a:solidFill>
                    <a:srgbClr val="111827"/>
                  </a:solidFill>
                  <a:latin typeface="Segoe UI Semibold"/>
                </a:rPr>
                <a:t>Live-event replanning with a diff</a:t>
              </a:r>
            </a:p>
          </p:txBody>
        </p:sp>
        <p:pic>
          <p:nvPicPr>
            <p:cNvPr id="50" name="Picture 49" descr="CheckCircle2_green.png"/>
            <p:cNvPicPr>
              <a:picLocks noChangeAspect="1"/>
            </p:cNvPicPr>
            <p:nvPr/>
          </p:nvPicPr>
          <p:blipFill>
            <a:blip r:embed="rId9"/>
            <a:stretch>
              <a:fillRect/>
            </a:stretch>
          </p:blipFill>
          <p:spPr>
            <a:xfrm>
              <a:off x="676656" y="4965957"/>
              <a:ext cx="164592" cy="164592"/>
            </a:xfrm>
            <a:prstGeom prst="rect">
              <a:avLst/>
            </a:prstGeom>
          </p:spPr>
        </p:pic>
        <p:sp>
          <p:nvSpPr>
            <p:cNvPr id="51" name="TextBox 50"/>
            <p:cNvSpPr txBox="1"/>
            <p:nvPr/>
          </p:nvSpPr>
          <p:spPr>
            <a:xfrm>
              <a:off x="914400" y="4956813"/>
              <a:ext cx="2178558" cy="154682"/>
            </a:xfrm>
            <a:prstGeom prst="rect">
              <a:avLst/>
            </a:prstGeom>
            <a:noFill/>
          </p:spPr>
          <p:txBody>
            <a:bodyPr wrap="square" lIns="0" rIns="0" tIns="0" bIns="0" anchor="t">
              <a:spAutoFit/>
            </a:bodyPr>
            <a:lstStyle/>
            <a:p>
              <a:pPr algn="l">
                <a:lnSpc>
                  <a:spcPct val="95000"/>
                </a:lnSpc>
              </a:pPr>
              <a:r>
                <a:rPr sz="850" b="0" i="0">
                  <a:solidFill>
                    <a:srgbClr val="111827"/>
                  </a:solidFill>
                  <a:latin typeface="Segoe UI Semibold"/>
                </a:rPr>
                <a:t>PostgreSQL · approval tiers · full audit trail</a:t>
              </a:r>
            </a:p>
          </p:txBody>
        </p:sp>
      </p:grpSp>
      <p:grpSp>
        <p:nvGrpSpPr>
          <p:cNvPr id="64" name="road1"/>
          <p:cNvGrpSpPr/>
          <p:nvPr/>
        </p:nvGrpSpPr>
        <p:grpSpPr>
          <a:xfrm>
            <a:off x="3367278" y="3088376"/>
            <a:ext cx="2654046" cy="2077983"/>
            <a:chOff x="3367278" y="3088376"/>
            <a:chExt cx="2654046" cy="2077983"/>
          </a:xfrm>
        </p:grpSpPr>
        <p:sp>
          <p:nvSpPr>
            <p:cNvPr id="53" name="Rounded Rectangle 52"/>
            <p:cNvSpPr/>
            <p:nvPr/>
          </p:nvSpPr>
          <p:spPr>
            <a:xfrm>
              <a:off x="3367278" y="3088376"/>
              <a:ext cx="2654046" cy="2077983"/>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367278" y="3088376"/>
              <a:ext cx="2654046" cy="310896"/>
            </a:xfrm>
            <a:prstGeom prst="roundRect">
              <a:avLst>
                <a:gd name="adj" fmla="val 25000"/>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367278" y="3088376"/>
              <a:ext cx="2654046" cy="310896"/>
            </a:xfrm>
            <a:prstGeom prst="rect">
              <a:avLst/>
            </a:prstGeom>
            <a:noFill/>
          </p:spPr>
          <p:txBody>
            <a:bodyPr wrap="square" lIns="0" rIns="0" tIns="0" bIns="0" anchor="ctr">
              <a:spAutoFit/>
            </a:bodyPr>
            <a:lstStyle/>
            <a:p>
              <a:pPr algn="ctr"/>
              <a:r>
                <a:rPr sz="1050" b="0" i="0">
                  <a:solidFill>
                    <a:srgbClr val="FFFFFF"/>
                  </a:solidFill>
                  <a:latin typeface="Segoe UI Semibold"/>
                </a:rPr>
                <a:t>NEXT 3 MONTHS</a:t>
              </a:r>
            </a:p>
          </p:txBody>
        </p:sp>
        <p:pic>
          <p:nvPicPr>
            <p:cNvPr id="56" name="Picture 55" descr="ArrowRight_saffron.png"/>
            <p:cNvPicPr>
              <a:picLocks noChangeAspect="1"/>
            </p:cNvPicPr>
            <p:nvPr/>
          </p:nvPicPr>
          <p:blipFill>
            <a:blip r:embed="rId10"/>
            <a:stretch>
              <a:fillRect/>
            </a:stretch>
          </p:blipFill>
          <p:spPr>
            <a:xfrm>
              <a:off x="3495294" y="3518144"/>
              <a:ext cx="164592" cy="164592"/>
            </a:xfrm>
            <a:prstGeom prst="rect">
              <a:avLst/>
            </a:prstGeom>
          </p:spPr>
        </p:pic>
        <p:sp>
          <p:nvSpPr>
            <p:cNvPr id="57" name="TextBox 56"/>
            <p:cNvSpPr txBox="1"/>
            <p:nvPr/>
          </p:nvSpPr>
          <p:spPr>
            <a:xfrm>
              <a:off x="3733038" y="3509000"/>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Shadow pilots with 2–3 grocery chains — nothing goes live</a:t>
              </a:r>
            </a:p>
          </p:txBody>
        </p:sp>
        <p:pic>
          <p:nvPicPr>
            <p:cNvPr id="58" name="Picture 57" descr="ArrowRight_saffron.png"/>
            <p:cNvPicPr>
              <a:picLocks noChangeAspect="1"/>
            </p:cNvPicPr>
            <p:nvPr/>
          </p:nvPicPr>
          <p:blipFill>
            <a:blip r:embed="rId10"/>
            <a:stretch>
              <a:fillRect/>
            </a:stretch>
          </p:blipFill>
          <p:spPr>
            <a:xfrm>
              <a:off x="3495294" y="3937238"/>
              <a:ext cx="164592" cy="164592"/>
            </a:xfrm>
            <a:prstGeom prst="rect">
              <a:avLst/>
            </a:prstGeom>
          </p:spPr>
        </p:pic>
        <p:sp>
          <p:nvSpPr>
            <p:cNvPr id="59" name="TextBox 58"/>
            <p:cNvSpPr txBox="1"/>
            <p:nvPr/>
          </p:nvSpPr>
          <p:spPr>
            <a:xfrm>
              <a:off x="3733038" y="3928094"/>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Pilots with FMCG brands and distributors who sponsor kirana plans</a:t>
              </a:r>
            </a:p>
          </p:txBody>
        </p:sp>
        <p:pic>
          <p:nvPicPr>
            <p:cNvPr id="60" name="Picture 59" descr="ArrowRight_saffron.png"/>
            <p:cNvPicPr>
              <a:picLocks noChangeAspect="1"/>
            </p:cNvPicPr>
            <p:nvPr/>
          </p:nvPicPr>
          <p:blipFill>
            <a:blip r:embed="rId10"/>
            <a:stretch>
              <a:fillRect/>
            </a:stretch>
          </p:blipFill>
          <p:spPr>
            <a:xfrm>
              <a:off x="3495294" y="4356331"/>
              <a:ext cx="164592" cy="164592"/>
            </a:xfrm>
            <a:prstGeom prst="rect">
              <a:avLst/>
            </a:prstGeom>
          </p:spPr>
        </p:pic>
        <p:sp>
          <p:nvSpPr>
            <p:cNvPr id="61" name="TextBox 60"/>
            <p:cNvSpPr txBox="1"/>
            <p:nvPr/>
          </p:nvSpPr>
          <p:spPr>
            <a:xfrm>
              <a:off x="3733038" y="4347187"/>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A chain's or store's own WhatsApp Business number</a:t>
              </a:r>
            </a:p>
          </p:txBody>
        </p:sp>
        <p:pic>
          <p:nvPicPr>
            <p:cNvPr id="62" name="Picture 61" descr="ArrowRight_saffron.png"/>
            <p:cNvPicPr>
              <a:picLocks noChangeAspect="1"/>
            </p:cNvPicPr>
            <p:nvPr/>
          </p:nvPicPr>
          <p:blipFill>
            <a:blip r:embed="rId10"/>
            <a:stretch>
              <a:fillRect/>
            </a:stretch>
          </p:blipFill>
          <p:spPr>
            <a:xfrm>
              <a:off x="3495294" y="4775425"/>
              <a:ext cx="164592" cy="164592"/>
            </a:xfrm>
            <a:prstGeom prst="rect">
              <a:avLst/>
            </a:prstGeom>
          </p:spPr>
        </p:pic>
        <p:sp>
          <p:nvSpPr>
            <p:cNvPr id="63" name="TextBox 62"/>
            <p:cNvSpPr txBox="1"/>
            <p:nvPr/>
          </p:nvSpPr>
          <p:spPr>
            <a:xfrm>
              <a:off x="3733038" y="4766281"/>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Recalibrate price response on Indian pilot outcomes</a:t>
              </a:r>
            </a:p>
          </p:txBody>
        </p:sp>
      </p:grpSp>
      <p:grpSp>
        <p:nvGrpSpPr>
          <p:cNvPr id="74" name="road2"/>
          <p:cNvGrpSpPr/>
          <p:nvPr/>
        </p:nvGrpSpPr>
        <p:grpSpPr>
          <a:xfrm>
            <a:off x="6185916" y="3088376"/>
            <a:ext cx="2654046" cy="2077983"/>
            <a:chOff x="6185916" y="3088376"/>
            <a:chExt cx="2654046" cy="2077983"/>
          </a:xfrm>
        </p:grpSpPr>
        <p:sp>
          <p:nvSpPr>
            <p:cNvPr id="65" name="Rounded Rectangle 64"/>
            <p:cNvSpPr/>
            <p:nvPr/>
          </p:nvSpPr>
          <p:spPr>
            <a:xfrm>
              <a:off x="6185916" y="3088376"/>
              <a:ext cx="2654046" cy="2077983"/>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6185916" y="3088376"/>
              <a:ext cx="2654046" cy="310896"/>
            </a:xfrm>
            <a:prstGeom prst="roundRect">
              <a:avLst>
                <a:gd name="adj" fmla="val 25000"/>
              </a:avLst>
            </a:prstGeom>
            <a:solidFill>
              <a:srgbClr val="F2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6185916" y="3088376"/>
              <a:ext cx="2654046" cy="310896"/>
            </a:xfrm>
            <a:prstGeom prst="rect">
              <a:avLst/>
            </a:prstGeom>
            <a:noFill/>
          </p:spPr>
          <p:txBody>
            <a:bodyPr wrap="square" lIns="0" rIns="0" tIns="0" bIns="0" anchor="ctr">
              <a:spAutoFit/>
            </a:bodyPr>
            <a:lstStyle/>
            <a:p>
              <a:pPr algn="ctr"/>
              <a:r>
                <a:rPr sz="1050" b="0" i="0">
                  <a:solidFill>
                    <a:srgbClr val="FFFFFF"/>
                  </a:solidFill>
                  <a:latin typeface="Segoe UI Semibold"/>
                </a:rPr>
                <a:t>3–6 MONTHS</a:t>
              </a:r>
            </a:p>
          </p:txBody>
        </p:sp>
        <p:pic>
          <p:nvPicPr>
            <p:cNvPr id="68" name="Picture 67" descr="ArrowRight_saffron.png"/>
            <p:cNvPicPr>
              <a:picLocks noChangeAspect="1"/>
            </p:cNvPicPr>
            <p:nvPr/>
          </p:nvPicPr>
          <p:blipFill>
            <a:blip r:embed="rId10"/>
            <a:stretch>
              <a:fillRect/>
            </a:stretch>
          </p:blipFill>
          <p:spPr>
            <a:xfrm>
              <a:off x="6313931" y="3518144"/>
              <a:ext cx="164592" cy="164592"/>
            </a:xfrm>
            <a:prstGeom prst="rect">
              <a:avLst/>
            </a:prstGeom>
          </p:spPr>
        </p:pic>
        <p:sp>
          <p:nvSpPr>
            <p:cNvPr id="69" name="TextBox 68"/>
            <p:cNvSpPr txBox="1"/>
            <p:nvPr/>
          </p:nvSpPr>
          <p:spPr>
            <a:xfrm>
              <a:off x="6551676" y="3509000"/>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POS / billing / ERP connectors — sales, stock and MRP sync, no CSVs</a:t>
              </a:r>
            </a:p>
          </p:txBody>
        </p:sp>
        <p:pic>
          <p:nvPicPr>
            <p:cNvPr id="70" name="Picture 69" descr="ArrowRight_saffron.png"/>
            <p:cNvPicPr>
              <a:picLocks noChangeAspect="1"/>
            </p:cNvPicPr>
            <p:nvPr/>
          </p:nvPicPr>
          <p:blipFill>
            <a:blip r:embed="rId10"/>
            <a:stretch>
              <a:fillRect/>
            </a:stretch>
          </p:blipFill>
          <p:spPr>
            <a:xfrm>
              <a:off x="6313931" y="3937238"/>
              <a:ext cx="164592" cy="164592"/>
            </a:xfrm>
            <a:prstGeom prst="rect">
              <a:avLst/>
            </a:prstGeom>
          </p:spPr>
        </p:pic>
        <p:sp>
          <p:nvSpPr>
            <p:cNvPr id="71" name="TextBox 70"/>
            <p:cNvSpPr txBox="1"/>
            <p:nvPr/>
          </p:nvSpPr>
          <p:spPr>
            <a:xfrm>
              <a:off x="6551676" y="3928094"/>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More Indian languages: Tamil, Telugu, Bengali, Marathi, Kannada, Gujarati</a:t>
              </a:r>
            </a:p>
          </p:txBody>
        </p:sp>
        <p:pic>
          <p:nvPicPr>
            <p:cNvPr id="72" name="Picture 71" descr="ArrowRight_saffron.png"/>
            <p:cNvPicPr>
              <a:picLocks noChangeAspect="1"/>
            </p:cNvPicPr>
            <p:nvPr/>
          </p:nvPicPr>
          <p:blipFill>
            <a:blip r:embed="rId10"/>
            <a:stretch>
              <a:fillRect/>
            </a:stretch>
          </p:blipFill>
          <p:spPr>
            <a:xfrm>
              <a:off x="6313931" y="4356331"/>
              <a:ext cx="164592" cy="164592"/>
            </a:xfrm>
            <a:prstGeom prst="rect">
              <a:avLst/>
            </a:prstGeom>
          </p:spPr>
        </p:pic>
        <p:sp>
          <p:nvSpPr>
            <p:cNvPr id="73" name="TextBox 72"/>
            <p:cNvSpPr txBox="1"/>
            <p:nvPr/>
          </p:nvSpPr>
          <p:spPr>
            <a:xfrm>
              <a:off x="6551676" y="4347187"/>
              <a:ext cx="2178558" cy="42747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Regional festivals — Onam, Durga Puja, Eid, Ganesh Chaturthi, Raksha Bandhan — and more cities</a:t>
              </a:r>
            </a:p>
          </p:txBody>
        </p:sp>
      </p:grpSp>
      <p:grpSp>
        <p:nvGrpSpPr>
          <p:cNvPr id="86" name="road3"/>
          <p:cNvGrpSpPr/>
          <p:nvPr/>
        </p:nvGrpSpPr>
        <p:grpSpPr>
          <a:xfrm>
            <a:off x="9004554" y="3088376"/>
            <a:ext cx="2654046" cy="2077983"/>
            <a:chOff x="9004554" y="3088376"/>
            <a:chExt cx="2654046" cy="2077983"/>
          </a:xfrm>
        </p:grpSpPr>
        <p:sp>
          <p:nvSpPr>
            <p:cNvPr id="75" name="Rounded Rectangle 74"/>
            <p:cNvSpPr/>
            <p:nvPr/>
          </p:nvSpPr>
          <p:spPr>
            <a:xfrm>
              <a:off x="9004554" y="3088376"/>
              <a:ext cx="2654046" cy="2077983"/>
            </a:xfrm>
            <a:prstGeom prst="roundRect">
              <a:avLst>
                <a:gd name="adj" fmla="val 5000"/>
              </a:avLst>
            </a:prstGeom>
            <a:solidFill>
              <a:srgbClr val="FFFFFF"/>
            </a:solidFill>
            <a:ln w="9525">
              <a:solidFill>
                <a:srgbClr val="E5E7EB"/>
              </a:solidFill>
            </a:ln>
            <a:effectLst>
              <a:outerShdw blurRad="279400" dist="50800" dir="5400000" algn="t" rotWithShape="0">
                <a:srgbClr val="0B1A5C">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9004554" y="3088376"/>
              <a:ext cx="2654046" cy="310896"/>
            </a:xfrm>
            <a:prstGeom prst="roundRect">
              <a:avLst>
                <a:gd name="adj" fmla="val 25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9004554" y="3088376"/>
              <a:ext cx="2654046" cy="310896"/>
            </a:xfrm>
            <a:prstGeom prst="rect">
              <a:avLst/>
            </a:prstGeom>
            <a:noFill/>
          </p:spPr>
          <p:txBody>
            <a:bodyPr wrap="square" lIns="0" rIns="0" tIns="0" bIns="0" anchor="ctr">
              <a:spAutoFit/>
            </a:bodyPr>
            <a:lstStyle/>
            <a:p>
              <a:pPr algn="ctr"/>
              <a:r>
                <a:rPr sz="1050" b="0" i="0">
                  <a:solidFill>
                    <a:srgbClr val="FFFFFF"/>
                  </a:solidFill>
                  <a:latin typeface="Segoe UI Semibold"/>
                </a:rPr>
                <a:t>6–12 MONTHS</a:t>
              </a:r>
            </a:p>
          </p:txBody>
        </p:sp>
        <p:pic>
          <p:nvPicPr>
            <p:cNvPr id="78" name="Picture 77" descr="ArrowRight_green.png"/>
            <p:cNvPicPr>
              <a:picLocks noChangeAspect="1"/>
            </p:cNvPicPr>
            <p:nvPr/>
          </p:nvPicPr>
          <p:blipFill>
            <a:blip r:embed="rId11"/>
            <a:stretch>
              <a:fillRect/>
            </a:stretch>
          </p:blipFill>
          <p:spPr>
            <a:xfrm>
              <a:off x="9132570" y="3518144"/>
              <a:ext cx="164592" cy="164592"/>
            </a:xfrm>
            <a:prstGeom prst="rect">
              <a:avLst/>
            </a:prstGeom>
          </p:spPr>
        </p:pic>
        <p:sp>
          <p:nvSpPr>
            <p:cNvPr id="79" name="TextBox 78"/>
            <p:cNvSpPr txBox="1"/>
            <p:nvPr/>
          </p:nvSpPr>
          <p:spPr>
            <a:xfrm>
              <a:off x="9370314" y="3509000"/>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Scheduled always-on weekly plans, auto-briefed from last week's sales</a:t>
              </a:r>
            </a:p>
          </p:txBody>
        </p:sp>
        <p:pic>
          <p:nvPicPr>
            <p:cNvPr id="80" name="Picture 79" descr="ArrowRight_green.png"/>
            <p:cNvPicPr>
              <a:picLocks noChangeAspect="1"/>
            </p:cNvPicPr>
            <p:nvPr/>
          </p:nvPicPr>
          <p:blipFill>
            <a:blip r:embed="rId11"/>
            <a:stretch>
              <a:fillRect/>
            </a:stretch>
          </p:blipFill>
          <p:spPr>
            <a:xfrm>
              <a:off x="9132570" y="3937238"/>
              <a:ext cx="164592" cy="164592"/>
            </a:xfrm>
            <a:prstGeom prst="rect">
              <a:avLst/>
            </a:prstGeom>
          </p:spPr>
        </p:pic>
        <p:sp>
          <p:nvSpPr>
            <p:cNvPr id="81" name="TextBox 80"/>
            <p:cNvSpPr txBox="1"/>
            <p:nvPr/>
          </p:nvSpPr>
          <p:spPr>
            <a:xfrm>
              <a:off x="9370314" y="3928094"/>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Outcome loop: redemptions and sales feed the next plan</a:t>
              </a:r>
            </a:p>
          </p:txBody>
        </p:sp>
        <p:pic>
          <p:nvPicPr>
            <p:cNvPr id="82" name="Picture 81" descr="ArrowRight_green.png"/>
            <p:cNvPicPr>
              <a:picLocks noChangeAspect="1"/>
            </p:cNvPicPr>
            <p:nvPr/>
          </p:nvPicPr>
          <p:blipFill>
            <a:blip r:embed="rId11"/>
            <a:stretch>
              <a:fillRect/>
            </a:stretch>
          </p:blipFill>
          <p:spPr>
            <a:xfrm>
              <a:off x="9132570" y="4356331"/>
              <a:ext cx="164592" cy="164592"/>
            </a:xfrm>
            <a:prstGeom prst="rect">
              <a:avLst/>
            </a:prstGeom>
          </p:spPr>
        </p:pic>
        <p:sp>
          <p:nvSpPr>
            <p:cNvPr id="83" name="TextBox 82"/>
            <p:cNvSpPr txBox="1"/>
            <p:nvPr/>
          </p:nvSpPr>
          <p:spPr>
            <a:xfrm>
              <a:off x="9370314" y="4347187"/>
              <a:ext cx="2178558" cy="291077"/>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Background job queue so the engine runs across several servers</a:t>
              </a:r>
            </a:p>
          </p:txBody>
        </p:sp>
        <p:pic>
          <p:nvPicPr>
            <p:cNvPr id="84" name="Picture 83" descr="ArrowRight_green.png"/>
            <p:cNvPicPr>
              <a:picLocks noChangeAspect="1"/>
            </p:cNvPicPr>
            <p:nvPr/>
          </p:nvPicPr>
          <p:blipFill>
            <a:blip r:embed="rId11"/>
            <a:stretch>
              <a:fillRect/>
            </a:stretch>
          </p:blipFill>
          <p:spPr>
            <a:xfrm>
              <a:off x="9132570" y="4775425"/>
              <a:ext cx="164592" cy="164592"/>
            </a:xfrm>
            <a:prstGeom prst="rect">
              <a:avLst/>
            </a:prstGeom>
          </p:spPr>
        </p:pic>
        <p:sp>
          <p:nvSpPr>
            <p:cNvPr id="85" name="TextBox 84"/>
            <p:cNvSpPr txBox="1"/>
            <p:nvPr/>
          </p:nvSpPr>
          <p:spPr>
            <a:xfrm>
              <a:off x="9370314" y="4766281"/>
              <a:ext cx="2178558" cy="154682"/>
            </a:xfrm>
            <a:prstGeom prst="rect">
              <a:avLst/>
            </a:prstGeom>
            <a:noFill/>
          </p:spPr>
          <p:txBody>
            <a:bodyPr wrap="square" lIns="0" rIns="0" tIns="0" bIns="0" anchor="t">
              <a:spAutoFit/>
            </a:bodyPr>
            <a:lstStyle/>
            <a:p>
              <a:pPr algn="l">
                <a:lnSpc>
                  <a:spcPct val="95000"/>
                </a:lnSpc>
              </a:pPr>
              <a:r>
                <a:rPr sz="850" b="0" i="0">
                  <a:solidFill>
                    <a:srgbClr val="4B5563"/>
                  </a:solidFill>
                  <a:latin typeface="Segoe UI"/>
                </a:rPr>
                <a:t>Voice notes on WhatsApp</a:t>
              </a:r>
            </a:p>
          </p:txBody>
        </p:sp>
      </p:grpSp>
      <p:grpSp>
        <p:nvGrpSpPr>
          <p:cNvPr id="97" name="close"/>
          <p:cNvGrpSpPr/>
          <p:nvPr/>
        </p:nvGrpSpPr>
        <p:grpSpPr>
          <a:xfrm>
            <a:off x="548640" y="5294376"/>
            <a:ext cx="11109960" cy="960120"/>
            <a:chOff x="548640" y="5294376"/>
            <a:chExt cx="11109960" cy="960120"/>
          </a:xfrm>
        </p:grpSpPr>
        <p:sp>
          <p:nvSpPr>
            <p:cNvPr id="87" name="Rounded Rectangle 86"/>
            <p:cNvSpPr/>
            <p:nvPr/>
          </p:nvSpPr>
          <p:spPr>
            <a:xfrm>
              <a:off x="548640" y="5294376"/>
              <a:ext cx="11109960" cy="960120"/>
            </a:xfrm>
            <a:prstGeom prst="roundRect">
              <a:avLst>
                <a:gd name="adj" fmla="val 10000"/>
              </a:avLst>
            </a:prstGeom>
            <a:solidFill>
              <a:srgbClr val="0B1A5C"/>
            </a:solidFill>
            <a:ln>
              <a:noFill/>
            </a:ln>
            <a:effectLst>
              <a:outerShdw blurRad="279400" dist="50800" dir="5400000" algn="t" rotWithShape="0">
                <a:srgbClr val="0B1A5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804672" y="5385816"/>
              <a:ext cx="2940405" cy="384048"/>
            </a:xfrm>
            <a:prstGeom prst="rect">
              <a:avLst/>
            </a:prstGeom>
            <a:noFill/>
          </p:spPr>
          <p:txBody>
            <a:bodyPr wrap="none" lIns="0" rIns="0" tIns="0" bIns="0" anchor="ctr">
              <a:spAutoFit/>
            </a:bodyPr>
            <a:lstStyle/>
            <a:p>
              <a:pPr algn="l"/>
              <a:r>
                <a:rPr sz="2000" b="0" i="0">
                  <a:solidFill>
                    <a:srgbClr val="FFFFFF"/>
                  </a:solidFill>
                  <a:latin typeface="Segoe UI Black"/>
                </a:rPr>
                <a:t>Ab sirf </a:t>
              </a:r>
              <a:r>
                <a:rPr sz="2000" b="0" i="0">
                  <a:solidFill>
                    <a:srgbClr val="F28A1A"/>
                  </a:solidFill>
                  <a:latin typeface="Segoe UI Black"/>
                </a:rPr>
                <a:t>laabh</a:t>
              </a:r>
              <a:r>
                <a:rPr sz="2000" b="0" i="0">
                  <a:solidFill>
                    <a:srgbClr val="FFFFFF"/>
                  </a:solidFill>
                  <a:latin typeface="Segoe UI Black"/>
                </a:rPr>
                <a:t> hi laabh.</a:t>
              </a:r>
            </a:p>
          </p:txBody>
        </p:sp>
        <p:sp>
          <p:nvSpPr>
            <p:cNvPr id="89" name="TextBox 88"/>
            <p:cNvSpPr txBox="1"/>
            <p:nvPr/>
          </p:nvSpPr>
          <p:spPr>
            <a:xfrm>
              <a:off x="804672" y="5797296"/>
              <a:ext cx="2940405" cy="329184"/>
            </a:xfrm>
            <a:prstGeom prst="rect">
              <a:avLst/>
            </a:prstGeom>
            <a:noFill/>
          </p:spPr>
          <p:txBody>
            <a:bodyPr wrap="none" lIns="0" rIns="0" tIns="0" bIns="0" anchor="ctr">
              <a:spAutoFit/>
            </a:bodyPr>
            <a:lstStyle/>
            <a:p>
              <a:pPr algn="l"/>
              <a:r>
                <a:rPr sz="1400" b="0" i="0">
                  <a:solidFill>
                    <a:srgbClr val="C7CCE8"/>
                  </a:solidFill>
                  <a:latin typeface="Nirmala UI"/>
                  <a:cs typeface="Nirmala UI"/>
                </a:rPr>
                <a:t>अब सिर्फ़ लाभ ही लाभ</a:t>
              </a:r>
            </a:p>
          </p:txBody>
        </p:sp>
        <p:sp>
          <p:nvSpPr>
            <p:cNvPr id="90" name="Rectangle 89"/>
            <p:cNvSpPr/>
            <p:nvPr/>
          </p:nvSpPr>
          <p:spPr>
            <a:xfrm>
              <a:off x="3946245" y="5458968"/>
              <a:ext cx="10972" cy="630936"/>
            </a:xfrm>
            <a:prstGeom prst="rect">
              <a:avLst/>
            </a:prstGeom>
            <a:solidFill>
              <a:srgbClr val="2A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4220565" y="5404104"/>
              <a:ext cx="3910390" cy="274320"/>
            </a:xfrm>
            <a:prstGeom prst="rect">
              <a:avLst/>
            </a:prstGeom>
            <a:noFill/>
          </p:spPr>
          <p:txBody>
            <a:bodyPr wrap="none" lIns="0" rIns="0" tIns="0" bIns="0" anchor="t">
              <a:spAutoFit/>
            </a:bodyPr>
            <a:lstStyle/>
            <a:p>
              <a:pPr algn="l"/>
              <a:r>
                <a:rPr sz="1200" b="0" i="0">
                  <a:solidFill>
                    <a:srgbClr val="FFFFFF"/>
                  </a:solidFill>
                  <a:latin typeface="Segoe UI Semibold"/>
                </a:rPr>
                <a:t>Anurag Manik · AI Solution Architect – HP</a:t>
              </a:r>
            </a:p>
          </p:txBody>
        </p:sp>
        <p:sp>
          <p:nvSpPr>
            <p:cNvPr id="92" name="TextBox 91"/>
            <p:cNvSpPr txBox="1"/>
            <p:nvPr/>
          </p:nvSpPr>
          <p:spPr>
            <a:xfrm>
              <a:off x="4220565" y="5678424"/>
              <a:ext cx="3910390" cy="237744"/>
            </a:xfrm>
            <a:prstGeom prst="rect">
              <a:avLst/>
            </a:prstGeom>
            <a:noFill/>
          </p:spPr>
          <p:txBody>
            <a:bodyPr wrap="none" lIns="0" rIns="0" tIns="0" bIns="0" anchor="t">
              <a:spAutoFit/>
            </a:bodyPr>
            <a:lstStyle/>
            <a:p>
              <a:pPr algn="l"/>
              <a:r>
                <a:rPr sz="1100" b="0" i="0">
                  <a:solidFill>
                    <a:srgbClr val="C7CCE8"/>
                  </a:solidFill>
                  <a:latin typeface="Segoe UI"/>
                </a:rPr>
                <a:t>anuragmanik7@gmail.com</a:t>
              </a:r>
            </a:p>
          </p:txBody>
        </p:sp>
        <p:sp>
          <p:nvSpPr>
            <p:cNvPr id="93" name="TextBox 92"/>
            <p:cNvSpPr txBox="1"/>
            <p:nvPr/>
          </p:nvSpPr>
          <p:spPr>
            <a:xfrm>
              <a:off x="4220565" y="5934456"/>
              <a:ext cx="3910390" cy="219456"/>
            </a:xfrm>
            <a:prstGeom prst="rect">
              <a:avLst/>
            </a:prstGeom>
            <a:noFill/>
          </p:spPr>
          <p:txBody>
            <a:bodyPr wrap="none" lIns="0" rIns="0" tIns="0" bIns="0" anchor="t">
              <a:spAutoFit/>
            </a:bodyPr>
            <a:lstStyle/>
            <a:p>
              <a:pPr algn="l"/>
              <a:r>
                <a:rPr sz="950" b="0" i="0">
                  <a:solidFill>
                    <a:srgbClr val="C7CCE8"/>
                  </a:solidFill>
                  <a:latin typeface="Segoe UI"/>
                </a:rPr>
                <a:t>Live: </a:t>
              </a:r>
              <a:r>
                <a:rPr sz="950" b="0" i="0">
                  <a:solidFill>
                    <a:srgbClr val="F28A1A"/>
                  </a:solidFill>
                  <a:latin typeface="Segoe UI Semibold"/>
                  <a:hlinkClick r:id="rId12">
                    <a:extLst>
                      <a:ext uri="{A12FA001-AC4F-418D-AE19-62706E023703}">
                        <ahyp:hlinkClr xmlns:ahyp="http://schemas.microsoft.com/office/drawing/2018/hyperlinkcolor" val="tx"/>
                      </a:ext>
                    </a:extLst>
                  </a:hlinkClick>
                </a:rPr>
                <a:t>shubhlabh-ai.replit.app</a:t>
              </a:r>
              <a:r>
                <a:rPr sz="950" b="0" i="0">
                  <a:solidFill>
                    <a:srgbClr val="C7CCE8"/>
                  </a:solidFill>
                  <a:latin typeface="Segoe UI"/>
                </a:rPr>
                <a:t> · F3 + D3 · repository in the submission</a:t>
              </a:r>
            </a:p>
          </p:txBody>
        </p:sp>
        <p:pic>
          <p:nvPicPr>
            <p:cNvPr id="94" name="Picture 93" descr="17_whatsapp_qr.png"/>
            <p:cNvPicPr>
              <a:picLocks noChangeAspect="1"/>
            </p:cNvPicPr>
            <p:nvPr/>
          </p:nvPicPr>
          <p:blipFill>
            <a:blip r:embed="rId13"/>
            <a:srcRect l="63851" t="24743" r="23337" b="48487"/>
            <a:stretch>
              <a:fillRect/>
            </a:stretch>
          </p:blipFill>
          <p:spPr>
            <a:xfrm>
              <a:off x="10716768" y="5385714"/>
              <a:ext cx="777240" cy="777442"/>
            </a:xfrm>
            <a:prstGeom prst="rect">
              <a:avLst/>
            </a:prstGeom>
            <a:effectLst>
              <a:outerShdw blurRad="355600" dist="101600" dir="5400000" algn="t" rotWithShape="0">
                <a:srgbClr val="0B1A5C">
                  <a:alpha val="30000"/>
                </a:srgbClr>
              </a:outerShdw>
            </a:effectLst>
          </p:spPr>
        </p:pic>
        <p:sp>
          <p:nvSpPr>
            <p:cNvPr id="95" name="TextBox 94"/>
            <p:cNvSpPr txBox="1"/>
            <p:nvPr/>
          </p:nvSpPr>
          <p:spPr>
            <a:xfrm>
              <a:off x="7900416" y="5431536"/>
              <a:ext cx="2651760" cy="685800"/>
            </a:xfrm>
            <a:prstGeom prst="rect">
              <a:avLst/>
            </a:prstGeom>
            <a:noFill/>
          </p:spPr>
          <p:txBody>
            <a:bodyPr wrap="square" lIns="0" rIns="0" tIns="0" bIns="0" anchor="ctr">
              <a:spAutoFit/>
            </a:bodyPr>
            <a:lstStyle/>
            <a:p>
              <a:pPr algn="r">
                <a:lnSpc>
                  <a:spcPct val="100000"/>
                </a:lnSpc>
              </a:pPr>
              <a:r>
                <a:rPr sz="1100" b="0" i="0">
                  <a:solidFill>
                    <a:srgbClr val="FFFFFF"/>
                  </a:solidFill>
                  <a:latin typeface="Segoe UI Semibold"/>
                </a:rPr>
                <a:t>Scan to try it on WhatsApp</a:t>
              </a:r>
            </a:p>
            <a:p>
              <a:pPr algn="r">
                <a:lnSpc>
                  <a:spcPct val="100000"/>
                </a:lnSpc>
              </a:pPr>
              <a:r>
                <a:rPr sz="950" b="0" i="0">
                  <a:solidFill>
                    <a:srgbClr val="C7CCE8"/>
                  </a:solidFill>
                  <a:latin typeface="Segoe UI"/>
                </a:rPr>
                <a:t>“join bright-blanket” typed in for you</a:t>
              </a:r>
            </a:p>
          </p:txBody>
        </p:sp>
      </p:grpSp>
    </p:spTree>
  </p:cSld>
  <p:clrMapOvr>
    <a:masterClrMapping/>
  </p:clrMapOvr>
  <mc:AlternateContent xmlns:mc="http://schemas.openxmlformats.org/markup-compatibility/2006">
    <mc:Choice xmlns:p159="http://schemas.microsoft.com/office/powerpoint/2015/09/main" Requires="p159">
      <p:transition xmlns:p="http://schemas.openxmlformats.org/presentationml/2006/main" xmlns:p14="http://schemas.microsoft.com/office/powerpoint/2010/main" spd="slow" p14:dur="1200">
        <p159:morph option="byObject"/>
      </p:transition>
    </mc:Choice>
    <mc:Fallback>
      <p:transition xmlns:p="http://schemas.openxmlformats.org/presentationml/2006/main" spd="slow">
        <p:fade/>
      </p:transition>
    </mc:Fallback>
  </mc:AlternateContent>
  <p:timing xmlns:p="http://schemas.openxmlformats.org/presentationml/2006/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600"/>
                                        <p:tgtEl>
                                          <p:spTgt spid="96"/>
                                        </p:tgtEl>
                                      </p:cBhvr>
                                    </p:animEffect>
                                    <p:anim calcmode="lin" valueType="num">
                                      <p:cBhvr>
                                        <p:cTn id="8" dur="600" fill="hold"/>
                                        <p:tgtEl>
                                          <p:spTgt spid="96"/>
                                        </p:tgtEl>
                                        <p:attrNameLst>
                                          <p:attrName>ppt_x</p:attrName>
                                        </p:attrNameLst>
                                      </p:cBhvr>
                                      <p:tavLst>
                                        <p:tav tm="0">
                                          <p:val>
                                            <p:strVal val="#ppt_x"/>
                                          </p:val>
                                        </p:tav>
                                        <p:tav tm="100000">
                                          <p:val>
                                            <p:strVal val="#ppt_x"/>
                                          </p:val>
                                        </p:tav>
                                      </p:tavLst>
                                    </p:anim>
                                    <p:anim calcmode="lin" valueType="num">
                                      <p:cBhvr>
                                        <p:cTn id="9" dur="600" decel="100000" fill="hold"/>
                                        <p:tgtEl>
                                          <p:spTgt spid="96"/>
                                        </p:tgtEl>
                                        <p:attrNameLst>
                                          <p:attrName>ppt_y</p:attrName>
                                        </p:attrNameLst>
                                      </p:cBhvr>
                                      <p:tavLst>
                                        <p:tav tm="0">
                                          <p:val>
                                            <p:strVal val="#ppt_y+.06"/>
                                          </p:val>
                                        </p:tav>
                                        <p:tav tm="100000">
                                          <p:val>
                                            <p:strVal val="#ppt_y"/>
                                          </p:val>
                                        </p:tav>
                                      </p:tavLst>
                                    </p:anim>
                                  </p:childTnLst>
                                </p:cTn>
                              </p:par>
                            </p:childTnLst>
                          </p:cTn>
                        </p:par>
                        <p:par>
                          <p:cTn id="10" fill="hold">
                            <p:stCondLst>
                              <p:cond delay="0"/>
                            </p:stCondLst>
                            <p:childTnLst>
                              <p:par>
                                <p:cTn id="11" presetID="42" presetClass="entr" presetSubtype="0" fill="hold" nodeType="withEffect">
                                  <p:stCondLst>
                                    <p:cond delay="39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600"/>
                                        <p:tgtEl>
                                          <p:spTgt spid="52"/>
                                        </p:tgtEl>
                                      </p:cBhvr>
                                    </p:animEffect>
                                    <p:anim calcmode="lin" valueType="num">
                                      <p:cBhvr>
                                        <p:cTn id="14" dur="600" fill="hold"/>
                                        <p:tgtEl>
                                          <p:spTgt spid="52"/>
                                        </p:tgtEl>
                                        <p:attrNameLst>
                                          <p:attrName>ppt_x</p:attrName>
                                        </p:attrNameLst>
                                      </p:cBhvr>
                                      <p:tavLst>
                                        <p:tav tm="0">
                                          <p:val>
                                            <p:strVal val="#ppt_x"/>
                                          </p:val>
                                        </p:tav>
                                        <p:tav tm="100000">
                                          <p:val>
                                            <p:strVal val="#ppt_x"/>
                                          </p:val>
                                        </p:tav>
                                      </p:tavLst>
                                    </p:anim>
                                    <p:anim calcmode="lin" valueType="num">
                                      <p:cBhvr>
                                        <p:cTn id="15" dur="600" decel="100000" fill="hold"/>
                                        <p:tgtEl>
                                          <p:spTgt spid="52"/>
                                        </p:tgtEl>
                                        <p:attrNameLst>
                                          <p:attrName>ppt_y</p:attrName>
                                        </p:attrNameLst>
                                      </p:cBhvr>
                                      <p:tavLst>
                                        <p:tav tm="0">
                                          <p:val>
                                            <p:strVal val="#ppt_y+.06"/>
                                          </p:val>
                                        </p:tav>
                                        <p:tav tm="100000">
                                          <p:val>
                                            <p:strVal val="#ppt_y"/>
                                          </p:val>
                                        </p:tav>
                                      </p:tavLst>
                                    </p:anim>
                                  </p:childTnLst>
                                </p:cTn>
                              </p:par>
                            </p:childTnLst>
                          </p:cTn>
                        </p:par>
                        <p:par>
                          <p:cTn id="16" fill="hold">
                            <p:stCondLst>
                              <p:cond delay="0"/>
                            </p:stCondLst>
                            <p:childTnLst>
                              <p:par>
                                <p:cTn id="17" presetID="42" presetClass="entr" presetSubtype="0" fill="hold" nodeType="withEffect">
                                  <p:stCondLst>
                                    <p:cond delay="53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600"/>
                                        <p:tgtEl>
                                          <p:spTgt spid="64"/>
                                        </p:tgtEl>
                                      </p:cBhvr>
                                    </p:animEffect>
                                    <p:anim calcmode="lin" valueType="num">
                                      <p:cBhvr>
                                        <p:cTn id="20" dur="600" fill="hold"/>
                                        <p:tgtEl>
                                          <p:spTgt spid="64"/>
                                        </p:tgtEl>
                                        <p:attrNameLst>
                                          <p:attrName>ppt_x</p:attrName>
                                        </p:attrNameLst>
                                      </p:cBhvr>
                                      <p:tavLst>
                                        <p:tav tm="0">
                                          <p:val>
                                            <p:strVal val="#ppt_x"/>
                                          </p:val>
                                        </p:tav>
                                        <p:tav tm="100000">
                                          <p:val>
                                            <p:strVal val="#ppt_x"/>
                                          </p:val>
                                        </p:tav>
                                      </p:tavLst>
                                    </p:anim>
                                    <p:anim calcmode="lin" valueType="num">
                                      <p:cBhvr>
                                        <p:cTn id="21" dur="600" decel="100000" fill="hold"/>
                                        <p:tgtEl>
                                          <p:spTgt spid="64"/>
                                        </p:tgtEl>
                                        <p:attrNameLst>
                                          <p:attrName>ppt_y</p:attrName>
                                        </p:attrNameLst>
                                      </p:cBhvr>
                                      <p:tavLst>
                                        <p:tav tm="0">
                                          <p:val>
                                            <p:strVal val="#ppt_y+.06"/>
                                          </p:val>
                                        </p:tav>
                                        <p:tav tm="100000">
                                          <p:val>
                                            <p:strVal val="#ppt_y"/>
                                          </p:val>
                                        </p:tav>
                                      </p:tavLst>
                                    </p:anim>
                                  </p:childTnLst>
                                </p:cTn>
                              </p:par>
                            </p:childTnLst>
                          </p:cTn>
                        </p:par>
                        <p:par>
                          <p:cTn id="22" fill="hold">
                            <p:stCondLst>
                              <p:cond delay="0"/>
                            </p:stCondLst>
                            <p:childTnLst>
                              <p:par>
                                <p:cTn id="23" presetID="42" presetClass="entr" presetSubtype="0" fill="hold" nodeType="withEffect">
                                  <p:stCondLst>
                                    <p:cond delay="670"/>
                                  </p:stCondLst>
                                  <p:childTnLst>
                                    <p:set>
                                      <p:cBhvr>
                                        <p:cTn id="24" dur="1" fill="hold">
                                          <p:stCondLst>
                                            <p:cond delay="0"/>
                                          </p:stCondLst>
                                        </p:cTn>
                                        <p:tgtEl>
                                          <p:spTgt spid="74"/>
                                        </p:tgtEl>
                                        <p:attrNameLst>
                                          <p:attrName>style.visibility</p:attrName>
                                        </p:attrNameLst>
                                      </p:cBhvr>
                                      <p:to>
                                        <p:strVal val="visible"/>
                                      </p:to>
                                    </p:set>
                                    <p:animEffect transition="in" filter="fade">
                                      <p:cBhvr>
                                        <p:cTn id="25" dur="600"/>
                                        <p:tgtEl>
                                          <p:spTgt spid="74"/>
                                        </p:tgtEl>
                                      </p:cBhvr>
                                    </p:animEffect>
                                    <p:anim calcmode="lin" valueType="num">
                                      <p:cBhvr>
                                        <p:cTn id="26" dur="600" fill="hold"/>
                                        <p:tgtEl>
                                          <p:spTgt spid="74"/>
                                        </p:tgtEl>
                                        <p:attrNameLst>
                                          <p:attrName>ppt_x</p:attrName>
                                        </p:attrNameLst>
                                      </p:cBhvr>
                                      <p:tavLst>
                                        <p:tav tm="0">
                                          <p:val>
                                            <p:strVal val="#ppt_x"/>
                                          </p:val>
                                        </p:tav>
                                        <p:tav tm="100000">
                                          <p:val>
                                            <p:strVal val="#ppt_x"/>
                                          </p:val>
                                        </p:tav>
                                      </p:tavLst>
                                    </p:anim>
                                    <p:anim calcmode="lin" valueType="num">
                                      <p:cBhvr>
                                        <p:cTn id="27" dur="600" decel="100000" fill="hold"/>
                                        <p:tgtEl>
                                          <p:spTgt spid="74"/>
                                        </p:tgtEl>
                                        <p:attrNameLst>
                                          <p:attrName>ppt_y</p:attrName>
                                        </p:attrNameLst>
                                      </p:cBhvr>
                                      <p:tavLst>
                                        <p:tav tm="0">
                                          <p:val>
                                            <p:strVal val="#ppt_y+.06"/>
                                          </p:val>
                                        </p:tav>
                                        <p:tav tm="100000">
                                          <p:val>
                                            <p:strVal val="#ppt_y"/>
                                          </p:val>
                                        </p:tav>
                                      </p:tavLst>
                                    </p:anim>
                                  </p:childTnLst>
                                </p:cTn>
                              </p:par>
                            </p:childTnLst>
                          </p:cTn>
                        </p:par>
                        <p:par>
                          <p:cTn id="28" fill="hold">
                            <p:stCondLst>
                              <p:cond delay="0"/>
                            </p:stCondLst>
                            <p:childTnLst>
                              <p:par>
                                <p:cTn id="29" presetID="42" presetClass="entr" presetSubtype="0" fill="hold" nodeType="withEffect">
                                  <p:stCondLst>
                                    <p:cond delay="810"/>
                                  </p:stCondLst>
                                  <p:childTnLst>
                                    <p:set>
                                      <p:cBhvr>
                                        <p:cTn id="30" dur="1" fill="hold">
                                          <p:stCondLst>
                                            <p:cond delay="0"/>
                                          </p:stCondLst>
                                        </p:cTn>
                                        <p:tgtEl>
                                          <p:spTgt spid="86"/>
                                        </p:tgtEl>
                                        <p:attrNameLst>
                                          <p:attrName>style.visibility</p:attrName>
                                        </p:attrNameLst>
                                      </p:cBhvr>
                                      <p:to>
                                        <p:strVal val="visible"/>
                                      </p:to>
                                    </p:set>
                                    <p:animEffect transition="in" filter="fade">
                                      <p:cBhvr>
                                        <p:cTn id="31" dur="600"/>
                                        <p:tgtEl>
                                          <p:spTgt spid="86"/>
                                        </p:tgtEl>
                                      </p:cBhvr>
                                    </p:animEffect>
                                    <p:anim calcmode="lin" valueType="num">
                                      <p:cBhvr>
                                        <p:cTn id="32" dur="600" fill="hold"/>
                                        <p:tgtEl>
                                          <p:spTgt spid="86"/>
                                        </p:tgtEl>
                                        <p:attrNameLst>
                                          <p:attrName>ppt_x</p:attrName>
                                        </p:attrNameLst>
                                      </p:cBhvr>
                                      <p:tavLst>
                                        <p:tav tm="0">
                                          <p:val>
                                            <p:strVal val="#ppt_x"/>
                                          </p:val>
                                        </p:tav>
                                        <p:tav tm="100000">
                                          <p:val>
                                            <p:strVal val="#ppt_x"/>
                                          </p:val>
                                        </p:tav>
                                      </p:tavLst>
                                    </p:anim>
                                    <p:anim calcmode="lin" valueType="num">
                                      <p:cBhvr>
                                        <p:cTn id="33" dur="600" decel="100000" fill="hold"/>
                                        <p:tgtEl>
                                          <p:spTgt spid="86"/>
                                        </p:tgtEl>
                                        <p:attrNameLst>
                                          <p:attrName>ppt_y</p:attrName>
                                        </p:attrNameLst>
                                      </p:cBhvr>
                                      <p:tavLst>
                                        <p:tav tm="0">
                                          <p:val>
                                            <p:strVal val="#ppt_y+.06"/>
                                          </p:val>
                                        </p:tav>
                                        <p:tav tm="100000">
                                          <p:val>
                                            <p:strVal val="#ppt_y"/>
                                          </p:val>
                                        </p:tav>
                                      </p:tavLst>
                                    </p:anim>
                                  </p:childTnLst>
                                </p:cTn>
                              </p:par>
                            </p:childTnLst>
                          </p:cTn>
                        </p:par>
                        <p:par>
                          <p:cTn id="34" fill="hold">
                            <p:stCondLst>
                              <p:cond delay="0"/>
                            </p:stCondLst>
                            <p:childTnLst>
                              <p:par>
                                <p:cTn id="35" presetID="42" presetClass="entr" presetSubtype="0" fill="hold" nodeType="withEffect">
                                  <p:stCondLst>
                                    <p:cond delay="950"/>
                                  </p:stCondLst>
                                  <p:childTnLst>
                                    <p:set>
                                      <p:cBhvr>
                                        <p:cTn id="36" dur="1" fill="hold">
                                          <p:stCondLst>
                                            <p:cond delay="0"/>
                                          </p:stCondLst>
                                        </p:cTn>
                                        <p:tgtEl>
                                          <p:spTgt spid="97"/>
                                        </p:tgtEl>
                                        <p:attrNameLst>
                                          <p:attrName>style.visibility</p:attrName>
                                        </p:attrNameLst>
                                      </p:cBhvr>
                                      <p:to>
                                        <p:strVal val="visible"/>
                                      </p:to>
                                    </p:set>
                                    <p:animEffect transition="in" filter="fade">
                                      <p:cBhvr>
                                        <p:cTn id="37" dur="600"/>
                                        <p:tgtEl>
                                          <p:spTgt spid="97"/>
                                        </p:tgtEl>
                                      </p:cBhvr>
                                    </p:animEffect>
                                    <p:anim calcmode="lin" valueType="num">
                                      <p:cBhvr>
                                        <p:cTn id="38" dur="600" fill="hold"/>
                                        <p:tgtEl>
                                          <p:spTgt spid="97"/>
                                        </p:tgtEl>
                                        <p:attrNameLst>
                                          <p:attrName>ppt_x</p:attrName>
                                        </p:attrNameLst>
                                      </p:cBhvr>
                                      <p:tavLst>
                                        <p:tav tm="0">
                                          <p:val>
                                            <p:strVal val="#ppt_x"/>
                                          </p:val>
                                        </p:tav>
                                        <p:tav tm="100000">
                                          <p:val>
                                            <p:strVal val="#ppt_x"/>
                                          </p:val>
                                        </p:tav>
                                      </p:tavLst>
                                    </p:anim>
                                    <p:anim calcmode="lin" valueType="num">
                                      <p:cBhvr>
                                        <p:cTn id="39" dur="600" decel="100000" fill="hold"/>
                                        <p:tgtEl>
                                          <p:spTgt spid="9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ShubhLabh AI · Pitch Deck</dc:title>
  <dc:subject>AI Promotion Planner for Indian Retail · ET AI Hackathon 2026 · Problem 3</dc:subject>
  <dc:creator>Anurag Manik</dc:creator>
  <cp:keywords>ShubhLabh AI; promotion planner; Indian retail; WhatsApp</cp:keywords>
  <dc:description/>
  <cp:lastModifiedBy>Anurag Manik</cp:lastModifiedBy>
  <cp:revision>4</cp:revision>
  <dcterms:created xsi:type="dcterms:W3CDTF">2013-01-27T09:14:16Z</dcterms:created>
  <dcterms:modified xsi:type="dcterms:W3CDTF">2013-01-27T09:15:58Z</dcterms:modified>
  <cp:category/>
</cp:coreProperties>
</file>